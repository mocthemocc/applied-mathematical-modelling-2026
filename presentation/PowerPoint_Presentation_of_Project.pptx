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2" r:id="rId1"/>
  </p:sldMasterIdLst>
  <p:notesMasterIdLst>
    <p:notesMasterId r:id="rId15"/>
  </p:notesMasterIdLst>
  <p:sldIdLst>
    <p:sldId id="256" r:id="rId2"/>
    <p:sldId id="257" r:id="rId3"/>
    <p:sldId id="266" r:id="rId4"/>
    <p:sldId id="258" r:id="rId5"/>
    <p:sldId id="259" r:id="rId6"/>
    <p:sldId id="260" r:id="rId7"/>
    <p:sldId id="261" r:id="rId8"/>
    <p:sldId id="267" r:id="rId9"/>
    <p:sldId id="262" r:id="rId10"/>
    <p:sldId id="268" r:id="rId11"/>
    <p:sldId id="263" r:id="rId12"/>
    <p:sldId id="264"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8B8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 dt="2026-10-15T14:07:45.008"/>
    <p1510:client id="{144350F9-1AE5-404D-8848-BAACB4B1BD59}" v="6" dt="2026-10-16T05:27:27.616"/>
    <p1510:client id="{4B1488FF-F8BC-42F9-A73C-8A41EF6AF111}" v="1165" dt="2026-10-15T10:03:56.944"/>
    <p1510:client id="{AB16A4D8-924A-4182-91ED-C1C18E6AB450}" v="3206" dt="2026-10-16T04:54:31.470"/>
    <p1510:client id="{B0A9311C-63D3-8346-8310-8351B19D33AB}" v="3962" dt="2026-10-16T05:40:01.862"/>
    <p1510:client id="{F3BE62F5-4800-EEF4-9378-C37AE9C6C800}" v="148" dt="2026-10-15T09:16:58.3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1" d="100"/>
          <a:sy n="151" d="100"/>
        </p:scale>
        <p:origin x="654"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ke Pedersen (Student)" userId="S::21975066@student.curtin.edu.au::9ebd5bfa-272f-4a67-8cc8-a067192801c5" providerId="AD" clId="Web-{1E860BFC-9E6C-BB3D-FAED-728DBC329BC0}"/>
    <pc:docChg chg="mod addSld delSld modSld addMainMaster delMainMaster">
      <pc:chgData name="Jake Pedersen (Student)" userId="S::21975066@student.curtin.edu.au::9ebd5bfa-272f-4a67-8cc8-a067192801c5" providerId="AD" clId="Web-{1E860BFC-9E6C-BB3D-FAED-728DBC329BC0}" dt="2026-10-14T12:42:39.747" v="111"/>
      <pc:docMkLst>
        <pc:docMk/>
      </pc:docMkLst>
      <pc:sldChg chg="modSp mod modClrScheme chgLayout">
        <pc:chgData name="Jake Pedersen (Student)" userId="S::21975066@student.curtin.edu.au::9ebd5bfa-272f-4a67-8cc8-a067192801c5" providerId="AD" clId="Web-{1E860BFC-9E6C-BB3D-FAED-728DBC329BC0}" dt="2026-10-14T12:41:30.460" v="106" actId="1076"/>
        <pc:sldMkLst>
          <pc:docMk/>
          <pc:sldMk cId="109857222" sldId="256"/>
        </pc:sldMkLst>
        <pc:spChg chg="mod ord">
          <ac:chgData name="Jake Pedersen (Student)" userId="S::21975066@student.curtin.edu.au::9ebd5bfa-272f-4a67-8cc8-a067192801c5" providerId="AD" clId="Web-{1E860BFC-9E6C-BB3D-FAED-728DBC329BC0}" dt="2026-10-14T12:41:30.460" v="106" actId="1076"/>
          <ac:spMkLst>
            <pc:docMk/>
            <pc:sldMk cId="109857222" sldId="256"/>
            <ac:spMk id="2" creationId="{00000000-0000-0000-0000-000000000000}"/>
          </ac:spMkLst>
        </pc:spChg>
        <pc:spChg chg="mod ord">
          <ac:chgData name="Jake Pedersen (Student)" userId="S::21975066@student.curtin.edu.au::9ebd5bfa-272f-4a67-8cc8-a067192801c5" providerId="AD" clId="Web-{1E860BFC-9E6C-BB3D-FAED-728DBC329BC0}" dt="2026-10-14T12:41:07.865" v="101" actId="20577"/>
          <ac:spMkLst>
            <pc:docMk/>
            <pc:sldMk cId="109857222" sldId="256"/>
            <ac:spMk id="3" creationId="{00000000-0000-0000-0000-000000000000}"/>
          </ac:spMkLst>
        </pc:spChg>
      </pc:sldChg>
      <pc:sldChg chg="addSp delSp modSp new mod modClrScheme chgLayout">
        <pc:chgData name="Jake Pedersen (Student)" userId="S::21975066@student.curtin.edu.au::9ebd5bfa-272f-4a67-8cc8-a067192801c5" providerId="AD" clId="Web-{1E860BFC-9E6C-BB3D-FAED-728DBC329BC0}" dt="2026-10-14T12:42:39.747" v="111"/>
        <pc:sldMkLst>
          <pc:docMk/>
          <pc:sldMk cId="2822791411" sldId="257"/>
        </pc:sldMkLst>
        <pc:spChg chg="mod ord">
          <ac:chgData name="Jake Pedersen (Student)" userId="S::21975066@student.curtin.edu.au::9ebd5bfa-272f-4a67-8cc8-a067192801c5" providerId="AD" clId="Web-{1E860BFC-9E6C-BB3D-FAED-728DBC329BC0}" dt="2026-10-14T12:42:39.747" v="111"/>
          <ac:spMkLst>
            <pc:docMk/>
            <pc:sldMk cId="2822791411" sldId="257"/>
            <ac:spMk id="2" creationId="{D36F6318-84E9-23F2-7FC2-4109008F7562}"/>
          </ac:spMkLst>
        </pc:spChg>
        <pc:spChg chg="add del mod ord">
          <ac:chgData name="Jake Pedersen (Student)" userId="S::21975066@student.curtin.edu.au::9ebd5bfa-272f-4a67-8cc8-a067192801c5" providerId="AD" clId="Web-{1E860BFC-9E6C-BB3D-FAED-728DBC329BC0}" dt="2026-10-14T12:42:39.747" v="111"/>
          <ac:spMkLst>
            <pc:docMk/>
            <pc:sldMk cId="2822791411" sldId="257"/>
            <ac:spMk id="3" creationId="{25071538-F787-450D-C7B9-7BA2D0F710B0}"/>
          </ac:spMkLst>
        </pc:spChg>
      </pc:sldChg>
      <pc:sldChg chg="modSp new mod modClrScheme chgLayout">
        <pc:chgData name="Jake Pedersen (Student)" userId="S::21975066@student.curtin.edu.au::9ebd5bfa-272f-4a67-8cc8-a067192801c5" providerId="AD" clId="Web-{1E860BFC-9E6C-BB3D-FAED-728DBC329BC0}" dt="2026-10-14T12:39:40.077" v="90"/>
        <pc:sldMkLst>
          <pc:docMk/>
          <pc:sldMk cId="637912245" sldId="258"/>
        </pc:sldMkLst>
        <pc:spChg chg="mod ord">
          <ac:chgData name="Jake Pedersen (Student)" userId="S::21975066@student.curtin.edu.au::9ebd5bfa-272f-4a67-8cc8-a067192801c5" providerId="AD" clId="Web-{1E860BFC-9E6C-BB3D-FAED-728DBC329BC0}" dt="2026-10-14T12:39:40.077" v="90"/>
          <ac:spMkLst>
            <pc:docMk/>
            <pc:sldMk cId="637912245" sldId="258"/>
            <ac:spMk id="2" creationId="{3AE08905-39EC-DE29-F5F6-E8FCE61B6293}"/>
          </ac:spMkLst>
        </pc:spChg>
        <pc:spChg chg="mod ord">
          <ac:chgData name="Jake Pedersen (Student)" userId="S::21975066@student.curtin.edu.au::9ebd5bfa-272f-4a67-8cc8-a067192801c5" providerId="AD" clId="Web-{1E860BFC-9E6C-BB3D-FAED-728DBC329BC0}" dt="2026-10-14T12:39:40.077" v="90"/>
          <ac:spMkLst>
            <pc:docMk/>
            <pc:sldMk cId="637912245" sldId="258"/>
            <ac:spMk id="3" creationId="{01FE76DB-0BAA-58E7-086A-90483C38112C}"/>
          </ac:spMkLst>
        </pc:spChg>
      </pc:sldChg>
      <pc:sldChg chg="modSp new mod modClrScheme chgLayout">
        <pc:chgData name="Jake Pedersen (Student)" userId="S::21975066@student.curtin.edu.au::9ebd5bfa-272f-4a67-8cc8-a067192801c5" providerId="AD" clId="Web-{1E860BFC-9E6C-BB3D-FAED-728DBC329BC0}" dt="2026-10-14T12:39:40.077" v="90"/>
        <pc:sldMkLst>
          <pc:docMk/>
          <pc:sldMk cId="3055582918" sldId="259"/>
        </pc:sldMkLst>
        <pc:spChg chg="mod ord">
          <ac:chgData name="Jake Pedersen (Student)" userId="S::21975066@student.curtin.edu.au::9ebd5bfa-272f-4a67-8cc8-a067192801c5" providerId="AD" clId="Web-{1E860BFC-9E6C-BB3D-FAED-728DBC329BC0}" dt="2026-10-14T12:39:40.077" v="90"/>
          <ac:spMkLst>
            <pc:docMk/>
            <pc:sldMk cId="3055582918" sldId="259"/>
            <ac:spMk id="2" creationId="{7B57617F-C4C5-A94A-A1F4-F7A76AD66CB5}"/>
          </ac:spMkLst>
        </pc:spChg>
        <pc:spChg chg="mod ord">
          <ac:chgData name="Jake Pedersen (Student)" userId="S::21975066@student.curtin.edu.au::9ebd5bfa-272f-4a67-8cc8-a067192801c5" providerId="AD" clId="Web-{1E860BFC-9E6C-BB3D-FAED-728DBC329BC0}" dt="2026-10-14T12:39:40.077" v="90"/>
          <ac:spMkLst>
            <pc:docMk/>
            <pc:sldMk cId="3055582918" sldId="259"/>
            <ac:spMk id="3" creationId="{74EC96E2-F071-255D-F554-97E9078C9DAF}"/>
          </ac:spMkLst>
        </pc:spChg>
      </pc:sldChg>
      <pc:sldChg chg="modSp new mod modClrScheme chgLayout">
        <pc:chgData name="Jake Pedersen (Student)" userId="S::21975066@student.curtin.edu.au::9ebd5bfa-272f-4a67-8cc8-a067192801c5" providerId="AD" clId="Web-{1E860BFC-9E6C-BB3D-FAED-728DBC329BC0}" dt="2026-10-14T12:39:40.077" v="90"/>
        <pc:sldMkLst>
          <pc:docMk/>
          <pc:sldMk cId="1128907343" sldId="260"/>
        </pc:sldMkLst>
        <pc:spChg chg="mod ord">
          <ac:chgData name="Jake Pedersen (Student)" userId="S::21975066@student.curtin.edu.au::9ebd5bfa-272f-4a67-8cc8-a067192801c5" providerId="AD" clId="Web-{1E860BFC-9E6C-BB3D-FAED-728DBC329BC0}" dt="2026-10-14T12:39:40.077" v="90"/>
          <ac:spMkLst>
            <pc:docMk/>
            <pc:sldMk cId="1128907343" sldId="260"/>
            <ac:spMk id="2" creationId="{45BF9B61-3688-C3C6-6D1F-6E2D97F61010}"/>
          </ac:spMkLst>
        </pc:spChg>
        <pc:spChg chg="mod ord">
          <ac:chgData name="Jake Pedersen (Student)" userId="S::21975066@student.curtin.edu.au::9ebd5bfa-272f-4a67-8cc8-a067192801c5" providerId="AD" clId="Web-{1E860BFC-9E6C-BB3D-FAED-728DBC329BC0}" dt="2026-10-14T12:39:40.077" v="90"/>
          <ac:spMkLst>
            <pc:docMk/>
            <pc:sldMk cId="1128907343" sldId="260"/>
            <ac:spMk id="3" creationId="{DAF4BEFE-9AC4-3CA7-575C-34BA9744A253}"/>
          </ac:spMkLst>
        </pc:spChg>
      </pc:sldChg>
      <pc:sldChg chg="modSp new mod modClrScheme chgLayout">
        <pc:chgData name="Jake Pedersen (Student)" userId="S::21975066@student.curtin.edu.au::9ebd5bfa-272f-4a67-8cc8-a067192801c5" providerId="AD" clId="Web-{1E860BFC-9E6C-BB3D-FAED-728DBC329BC0}" dt="2026-10-14T12:39:40.077" v="90"/>
        <pc:sldMkLst>
          <pc:docMk/>
          <pc:sldMk cId="1190987254" sldId="261"/>
        </pc:sldMkLst>
        <pc:spChg chg="mod ord">
          <ac:chgData name="Jake Pedersen (Student)" userId="S::21975066@student.curtin.edu.au::9ebd5bfa-272f-4a67-8cc8-a067192801c5" providerId="AD" clId="Web-{1E860BFC-9E6C-BB3D-FAED-728DBC329BC0}" dt="2026-10-14T12:39:40.077" v="90"/>
          <ac:spMkLst>
            <pc:docMk/>
            <pc:sldMk cId="1190987254" sldId="261"/>
            <ac:spMk id="2" creationId="{0ACB8AA9-DEC0-2DE2-9450-849B8DD2C19C}"/>
          </ac:spMkLst>
        </pc:spChg>
        <pc:spChg chg="mod ord">
          <ac:chgData name="Jake Pedersen (Student)" userId="S::21975066@student.curtin.edu.au::9ebd5bfa-272f-4a67-8cc8-a067192801c5" providerId="AD" clId="Web-{1E860BFC-9E6C-BB3D-FAED-728DBC329BC0}" dt="2026-10-14T12:39:40.077" v="90"/>
          <ac:spMkLst>
            <pc:docMk/>
            <pc:sldMk cId="1190987254" sldId="261"/>
            <ac:spMk id="3" creationId="{F3AE0EA1-2791-F0CF-530C-E294BCA1F133}"/>
          </ac:spMkLst>
        </pc:spChg>
      </pc:sldChg>
      <pc:sldChg chg="modSp new mod modClrScheme chgLayout">
        <pc:chgData name="Jake Pedersen (Student)" userId="S::21975066@student.curtin.edu.au::9ebd5bfa-272f-4a67-8cc8-a067192801c5" providerId="AD" clId="Web-{1E860BFC-9E6C-BB3D-FAED-728DBC329BC0}" dt="2026-10-14T12:39:40.077" v="90"/>
        <pc:sldMkLst>
          <pc:docMk/>
          <pc:sldMk cId="2741771502" sldId="262"/>
        </pc:sldMkLst>
        <pc:spChg chg="mod ord">
          <ac:chgData name="Jake Pedersen (Student)" userId="S::21975066@student.curtin.edu.au::9ebd5bfa-272f-4a67-8cc8-a067192801c5" providerId="AD" clId="Web-{1E860BFC-9E6C-BB3D-FAED-728DBC329BC0}" dt="2026-10-14T12:39:40.077" v="90"/>
          <ac:spMkLst>
            <pc:docMk/>
            <pc:sldMk cId="2741771502" sldId="262"/>
            <ac:spMk id="2" creationId="{6650C5D0-0428-9C8C-73E7-EAA0A5FDED65}"/>
          </ac:spMkLst>
        </pc:spChg>
      </pc:sldChg>
      <pc:sldChg chg="modSp new mod modClrScheme chgLayout">
        <pc:chgData name="Jake Pedersen (Student)" userId="S::21975066@student.curtin.edu.au::9ebd5bfa-272f-4a67-8cc8-a067192801c5" providerId="AD" clId="Web-{1E860BFC-9E6C-BB3D-FAED-728DBC329BC0}" dt="2026-10-14T12:39:40.077" v="90"/>
        <pc:sldMkLst>
          <pc:docMk/>
          <pc:sldMk cId="1827632156" sldId="263"/>
        </pc:sldMkLst>
        <pc:spChg chg="mod ord">
          <ac:chgData name="Jake Pedersen (Student)" userId="S::21975066@student.curtin.edu.au::9ebd5bfa-272f-4a67-8cc8-a067192801c5" providerId="AD" clId="Web-{1E860BFC-9E6C-BB3D-FAED-728DBC329BC0}" dt="2026-10-14T12:39:40.077" v="90"/>
          <ac:spMkLst>
            <pc:docMk/>
            <pc:sldMk cId="1827632156" sldId="263"/>
            <ac:spMk id="2" creationId="{F71EA14A-338A-1385-0CDD-58E2B590CE16}"/>
          </ac:spMkLst>
        </pc:spChg>
        <pc:spChg chg="mod ord">
          <ac:chgData name="Jake Pedersen (Student)" userId="S::21975066@student.curtin.edu.au::9ebd5bfa-272f-4a67-8cc8-a067192801c5" providerId="AD" clId="Web-{1E860BFC-9E6C-BB3D-FAED-728DBC329BC0}" dt="2026-10-14T12:39:40.077" v="90"/>
          <ac:spMkLst>
            <pc:docMk/>
            <pc:sldMk cId="1827632156" sldId="263"/>
            <ac:spMk id="3" creationId="{1607AE5F-5E36-9729-77FB-31C756A2A760}"/>
          </ac:spMkLst>
        </pc:spChg>
      </pc:sldChg>
      <pc:sldChg chg="modSp new mod modClrScheme chgLayout">
        <pc:chgData name="Jake Pedersen (Student)" userId="S::21975066@student.curtin.edu.au::9ebd5bfa-272f-4a67-8cc8-a067192801c5" providerId="AD" clId="Web-{1E860BFC-9E6C-BB3D-FAED-728DBC329BC0}" dt="2026-10-14T12:39:40.077" v="90"/>
        <pc:sldMkLst>
          <pc:docMk/>
          <pc:sldMk cId="2892464062" sldId="264"/>
        </pc:sldMkLst>
        <pc:spChg chg="mod ord">
          <ac:chgData name="Jake Pedersen (Student)" userId="S::21975066@student.curtin.edu.au::9ebd5bfa-272f-4a67-8cc8-a067192801c5" providerId="AD" clId="Web-{1E860BFC-9E6C-BB3D-FAED-728DBC329BC0}" dt="2026-10-14T12:39:40.077" v="90"/>
          <ac:spMkLst>
            <pc:docMk/>
            <pc:sldMk cId="2892464062" sldId="264"/>
            <ac:spMk id="2" creationId="{26AB2AEB-DCE1-3F72-5FC8-9D8BEE1DA5B6}"/>
          </ac:spMkLst>
        </pc:spChg>
        <pc:spChg chg="mod ord">
          <ac:chgData name="Jake Pedersen (Student)" userId="S::21975066@student.curtin.edu.au::9ebd5bfa-272f-4a67-8cc8-a067192801c5" providerId="AD" clId="Web-{1E860BFC-9E6C-BB3D-FAED-728DBC329BC0}" dt="2026-10-14T12:39:40.077" v="90"/>
          <ac:spMkLst>
            <pc:docMk/>
            <pc:sldMk cId="2892464062" sldId="264"/>
            <ac:spMk id="3" creationId="{785C60CC-8E13-7386-9A24-D5F8426AAF05}"/>
          </ac:spMkLst>
        </pc:spChg>
      </pc:sldChg>
      <pc:sldChg chg="modSp new mod modClrScheme chgLayout">
        <pc:chgData name="Jake Pedersen (Student)" userId="S::21975066@student.curtin.edu.au::9ebd5bfa-272f-4a67-8cc8-a067192801c5" providerId="AD" clId="Web-{1E860BFC-9E6C-BB3D-FAED-728DBC329BC0}" dt="2026-10-14T12:39:40.077" v="90"/>
        <pc:sldMkLst>
          <pc:docMk/>
          <pc:sldMk cId="2779057097" sldId="265"/>
        </pc:sldMkLst>
        <pc:spChg chg="mod ord">
          <ac:chgData name="Jake Pedersen (Student)" userId="S::21975066@student.curtin.edu.au::9ebd5bfa-272f-4a67-8cc8-a067192801c5" providerId="AD" clId="Web-{1E860BFC-9E6C-BB3D-FAED-728DBC329BC0}" dt="2026-10-14T12:39:40.077" v="90"/>
          <ac:spMkLst>
            <pc:docMk/>
            <pc:sldMk cId="2779057097" sldId="265"/>
            <ac:spMk id="2" creationId="{FBCFCE10-516D-66E8-B498-8C09DE47CE52}"/>
          </ac:spMkLst>
        </pc:spChg>
        <pc:spChg chg="mod ord">
          <ac:chgData name="Jake Pedersen (Student)" userId="S::21975066@student.curtin.edu.au::9ebd5bfa-272f-4a67-8cc8-a067192801c5" providerId="AD" clId="Web-{1E860BFC-9E6C-BB3D-FAED-728DBC329BC0}" dt="2026-10-14T12:39:40.077" v="90"/>
          <ac:spMkLst>
            <pc:docMk/>
            <pc:sldMk cId="2779057097" sldId="265"/>
            <ac:spMk id="3" creationId="{0C575E01-B8FB-DA21-46F3-3F69E7EC7B0D}"/>
          </ac:spMkLst>
        </pc:spChg>
      </pc:sldChg>
      <pc:sldMasterChg chg="add addSldLayout modSldLayout">
        <pc:chgData name="Jake Pedersen (Student)" userId="S::21975066@student.curtin.edu.au::9ebd5bfa-272f-4a67-8cc8-a067192801c5" providerId="AD" clId="Web-{1E860BFC-9E6C-BB3D-FAED-728DBC329BC0}" dt="2026-10-14T12:39:40.077" v="90"/>
        <pc:sldMasterMkLst>
          <pc:docMk/>
          <pc:sldMasterMk cId="2174541238" sldId="2147483912"/>
        </pc:sldMasterMkLst>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1323304727" sldId="2147483913"/>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3951320614" sldId="2147483914"/>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2754232327" sldId="2147483915"/>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1784459836" sldId="2147483916"/>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2116483874" sldId="2147483917"/>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2143417167" sldId="2147483918"/>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122879224" sldId="2147483919"/>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974031697" sldId="2147483920"/>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2538191124" sldId="2147483921"/>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2752590197" sldId="2147483922"/>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499659638" sldId="2147483923"/>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2508783293" sldId="2147483924"/>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1891141192" sldId="2147483925"/>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3940112981" sldId="2147483926"/>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3682646409" sldId="2147483927"/>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2677497590" sldId="2147483928"/>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1313950853" sldId="2147483929"/>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952131965" sldId="2147483930"/>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1685810975" sldId="2147483931"/>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1538255436" sldId="2147483932"/>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331438039" sldId="2147483933"/>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2424454946" sldId="2147483934"/>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2319590944" sldId="2147483935"/>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2487718471" sldId="2147483936"/>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3619342136" sldId="2147483937"/>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827323995" sldId="2147483938"/>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3239398430" sldId="2147483939"/>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2381828038" sldId="2147483940"/>
          </pc:sldLayoutMkLst>
        </pc:sldLayoutChg>
        <pc:sldLayoutChg chg="add mod replId">
          <pc:chgData name="Jake Pedersen (Student)" userId="S::21975066@student.curtin.edu.au::9ebd5bfa-272f-4a67-8cc8-a067192801c5" providerId="AD" clId="Web-{1E860BFC-9E6C-BB3D-FAED-728DBC329BC0}" dt="2026-10-14T12:39:40.077" v="90"/>
          <pc:sldLayoutMkLst>
            <pc:docMk/>
            <pc:sldMasterMk cId="2174541238" sldId="2147483912"/>
            <pc:sldLayoutMk cId="1115890840" sldId="2147483941"/>
          </pc:sldLayoutMkLst>
        </pc:sldLayoutChg>
      </pc:sldMasterChg>
    </pc:docChg>
  </pc:docChgLst>
  <pc:docChgLst>
    <pc:chgData name="Bui Duc Minh Cao (Student)" userId="75a3ed00-6aa2-489c-ad7e-ae262e3e83c6" providerId="ADAL" clId="{4E32F9CD-A2EB-5F71-AD4C-4E80495671C1}"/>
    <pc:docChg chg="modSld">
      <pc:chgData name="Bui Duc Minh Cao (Student)" userId="75a3ed00-6aa2-489c-ad7e-ae262e3e83c6" providerId="ADAL" clId="{4E32F9CD-A2EB-5F71-AD4C-4E80495671C1}" dt="2026-10-16T05:26:11.726" v="0" actId="20577"/>
      <pc:docMkLst>
        <pc:docMk/>
      </pc:docMkLst>
      <pc:sldChg chg="modNotesTx">
        <pc:chgData name="Bui Duc Minh Cao (Student)" userId="75a3ed00-6aa2-489c-ad7e-ae262e3e83c6" providerId="ADAL" clId="{4E32F9CD-A2EB-5F71-AD4C-4E80495671C1}" dt="2026-10-16T05:26:11.726" v="0" actId="20577"/>
        <pc:sldMkLst>
          <pc:docMk/>
          <pc:sldMk cId="109857222" sldId="256"/>
        </pc:sldMkLst>
      </pc:sldChg>
    </pc:docChg>
  </pc:docChgLst>
  <pc:docChgLst>
    <pc:chgData name="Adam Zaltsman (Student)" userId="bc46dfe8-57aa-4c9f-9505-97ef86f35b4c" providerId="ADAL" clId="{71D82EBA-8E86-5CFC-9D95-43594C6F00ED}"/>
    <pc:docChg chg="undo custSel modSld">
      <pc:chgData name="Adam Zaltsman (Student)" userId="bc46dfe8-57aa-4c9f-9505-97ef86f35b4c" providerId="ADAL" clId="{71D82EBA-8E86-5CFC-9D95-43594C6F00ED}" dt="2026-10-16T05:40:01.862" v="11311" actId="20577"/>
      <pc:docMkLst>
        <pc:docMk/>
      </pc:docMkLst>
      <pc:sldChg chg="modNotesTx">
        <pc:chgData name="Adam Zaltsman (Student)" userId="bc46dfe8-57aa-4c9f-9505-97ef86f35b4c" providerId="ADAL" clId="{71D82EBA-8E86-5CFC-9D95-43594C6F00ED}" dt="2026-10-16T01:52:09.275" v="6849" actId="20577"/>
        <pc:sldMkLst>
          <pc:docMk/>
          <pc:sldMk cId="3055582918" sldId="259"/>
        </pc:sldMkLst>
      </pc:sldChg>
      <pc:sldChg chg="modNotesTx">
        <pc:chgData name="Adam Zaltsman (Student)" userId="bc46dfe8-57aa-4c9f-9505-97ef86f35b4c" providerId="ADAL" clId="{71D82EBA-8E86-5CFC-9D95-43594C6F00ED}" dt="2026-10-16T01:40:32.262" v="4402" actId="20577"/>
        <pc:sldMkLst>
          <pc:docMk/>
          <pc:sldMk cId="1190987254" sldId="261"/>
        </pc:sldMkLst>
      </pc:sldChg>
      <pc:sldChg chg="addSp delSp modSp mod">
        <pc:chgData name="Adam Zaltsman (Student)" userId="bc46dfe8-57aa-4c9f-9505-97ef86f35b4c" providerId="ADAL" clId="{71D82EBA-8E86-5CFC-9D95-43594C6F00ED}" dt="2026-10-16T05:40:01.862" v="11311" actId="20577"/>
        <pc:sldMkLst>
          <pc:docMk/>
          <pc:sldMk cId="1827632156" sldId="263"/>
        </pc:sldMkLst>
        <pc:spChg chg="mod">
          <ac:chgData name="Adam Zaltsman (Student)" userId="bc46dfe8-57aa-4c9f-9505-97ef86f35b4c" providerId="ADAL" clId="{71D82EBA-8E86-5CFC-9D95-43594C6F00ED}" dt="2026-10-16T05:40:01.862" v="11311" actId="20577"/>
          <ac:spMkLst>
            <pc:docMk/>
            <pc:sldMk cId="1827632156" sldId="263"/>
            <ac:spMk id="3" creationId="{1607AE5F-5E36-9729-77FB-31C756A2A760}"/>
          </ac:spMkLst>
        </pc:spChg>
        <pc:spChg chg="add del mod">
          <ac:chgData name="Adam Zaltsman (Student)" userId="bc46dfe8-57aa-4c9f-9505-97ef86f35b4c" providerId="ADAL" clId="{71D82EBA-8E86-5CFC-9D95-43594C6F00ED}" dt="2026-10-16T04:41:40.289" v="9660" actId="478"/>
          <ac:spMkLst>
            <pc:docMk/>
            <pc:sldMk cId="1827632156" sldId="263"/>
            <ac:spMk id="6" creationId="{A39D5309-D2B7-05C1-747D-A64246112CB5}"/>
          </ac:spMkLst>
        </pc:spChg>
        <pc:graphicFrameChg chg="add mod modGraphic">
          <ac:chgData name="Adam Zaltsman (Student)" userId="bc46dfe8-57aa-4c9f-9505-97ef86f35b4c" providerId="ADAL" clId="{71D82EBA-8E86-5CFC-9D95-43594C6F00ED}" dt="2026-10-16T04:42:40.221" v="9674" actId="14100"/>
          <ac:graphicFrameMkLst>
            <pc:docMk/>
            <pc:sldMk cId="1827632156" sldId="263"/>
            <ac:graphicFrameMk id="4" creationId="{98C00E60-0F28-CD57-0C67-FD54A1442A39}"/>
          </ac:graphicFrameMkLst>
        </pc:graphicFrameChg>
      </pc:sldChg>
      <pc:sldChg chg="modSp mod">
        <pc:chgData name="Adam Zaltsman (Student)" userId="bc46dfe8-57aa-4c9f-9505-97ef86f35b4c" providerId="ADAL" clId="{71D82EBA-8E86-5CFC-9D95-43594C6F00ED}" dt="2026-10-16T05:30:49.060" v="11159" actId="20577"/>
        <pc:sldMkLst>
          <pc:docMk/>
          <pc:sldMk cId="2892464062" sldId="264"/>
        </pc:sldMkLst>
        <pc:spChg chg="mod">
          <ac:chgData name="Adam Zaltsman (Student)" userId="bc46dfe8-57aa-4c9f-9505-97ef86f35b4c" providerId="ADAL" clId="{71D82EBA-8E86-5CFC-9D95-43594C6F00ED}" dt="2026-10-16T05:30:49.060" v="11159" actId="20577"/>
          <ac:spMkLst>
            <pc:docMk/>
            <pc:sldMk cId="2892464062" sldId="264"/>
            <ac:spMk id="3" creationId="{785C60CC-8E13-7386-9A24-D5F8426AAF05}"/>
          </ac:spMkLst>
        </pc:spChg>
      </pc:sldChg>
      <pc:sldChg chg="addSp modSp mod modNotesTx">
        <pc:chgData name="Adam Zaltsman (Student)" userId="bc46dfe8-57aa-4c9f-9505-97ef86f35b4c" providerId="ADAL" clId="{71D82EBA-8E86-5CFC-9D95-43594C6F00ED}" dt="2026-10-16T01:36:14.418" v="4396" actId="1076"/>
        <pc:sldMkLst>
          <pc:docMk/>
          <pc:sldMk cId="1234567971" sldId="266"/>
        </pc:sldMkLst>
        <pc:spChg chg="mod">
          <ac:chgData name="Adam Zaltsman (Student)" userId="bc46dfe8-57aa-4c9f-9505-97ef86f35b4c" providerId="ADAL" clId="{71D82EBA-8E86-5CFC-9D95-43594C6F00ED}" dt="2026-10-16T01:36:11.265" v="4395" actId="20577"/>
          <ac:spMkLst>
            <pc:docMk/>
            <pc:sldMk cId="1234567971" sldId="266"/>
            <ac:spMk id="3" creationId="{D0B54859-96F0-FEC1-C780-A64B559A4857}"/>
          </ac:spMkLst>
        </pc:spChg>
        <pc:spChg chg="add mod">
          <ac:chgData name="Adam Zaltsman (Student)" userId="bc46dfe8-57aa-4c9f-9505-97ef86f35b4c" providerId="ADAL" clId="{71D82EBA-8E86-5CFC-9D95-43594C6F00ED}" dt="2026-10-16T01:33:13.823" v="4221" actId="14100"/>
          <ac:spMkLst>
            <pc:docMk/>
            <pc:sldMk cId="1234567971" sldId="266"/>
            <ac:spMk id="4" creationId="{0213592B-945F-3CC2-77AB-E2625484A8B3}"/>
          </ac:spMkLst>
        </pc:spChg>
        <pc:picChg chg="add mod">
          <ac:chgData name="Adam Zaltsman (Student)" userId="bc46dfe8-57aa-4c9f-9505-97ef86f35b4c" providerId="ADAL" clId="{71D82EBA-8E86-5CFC-9D95-43594C6F00ED}" dt="2026-10-16T01:36:14.418" v="4396" actId="1076"/>
          <ac:picMkLst>
            <pc:docMk/>
            <pc:sldMk cId="1234567971" sldId="266"/>
            <ac:picMk id="6" creationId="{7E388A19-3DA1-BD9B-C883-E7283F62DADE}"/>
          </ac:picMkLst>
        </pc:picChg>
      </pc:sldChg>
    </pc:docChg>
  </pc:docChgLst>
  <pc:docChgLst>
    <pc:chgData name="Jake Pedersen" userId="0e0c23d7-6eb0-4ce0-9aa8-5992b339f259" providerId="ADAL" clId="{2C242531-B297-4964-9059-BA2AD1C0149B}"/>
    <pc:docChg chg="undo redo custSel modSld">
      <pc:chgData name="Jake Pedersen" userId="0e0c23d7-6eb0-4ce0-9aa8-5992b339f259" providerId="ADAL" clId="{2C242531-B297-4964-9059-BA2AD1C0149B}" dt="2026-10-16T04:54:31.470" v="3106" actId="20577"/>
      <pc:docMkLst>
        <pc:docMk/>
      </pc:docMkLst>
      <pc:sldChg chg="modSp mod">
        <pc:chgData name="Jake Pedersen" userId="0e0c23d7-6eb0-4ce0-9aa8-5992b339f259" providerId="ADAL" clId="{2C242531-B297-4964-9059-BA2AD1C0149B}" dt="2026-10-16T04:17:37.474" v="1793" actId="403"/>
        <pc:sldMkLst>
          <pc:docMk/>
          <pc:sldMk cId="637912245" sldId="258"/>
        </pc:sldMkLst>
        <pc:spChg chg="mod">
          <ac:chgData name="Jake Pedersen" userId="0e0c23d7-6eb0-4ce0-9aa8-5992b339f259" providerId="ADAL" clId="{2C242531-B297-4964-9059-BA2AD1C0149B}" dt="2026-10-16T04:17:37.474" v="1793" actId="403"/>
          <ac:spMkLst>
            <pc:docMk/>
            <pc:sldMk cId="637912245" sldId="258"/>
            <ac:spMk id="3" creationId="{01FE76DB-0BAA-58E7-086A-90483C38112C}"/>
          </ac:spMkLst>
        </pc:spChg>
      </pc:sldChg>
      <pc:sldChg chg="modSp mod modNotesTx">
        <pc:chgData name="Jake Pedersen" userId="0e0c23d7-6eb0-4ce0-9aa8-5992b339f259" providerId="ADAL" clId="{2C242531-B297-4964-9059-BA2AD1C0149B}" dt="2026-10-16T04:22:46.131" v="2058" actId="20577"/>
        <pc:sldMkLst>
          <pc:docMk/>
          <pc:sldMk cId="3055582918" sldId="259"/>
        </pc:sldMkLst>
        <pc:spChg chg="mod">
          <ac:chgData name="Jake Pedersen" userId="0e0c23d7-6eb0-4ce0-9aa8-5992b339f259" providerId="ADAL" clId="{2C242531-B297-4964-9059-BA2AD1C0149B}" dt="2026-10-16T04:17:00.711" v="1782" actId="115"/>
          <ac:spMkLst>
            <pc:docMk/>
            <pc:sldMk cId="3055582918" sldId="259"/>
            <ac:spMk id="3" creationId="{74EC96E2-F071-255D-F554-97E9078C9DAF}"/>
          </ac:spMkLst>
        </pc:spChg>
      </pc:sldChg>
      <pc:sldChg chg="delSp modSp mod modNotesTx">
        <pc:chgData name="Jake Pedersen" userId="0e0c23d7-6eb0-4ce0-9aa8-5992b339f259" providerId="ADAL" clId="{2C242531-B297-4964-9059-BA2AD1C0149B}" dt="2026-10-16T04:49:58.118" v="2992" actId="1036"/>
        <pc:sldMkLst>
          <pc:docMk/>
          <pc:sldMk cId="1128907343" sldId="260"/>
        </pc:sldMkLst>
        <pc:spChg chg="del mod">
          <ac:chgData name="Jake Pedersen" userId="0e0c23d7-6eb0-4ce0-9aa8-5992b339f259" providerId="ADAL" clId="{2C242531-B297-4964-9059-BA2AD1C0149B}" dt="2026-10-16T04:30:00.048" v="2638" actId="478"/>
          <ac:spMkLst>
            <pc:docMk/>
            <pc:sldMk cId="1128907343" sldId="260"/>
            <ac:spMk id="3" creationId="{DAF4BEFE-9AC4-3CA7-575C-34BA9744A253}"/>
          </ac:spMkLst>
        </pc:spChg>
        <pc:spChg chg="mod">
          <ac:chgData name="Jake Pedersen" userId="0e0c23d7-6eb0-4ce0-9aa8-5992b339f259" providerId="ADAL" clId="{2C242531-B297-4964-9059-BA2AD1C0149B}" dt="2026-10-16T04:49:49.543" v="2978" actId="1035"/>
          <ac:spMkLst>
            <pc:docMk/>
            <pc:sldMk cId="1128907343" sldId="260"/>
            <ac:spMk id="10" creationId="{EA5045FD-C367-CF9F-9BBD-8522D05CB137}"/>
          </ac:spMkLst>
        </pc:spChg>
        <pc:graphicFrameChg chg="mod modGraphic">
          <ac:chgData name="Jake Pedersen" userId="0e0c23d7-6eb0-4ce0-9aa8-5992b339f259" providerId="ADAL" clId="{2C242531-B297-4964-9059-BA2AD1C0149B}" dt="2026-10-16T04:49:38.372" v="2924" actId="1035"/>
          <ac:graphicFrameMkLst>
            <pc:docMk/>
            <pc:sldMk cId="1128907343" sldId="260"/>
            <ac:graphicFrameMk id="4" creationId="{BB51DB04-D926-657E-3905-007E7D0CCCFE}"/>
          </ac:graphicFrameMkLst>
        </pc:graphicFrameChg>
        <pc:graphicFrameChg chg="mod modGraphic">
          <ac:chgData name="Jake Pedersen" userId="0e0c23d7-6eb0-4ce0-9aa8-5992b339f259" providerId="ADAL" clId="{2C242531-B297-4964-9059-BA2AD1C0149B}" dt="2026-10-16T04:49:58.118" v="2992" actId="1036"/>
          <ac:graphicFrameMkLst>
            <pc:docMk/>
            <pc:sldMk cId="1128907343" sldId="260"/>
            <ac:graphicFrameMk id="6" creationId="{352AA809-E069-CBB9-F07E-B934E619DC79}"/>
          </ac:graphicFrameMkLst>
        </pc:graphicFrameChg>
      </pc:sldChg>
      <pc:sldChg chg="modSp mod">
        <pc:chgData name="Jake Pedersen" userId="0e0c23d7-6eb0-4ce0-9aa8-5992b339f259" providerId="ADAL" clId="{2C242531-B297-4964-9059-BA2AD1C0149B}" dt="2026-10-16T03:24:54.664" v="65" actId="1076"/>
        <pc:sldMkLst>
          <pc:docMk/>
          <pc:sldMk cId="2741771502" sldId="262"/>
        </pc:sldMkLst>
        <pc:graphicFrameChg chg="mod">
          <ac:chgData name="Jake Pedersen" userId="0e0c23d7-6eb0-4ce0-9aa8-5992b339f259" providerId="ADAL" clId="{2C242531-B297-4964-9059-BA2AD1C0149B}" dt="2026-10-16T03:24:54.664" v="65" actId="1076"/>
          <ac:graphicFrameMkLst>
            <pc:docMk/>
            <pc:sldMk cId="2741771502" sldId="262"/>
            <ac:graphicFrameMk id="7" creationId="{1AAD265E-B884-6246-5A66-058DAADD3282}"/>
          </ac:graphicFrameMkLst>
        </pc:graphicFrameChg>
      </pc:sldChg>
      <pc:sldChg chg="modSp mod modNotesTx">
        <pc:chgData name="Jake Pedersen" userId="0e0c23d7-6eb0-4ce0-9aa8-5992b339f259" providerId="ADAL" clId="{2C242531-B297-4964-9059-BA2AD1C0149B}" dt="2026-10-16T04:53:59.050" v="3073"/>
        <pc:sldMkLst>
          <pc:docMk/>
          <pc:sldMk cId="1827632156" sldId="263"/>
        </pc:sldMkLst>
        <pc:spChg chg="mod">
          <ac:chgData name="Jake Pedersen" userId="0e0c23d7-6eb0-4ce0-9aa8-5992b339f259" providerId="ADAL" clId="{2C242531-B297-4964-9059-BA2AD1C0149B}" dt="2026-10-16T04:53:59.050" v="3073"/>
          <ac:spMkLst>
            <pc:docMk/>
            <pc:sldMk cId="1827632156" sldId="263"/>
            <ac:spMk id="3" creationId="{1607AE5F-5E36-9729-77FB-31C756A2A760}"/>
          </ac:spMkLst>
        </pc:spChg>
        <pc:graphicFrameChg chg="mod">
          <ac:chgData name="Jake Pedersen" userId="0e0c23d7-6eb0-4ce0-9aa8-5992b339f259" providerId="ADAL" clId="{2C242531-B297-4964-9059-BA2AD1C0149B}" dt="2026-10-16T04:51:42.558" v="3027" actId="404"/>
          <ac:graphicFrameMkLst>
            <pc:docMk/>
            <pc:sldMk cId="1827632156" sldId="263"/>
            <ac:graphicFrameMk id="4" creationId="{98C00E60-0F28-CD57-0C67-FD54A1442A39}"/>
          </ac:graphicFrameMkLst>
        </pc:graphicFrameChg>
      </pc:sldChg>
      <pc:sldChg chg="modSp mod">
        <pc:chgData name="Jake Pedersen" userId="0e0c23d7-6eb0-4ce0-9aa8-5992b339f259" providerId="ADAL" clId="{2C242531-B297-4964-9059-BA2AD1C0149B}" dt="2026-10-16T04:54:31.470" v="3106" actId="20577"/>
        <pc:sldMkLst>
          <pc:docMk/>
          <pc:sldMk cId="2892464062" sldId="264"/>
        </pc:sldMkLst>
        <pc:spChg chg="mod">
          <ac:chgData name="Jake Pedersen" userId="0e0c23d7-6eb0-4ce0-9aa8-5992b339f259" providerId="ADAL" clId="{2C242531-B297-4964-9059-BA2AD1C0149B}" dt="2026-10-16T04:54:31.470" v="3106" actId="20577"/>
          <ac:spMkLst>
            <pc:docMk/>
            <pc:sldMk cId="2892464062" sldId="264"/>
            <ac:spMk id="3" creationId="{785C60CC-8E13-7386-9A24-D5F8426AAF05}"/>
          </ac:spMkLst>
        </pc:spChg>
      </pc:sldChg>
      <pc:sldChg chg="modSp mod modNotesTx">
        <pc:chgData name="Jake Pedersen" userId="0e0c23d7-6eb0-4ce0-9aa8-5992b339f259" providerId="ADAL" clId="{2C242531-B297-4964-9059-BA2AD1C0149B}" dt="2026-10-16T04:50:24.148" v="3024" actId="20577"/>
        <pc:sldMkLst>
          <pc:docMk/>
          <pc:sldMk cId="1234567971" sldId="266"/>
        </pc:sldMkLst>
        <pc:spChg chg="mod">
          <ac:chgData name="Jake Pedersen" userId="0e0c23d7-6eb0-4ce0-9aa8-5992b339f259" providerId="ADAL" clId="{2C242531-B297-4964-9059-BA2AD1C0149B}" dt="2026-10-16T04:17:17.297" v="1788" actId="20577"/>
          <ac:spMkLst>
            <pc:docMk/>
            <pc:sldMk cId="1234567971" sldId="266"/>
            <ac:spMk id="3" creationId="{D0B54859-96F0-FEC1-C780-A64B559A4857}"/>
          </ac:spMkLst>
        </pc:spChg>
        <pc:spChg chg="mod">
          <ac:chgData name="Jake Pedersen" userId="0e0c23d7-6eb0-4ce0-9aa8-5992b339f259" providerId="ADAL" clId="{2C242531-B297-4964-9059-BA2AD1C0149B}" dt="2026-10-16T04:50:24.148" v="3024" actId="20577"/>
          <ac:spMkLst>
            <pc:docMk/>
            <pc:sldMk cId="1234567971" sldId="266"/>
            <ac:spMk id="4" creationId="{0213592B-945F-3CC2-77AB-E2625484A8B3}"/>
          </ac:spMkLst>
        </pc:spChg>
      </pc:sldChg>
    </pc:docChg>
  </pc:docChgLst>
  <pc:docChgLst>
    <pc:chgData name="Bui Duc Minh Cao (Student)" userId="75a3ed00-6aa2-489c-ad7e-ae262e3e83c6" providerId="ADAL" clId="{B47591BB-4912-490E-9DBF-1E5FFA8943F5}"/>
    <pc:docChg chg="undo custSel addSld modSld">
      <pc:chgData name="Bui Duc Minh Cao (Student)" userId="75a3ed00-6aa2-489c-ad7e-ae262e3e83c6" providerId="ADAL" clId="{B47591BB-4912-490E-9DBF-1E5FFA8943F5}" dt="2026-10-15T10:03:56.944" v="1164" actId="20577"/>
      <pc:docMkLst>
        <pc:docMk/>
      </pc:docMkLst>
      <pc:sldChg chg="addSp delSp modSp mod">
        <pc:chgData name="Bui Duc Minh Cao (Student)" userId="75a3ed00-6aa2-489c-ad7e-ae262e3e83c6" providerId="ADAL" clId="{B47591BB-4912-490E-9DBF-1E5FFA8943F5}" dt="2026-10-15T09:26:29.743" v="128" actId="1076"/>
        <pc:sldMkLst>
          <pc:docMk/>
          <pc:sldMk cId="1190987254" sldId="261"/>
        </pc:sldMkLst>
        <pc:spChg chg="add del">
          <ac:chgData name="Bui Duc Minh Cao (Student)" userId="75a3ed00-6aa2-489c-ad7e-ae262e3e83c6" providerId="ADAL" clId="{B47591BB-4912-490E-9DBF-1E5FFA8943F5}" dt="2026-10-15T09:15:37.748" v="1" actId="22"/>
          <ac:spMkLst>
            <pc:docMk/>
            <pc:sldMk cId="1190987254" sldId="261"/>
            <ac:spMk id="5" creationId="{D2527B47-FD98-CA0E-10FA-0A0174595E0E}"/>
          </ac:spMkLst>
        </pc:spChg>
        <pc:spChg chg="add del">
          <ac:chgData name="Bui Duc Minh Cao (Student)" userId="75a3ed00-6aa2-489c-ad7e-ae262e3e83c6" providerId="ADAL" clId="{B47591BB-4912-490E-9DBF-1E5FFA8943F5}" dt="2026-10-15T09:24:37.375" v="72" actId="22"/>
          <ac:spMkLst>
            <pc:docMk/>
            <pc:sldMk cId="1190987254" sldId="261"/>
            <ac:spMk id="7" creationId="{E3CE98C7-F7D0-31BD-78DD-FA19B11D93D0}"/>
          </ac:spMkLst>
        </pc:spChg>
        <pc:spChg chg="add del mod">
          <ac:chgData name="Bui Duc Minh Cao (Student)" userId="75a3ed00-6aa2-489c-ad7e-ae262e3e83c6" providerId="ADAL" clId="{B47591BB-4912-490E-9DBF-1E5FFA8943F5}" dt="2026-10-15T09:26:09.758" v="124" actId="21"/>
          <ac:spMkLst>
            <pc:docMk/>
            <pc:sldMk cId="1190987254" sldId="261"/>
            <ac:spMk id="12" creationId="{8560916E-8A69-7D0A-214E-B81BC528EE25}"/>
          </ac:spMkLst>
        </pc:spChg>
        <pc:spChg chg="add mod">
          <ac:chgData name="Bui Duc Minh Cao (Student)" userId="75a3ed00-6aa2-489c-ad7e-ae262e3e83c6" providerId="ADAL" clId="{B47591BB-4912-490E-9DBF-1E5FFA8943F5}" dt="2026-10-15T09:26:29.743" v="128" actId="1076"/>
          <ac:spMkLst>
            <pc:docMk/>
            <pc:sldMk cId="1190987254" sldId="261"/>
            <ac:spMk id="14" creationId="{84373BF7-8EDD-C2F6-4666-4BB3F361649C}"/>
          </ac:spMkLst>
        </pc:spChg>
        <pc:graphicFrameChg chg="del mod modGraphic">
          <ac:chgData name="Bui Duc Minh Cao (Student)" userId="75a3ed00-6aa2-489c-ad7e-ae262e3e83c6" providerId="ADAL" clId="{B47591BB-4912-490E-9DBF-1E5FFA8943F5}" dt="2026-10-15T09:24:35.949" v="70" actId="478"/>
          <ac:graphicFrameMkLst>
            <pc:docMk/>
            <pc:sldMk cId="1190987254" sldId="261"/>
            <ac:graphicFrameMk id="4" creationId="{C941ED4C-F8C4-52AC-5898-721A0A90A256}"/>
          </ac:graphicFrameMkLst>
        </pc:graphicFrameChg>
        <pc:graphicFrameChg chg="add mod">
          <ac:chgData name="Bui Duc Minh Cao (Student)" userId="75a3ed00-6aa2-489c-ad7e-ae262e3e83c6" providerId="ADAL" clId="{B47591BB-4912-490E-9DBF-1E5FFA8943F5}" dt="2026-10-15T09:24:45.440" v="74" actId="1076"/>
          <ac:graphicFrameMkLst>
            <pc:docMk/>
            <pc:sldMk cId="1190987254" sldId="261"/>
            <ac:graphicFrameMk id="9" creationId="{D4C872A1-D594-F951-0952-2BFB5420CA73}"/>
          </ac:graphicFrameMkLst>
        </pc:graphicFrameChg>
        <pc:graphicFrameChg chg="add mod">
          <ac:chgData name="Bui Duc Minh Cao (Student)" userId="75a3ed00-6aa2-489c-ad7e-ae262e3e83c6" providerId="ADAL" clId="{B47591BB-4912-490E-9DBF-1E5FFA8943F5}" dt="2026-10-15T09:24:55.057" v="76" actId="1076"/>
          <ac:graphicFrameMkLst>
            <pc:docMk/>
            <pc:sldMk cId="1190987254" sldId="261"/>
            <ac:graphicFrameMk id="11" creationId="{C1FB16EF-2C73-4D00-CBB6-0044B1B95702}"/>
          </ac:graphicFrameMkLst>
        </pc:graphicFrameChg>
      </pc:sldChg>
      <pc:sldChg chg="addSp delSp modSp mod">
        <pc:chgData name="Bui Duc Minh Cao (Student)" userId="75a3ed00-6aa2-489c-ad7e-ae262e3e83c6" providerId="ADAL" clId="{B47591BB-4912-490E-9DBF-1E5FFA8943F5}" dt="2026-10-15T09:48:54.656" v="933" actId="1076"/>
        <pc:sldMkLst>
          <pc:docMk/>
          <pc:sldMk cId="2741771502" sldId="262"/>
        </pc:sldMkLst>
        <pc:spChg chg="mod">
          <ac:chgData name="Bui Duc Minh Cao (Student)" userId="75a3ed00-6aa2-489c-ad7e-ae262e3e83c6" providerId="ADAL" clId="{B47591BB-4912-490E-9DBF-1E5FFA8943F5}" dt="2026-10-15T09:45:30.715" v="824" actId="20577"/>
          <ac:spMkLst>
            <pc:docMk/>
            <pc:sldMk cId="2741771502" sldId="262"/>
            <ac:spMk id="2" creationId="{6650C5D0-0428-9C8C-73E7-EAA0A5FDED65}"/>
          </ac:spMkLst>
        </pc:spChg>
        <pc:spChg chg="add del mod">
          <ac:chgData name="Bui Duc Minh Cao (Student)" userId="75a3ed00-6aa2-489c-ad7e-ae262e3e83c6" providerId="ADAL" clId="{B47591BB-4912-490E-9DBF-1E5FFA8943F5}" dt="2026-10-15T09:45:43.515" v="828" actId="22"/>
          <ac:spMkLst>
            <pc:docMk/>
            <pc:sldMk cId="2741771502" sldId="262"/>
            <ac:spMk id="3" creationId="{EBF8F8D0-3F79-CA84-9756-7C828116D094}"/>
          </ac:spMkLst>
        </pc:spChg>
        <pc:spChg chg="add mod">
          <ac:chgData name="Bui Duc Minh Cao (Student)" userId="75a3ed00-6aa2-489c-ad7e-ae262e3e83c6" providerId="ADAL" clId="{B47591BB-4912-490E-9DBF-1E5FFA8943F5}" dt="2026-10-15T09:46:15.970" v="839" actId="767"/>
          <ac:spMkLst>
            <pc:docMk/>
            <pc:sldMk cId="2741771502" sldId="262"/>
            <ac:spMk id="8" creationId="{6565E4DC-3B7B-2EF1-D152-9AA654C1F971}"/>
          </ac:spMkLst>
        </pc:spChg>
        <pc:spChg chg="add mod">
          <ac:chgData name="Bui Duc Minh Cao (Student)" userId="75a3ed00-6aa2-489c-ad7e-ae262e3e83c6" providerId="ADAL" clId="{B47591BB-4912-490E-9DBF-1E5FFA8943F5}" dt="2026-10-15T09:46:25.484" v="842" actId="1076"/>
          <ac:spMkLst>
            <pc:docMk/>
            <pc:sldMk cId="2741771502" sldId="262"/>
            <ac:spMk id="12" creationId="{EB371481-E1A9-2891-5184-594CC459FECC}"/>
          </ac:spMkLst>
        </pc:spChg>
        <pc:spChg chg="add mod">
          <ac:chgData name="Bui Duc Minh Cao (Student)" userId="75a3ed00-6aa2-489c-ad7e-ae262e3e83c6" providerId="ADAL" clId="{B47591BB-4912-490E-9DBF-1E5FFA8943F5}" dt="2026-10-15T09:48:10.722" v="848" actId="1076"/>
          <ac:spMkLst>
            <pc:docMk/>
            <pc:sldMk cId="2741771502" sldId="262"/>
            <ac:spMk id="16" creationId="{CF616632-3652-46BF-9580-4DDD2FDFD92A}"/>
          </ac:spMkLst>
        </pc:spChg>
        <pc:spChg chg="add mod">
          <ac:chgData name="Bui Duc Minh Cao (Student)" userId="75a3ed00-6aa2-489c-ad7e-ae262e3e83c6" providerId="ADAL" clId="{B47591BB-4912-490E-9DBF-1E5FFA8943F5}" dt="2026-10-15T09:48:54.656" v="933" actId="1076"/>
          <ac:spMkLst>
            <pc:docMk/>
            <pc:sldMk cId="2741771502" sldId="262"/>
            <ac:spMk id="17" creationId="{B050912A-D429-CF07-908A-7EC107E63334}"/>
          </ac:spMkLst>
        </pc:spChg>
        <pc:graphicFrameChg chg="add del mod">
          <ac:chgData name="Bui Duc Minh Cao (Student)" userId="75a3ed00-6aa2-489c-ad7e-ae262e3e83c6" providerId="ADAL" clId="{B47591BB-4912-490E-9DBF-1E5FFA8943F5}" dt="2026-10-15T09:45:43.498" v="827" actId="22"/>
          <ac:graphicFrameMkLst>
            <pc:docMk/>
            <pc:sldMk cId="2741771502" sldId="262"/>
            <ac:graphicFrameMk id="5" creationId="{7D856407-51C0-F73A-D27E-BB9818E9009E}"/>
          </ac:graphicFrameMkLst>
        </pc:graphicFrameChg>
        <pc:graphicFrameChg chg="add mod">
          <ac:chgData name="Bui Duc Minh Cao (Student)" userId="75a3ed00-6aa2-489c-ad7e-ae262e3e83c6" providerId="ADAL" clId="{B47591BB-4912-490E-9DBF-1E5FFA8943F5}" dt="2026-10-15T09:46:28.554" v="843" actId="14100"/>
          <ac:graphicFrameMkLst>
            <pc:docMk/>
            <pc:sldMk cId="2741771502" sldId="262"/>
            <ac:graphicFrameMk id="7" creationId="{1AAD265E-B884-6246-5A66-058DAADD3282}"/>
          </ac:graphicFrameMkLst>
        </pc:graphicFrameChg>
        <pc:graphicFrameChg chg="add del">
          <ac:chgData name="Bui Duc Minh Cao (Student)" userId="75a3ed00-6aa2-489c-ad7e-ae262e3e83c6" providerId="ADAL" clId="{B47591BB-4912-490E-9DBF-1E5FFA8943F5}" dt="2026-10-15T09:46:10.487" v="835" actId="22"/>
          <ac:graphicFrameMkLst>
            <pc:docMk/>
            <pc:sldMk cId="2741771502" sldId="262"/>
            <ac:graphicFrameMk id="10" creationId="{138A4E9F-79FB-10F9-FC61-01BFE76B8DB6}"/>
          </ac:graphicFrameMkLst>
        </pc:graphicFrameChg>
        <pc:graphicFrameChg chg="add">
          <ac:chgData name="Bui Duc Minh Cao (Student)" userId="75a3ed00-6aa2-489c-ad7e-ae262e3e83c6" providerId="ADAL" clId="{B47591BB-4912-490E-9DBF-1E5FFA8943F5}" dt="2026-10-15T09:47:55.042" v="844" actId="22"/>
          <ac:graphicFrameMkLst>
            <pc:docMk/>
            <pc:sldMk cId="2741771502" sldId="262"/>
            <ac:graphicFrameMk id="14" creationId="{E88168C8-084E-246F-0033-E7CC8F8942C1}"/>
          </ac:graphicFrameMkLst>
        </pc:graphicFrameChg>
      </pc:sldChg>
      <pc:sldChg chg="addSp delSp modSp new mod">
        <pc:chgData name="Bui Duc Minh Cao (Student)" userId="75a3ed00-6aa2-489c-ad7e-ae262e3e83c6" providerId="ADAL" clId="{B47591BB-4912-490E-9DBF-1E5FFA8943F5}" dt="2026-10-15T09:39:22.572" v="802" actId="207"/>
        <pc:sldMkLst>
          <pc:docMk/>
          <pc:sldMk cId="3189560297" sldId="267"/>
        </pc:sldMkLst>
        <pc:spChg chg="mod">
          <ac:chgData name="Bui Duc Minh Cao (Student)" userId="75a3ed00-6aa2-489c-ad7e-ae262e3e83c6" providerId="ADAL" clId="{B47591BB-4912-490E-9DBF-1E5FFA8943F5}" dt="2026-10-15T09:34:20.113" v="144" actId="20577"/>
          <ac:spMkLst>
            <pc:docMk/>
            <pc:sldMk cId="3189560297" sldId="267"/>
            <ac:spMk id="2" creationId="{1A10522F-BCC9-65F9-3F8D-302A5ABD8810}"/>
          </ac:spMkLst>
        </pc:spChg>
        <pc:spChg chg="del">
          <ac:chgData name="Bui Duc Minh Cao (Student)" userId="75a3ed00-6aa2-489c-ad7e-ae262e3e83c6" providerId="ADAL" clId="{B47591BB-4912-490E-9DBF-1E5FFA8943F5}" dt="2026-10-15T09:34:34.422" v="146" actId="22"/>
          <ac:spMkLst>
            <pc:docMk/>
            <pc:sldMk cId="3189560297" sldId="267"/>
            <ac:spMk id="3" creationId="{231280D3-4D54-17A6-DF41-B4FF44858341}"/>
          </ac:spMkLst>
        </pc:spChg>
        <pc:spChg chg="del">
          <ac:chgData name="Bui Duc Minh Cao (Student)" userId="75a3ed00-6aa2-489c-ad7e-ae262e3e83c6" providerId="ADAL" clId="{B47591BB-4912-490E-9DBF-1E5FFA8943F5}" dt="2026-10-15T09:34:24.112" v="145" actId="478"/>
          <ac:spMkLst>
            <pc:docMk/>
            <pc:sldMk cId="3189560297" sldId="267"/>
            <ac:spMk id="5" creationId="{8364B19D-DF37-4E68-FB49-A20913EF14F6}"/>
          </ac:spMkLst>
        </pc:spChg>
        <pc:spChg chg="add mod">
          <ac:chgData name="Bui Duc Minh Cao (Student)" userId="75a3ed00-6aa2-489c-ad7e-ae262e3e83c6" providerId="ADAL" clId="{B47591BB-4912-490E-9DBF-1E5FFA8943F5}" dt="2026-10-15T09:37:07.110" v="561" actId="14100"/>
          <ac:spMkLst>
            <pc:docMk/>
            <pc:sldMk cId="3189560297" sldId="267"/>
            <ac:spMk id="8" creationId="{54296C68-C2BE-B75F-7791-CA883C0F8F81}"/>
          </ac:spMkLst>
        </pc:spChg>
        <pc:spChg chg="add mod">
          <ac:chgData name="Bui Duc Minh Cao (Student)" userId="75a3ed00-6aa2-489c-ad7e-ae262e3e83c6" providerId="ADAL" clId="{B47591BB-4912-490E-9DBF-1E5FFA8943F5}" dt="2026-10-15T09:37:08.493" v="562" actId="1076"/>
          <ac:spMkLst>
            <pc:docMk/>
            <pc:sldMk cId="3189560297" sldId="267"/>
            <ac:spMk id="10" creationId="{38D72E08-81AD-12EA-26A8-7A52ED76EE1B}"/>
          </ac:spMkLst>
        </pc:spChg>
        <pc:spChg chg="add del mod">
          <ac:chgData name="Bui Duc Minh Cao (Student)" userId="75a3ed00-6aa2-489c-ad7e-ae262e3e83c6" providerId="ADAL" clId="{B47591BB-4912-490E-9DBF-1E5FFA8943F5}" dt="2026-10-15T09:34:54.609" v="154" actId="22"/>
          <ac:spMkLst>
            <pc:docMk/>
            <pc:sldMk cId="3189560297" sldId="267"/>
            <ac:spMk id="12" creationId="{BFC66F8D-B794-2E7B-435A-3CA969FCA950}"/>
          </ac:spMkLst>
        </pc:spChg>
        <pc:spChg chg="add mod">
          <ac:chgData name="Bui Duc Minh Cao (Student)" userId="75a3ed00-6aa2-489c-ad7e-ae262e3e83c6" providerId="ADAL" clId="{B47591BB-4912-490E-9DBF-1E5FFA8943F5}" dt="2026-10-15T09:37:12.611" v="565" actId="27636"/>
          <ac:spMkLst>
            <pc:docMk/>
            <pc:sldMk cId="3189560297" sldId="267"/>
            <ac:spMk id="13" creationId="{7378C615-A12E-D3CA-A0A1-2257FC7186C9}"/>
          </ac:spMkLst>
        </pc:spChg>
        <pc:spChg chg="add mod">
          <ac:chgData name="Bui Duc Minh Cao (Student)" userId="75a3ed00-6aa2-489c-ad7e-ae262e3e83c6" providerId="ADAL" clId="{B47591BB-4912-490E-9DBF-1E5FFA8943F5}" dt="2026-10-15T09:36:04.843" v="389" actId="20577"/>
          <ac:spMkLst>
            <pc:docMk/>
            <pc:sldMk cId="3189560297" sldId="267"/>
            <ac:spMk id="15" creationId="{EA547FB6-DA51-B0EE-339B-CFEB83D369D6}"/>
          </ac:spMkLst>
        </pc:spChg>
        <pc:spChg chg="add mod">
          <ac:chgData name="Bui Duc Minh Cao (Student)" userId="75a3ed00-6aa2-489c-ad7e-ae262e3e83c6" providerId="ADAL" clId="{B47591BB-4912-490E-9DBF-1E5FFA8943F5}" dt="2026-10-15T09:37:16.701" v="566" actId="1076"/>
          <ac:spMkLst>
            <pc:docMk/>
            <pc:sldMk cId="3189560297" sldId="267"/>
            <ac:spMk id="17" creationId="{8B6949C1-7C72-CADB-6E29-B8E3F8B78F28}"/>
          </ac:spMkLst>
        </pc:spChg>
        <pc:spChg chg="add mod">
          <ac:chgData name="Bui Duc Minh Cao (Student)" userId="75a3ed00-6aa2-489c-ad7e-ae262e3e83c6" providerId="ADAL" clId="{B47591BB-4912-490E-9DBF-1E5FFA8943F5}" dt="2026-10-15T09:36:38.477" v="478" actId="20577"/>
          <ac:spMkLst>
            <pc:docMk/>
            <pc:sldMk cId="3189560297" sldId="267"/>
            <ac:spMk id="19" creationId="{FC3246F8-8D6C-D2D7-21D3-0D9EFEEA0B07}"/>
          </ac:spMkLst>
        </pc:spChg>
        <pc:spChg chg="add mod">
          <ac:chgData name="Bui Duc Minh Cao (Student)" userId="75a3ed00-6aa2-489c-ad7e-ae262e3e83c6" providerId="ADAL" clId="{B47591BB-4912-490E-9DBF-1E5FFA8943F5}" dt="2026-10-15T09:37:29.242" v="573" actId="14100"/>
          <ac:spMkLst>
            <pc:docMk/>
            <pc:sldMk cId="3189560297" sldId="267"/>
            <ac:spMk id="21" creationId="{79640ED8-97DD-42E0-774A-1D265ADF13A7}"/>
          </ac:spMkLst>
        </pc:spChg>
        <pc:spChg chg="add mod">
          <ac:chgData name="Bui Duc Minh Cao (Student)" userId="75a3ed00-6aa2-489c-ad7e-ae262e3e83c6" providerId="ADAL" clId="{B47591BB-4912-490E-9DBF-1E5FFA8943F5}" dt="2026-10-15T09:37:22.908" v="569" actId="27636"/>
          <ac:spMkLst>
            <pc:docMk/>
            <pc:sldMk cId="3189560297" sldId="267"/>
            <ac:spMk id="23" creationId="{8A80069D-BA88-40B7-2B17-9D7153CC01BC}"/>
          </ac:spMkLst>
        </pc:spChg>
        <pc:spChg chg="add mod">
          <ac:chgData name="Bui Duc Minh Cao (Student)" userId="75a3ed00-6aa2-489c-ad7e-ae262e3e83c6" providerId="ADAL" clId="{B47591BB-4912-490E-9DBF-1E5FFA8943F5}" dt="2026-10-15T09:37:31.463" v="574" actId="1076"/>
          <ac:spMkLst>
            <pc:docMk/>
            <pc:sldMk cId="3189560297" sldId="267"/>
            <ac:spMk id="25" creationId="{831DCD25-0038-ACEE-1576-AA6C6286B1FF}"/>
          </ac:spMkLst>
        </pc:spChg>
        <pc:spChg chg="add mod">
          <ac:chgData name="Bui Duc Minh Cao (Student)" userId="75a3ed00-6aa2-489c-ad7e-ae262e3e83c6" providerId="ADAL" clId="{B47591BB-4912-490E-9DBF-1E5FFA8943F5}" dt="2026-10-15T09:37:45.775" v="576" actId="1076"/>
          <ac:spMkLst>
            <pc:docMk/>
            <pc:sldMk cId="3189560297" sldId="267"/>
            <ac:spMk id="27" creationId="{386897B8-2266-4207-744E-B9EF7DCA364F}"/>
          </ac:spMkLst>
        </pc:spChg>
        <pc:spChg chg="add mod">
          <ac:chgData name="Bui Duc Minh Cao (Student)" userId="75a3ed00-6aa2-489c-ad7e-ae262e3e83c6" providerId="ADAL" clId="{B47591BB-4912-490E-9DBF-1E5FFA8943F5}" dt="2026-10-15T09:39:22.572" v="802" actId="207"/>
          <ac:spMkLst>
            <pc:docMk/>
            <pc:sldMk cId="3189560297" sldId="267"/>
            <ac:spMk id="28" creationId="{4C94197A-0FA4-102C-6E40-79C32444DDA8}"/>
          </ac:spMkLst>
        </pc:spChg>
      </pc:sldChg>
      <pc:sldChg chg="addSp delSp modSp new mod">
        <pc:chgData name="Bui Duc Minh Cao (Student)" userId="75a3ed00-6aa2-489c-ad7e-ae262e3e83c6" providerId="ADAL" clId="{B47591BB-4912-490E-9DBF-1E5FFA8943F5}" dt="2026-10-15T10:03:56.944" v="1164" actId="20577"/>
        <pc:sldMkLst>
          <pc:docMk/>
          <pc:sldMk cId="4140851311" sldId="268"/>
        </pc:sldMkLst>
        <pc:spChg chg="mod">
          <ac:chgData name="Bui Duc Minh Cao (Student)" userId="75a3ed00-6aa2-489c-ad7e-ae262e3e83c6" providerId="ADAL" clId="{B47591BB-4912-490E-9DBF-1E5FFA8943F5}" dt="2026-10-15T09:53:21.452" v="975" actId="20577"/>
          <ac:spMkLst>
            <pc:docMk/>
            <pc:sldMk cId="4140851311" sldId="268"/>
            <ac:spMk id="2" creationId="{4DD7632C-8C9D-F618-BDAF-C43508283496}"/>
          </ac:spMkLst>
        </pc:spChg>
        <pc:spChg chg="del">
          <ac:chgData name="Bui Duc Minh Cao (Student)" userId="75a3ed00-6aa2-489c-ad7e-ae262e3e83c6" providerId="ADAL" clId="{B47591BB-4912-490E-9DBF-1E5FFA8943F5}" dt="2026-10-15T09:53:26.736" v="976" actId="22"/>
          <ac:spMkLst>
            <pc:docMk/>
            <pc:sldMk cId="4140851311" sldId="268"/>
            <ac:spMk id="3" creationId="{778F9BE5-E60B-1ACE-0B31-D1FB1DE5EC1A}"/>
          </ac:spMkLst>
        </pc:spChg>
        <pc:spChg chg="del">
          <ac:chgData name="Bui Duc Minh Cao (Student)" userId="75a3ed00-6aa2-489c-ad7e-ae262e3e83c6" providerId="ADAL" clId="{B47591BB-4912-490E-9DBF-1E5FFA8943F5}" dt="2026-10-15T09:53:13.038" v="935" actId="478"/>
          <ac:spMkLst>
            <pc:docMk/>
            <pc:sldMk cId="4140851311" sldId="268"/>
            <ac:spMk id="5" creationId="{0B50FFDA-2E15-DC3B-3DDF-DC37880EFA31}"/>
          </ac:spMkLst>
        </pc:spChg>
        <pc:spChg chg="add mod">
          <ac:chgData name="Bui Duc Minh Cao (Student)" userId="75a3ed00-6aa2-489c-ad7e-ae262e3e83c6" providerId="ADAL" clId="{B47591BB-4912-490E-9DBF-1E5FFA8943F5}" dt="2026-10-15T10:03:56.944" v="1164" actId="20577"/>
          <ac:spMkLst>
            <pc:docMk/>
            <pc:sldMk cId="4140851311" sldId="268"/>
            <ac:spMk id="12" creationId="{EFEE544D-BF70-72C3-4BED-9C24A484D8AF}"/>
          </ac:spMkLst>
        </pc:spChg>
        <pc:spChg chg="add del">
          <ac:chgData name="Bui Duc Minh Cao (Student)" userId="75a3ed00-6aa2-489c-ad7e-ae262e3e83c6" providerId="ADAL" clId="{B47591BB-4912-490E-9DBF-1E5FFA8943F5}" dt="2026-10-15T09:53:57.301" v="988" actId="22"/>
          <ac:spMkLst>
            <pc:docMk/>
            <pc:sldMk cId="4140851311" sldId="268"/>
            <ac:spMk id="14" creationId="{4321666C-D530-6389-3433-59D3C8272A54}"/>
          </ac:spMkLst>
        </pc:spChg>
        <pc:spChg chg="add del">
          <ac:chgData name="Bui Duc Minh Cao (Student)" userId="75a3ed00-6aa2-489c-ad7e-ae262e3e83c6" providerId="ADAL" clId="{B47591BB-4912-490E-9DBF-1E5FFA8943F5}" dt="2026-10-15T09:53:57.121" v="987" actId="22"/>
          <ac:spMkLst>
            <pc:docMk/>
            <pc:sldMk cId="4140851311" sldId="268"/>
            <ac:spMk id="16" creationId="{0CE687D6-54FC-E91F-2F97-FDAD753B4C00}"/>
          </ac:spMkLst>
        </pc:spChg>
        <pc:spChg chg="add mod">
          <ac:chgData name="Bui Duc Minh Cao (Student)" userId="75a3ed00-6aa2-489c-ad7e-ae262e3e83c6" providerId="ADAL" clId="{B47591BB-4912-490E-9DBF-1E5FFA8943F5}" dt="2026-10-15T09:54:09.531" v="998" actId="207"/>
          <ac:spMkLst>
            <pc:docMk/>
            <pc:sldMk cId="4140851311" sldId="268"/>
            <ac:spMk id="18" creationId="{546642B4-7F57-1BC6-638E-838C6F8CD1C0}"/>
          </ac:spMkLst>
        </pc:spChg>
        <pc:spChg chg="add mod">
          <ac:chgData name="Bui Duc Minh Cao (Student)" userId="75a3ed00-6aa2-489c-ad7e-ae262e3e83c6" providerId="ADAL" clId="{B47591BB-4912-490E-9DBF-1E5FFA8943F5}" dt="2026-10-15T09:54:42.415" v="1046" actId="255"/>
          <ac:spMkLst>
            <pc:docMk/>
            <pc:sldMk cId="4140851311" sldId="268"/>
            <ac:spMk id="19" creationId="{EC4BDB56-DDC4-FC70-E925-4965F76B6982}"/>
          </ac:spMkLst>
        </pc:spChg>
        <pc:spChg chg="add mod">
          <ac:chgData name="Bui Duc Minh Cao (Student)" userId="75a3ed00-6aa2-489c-ad7e-ae262e3e83c6" providerId="ADAL" clId="{B47591BB-4912-490E-9DBF-1E5FFA8943F5}" dt="2026-10-15T09:55:38.613" v="1162" actId="1076"/>
          <ac:spMkLst>
            <pc:docMk/>
            <pc:sldMk cId="4140851311" sldId="268"/>
            <ac:spMk id="20" creationId="{7B979118-7161-C011-753A-835671D7B3BB}"/>
          </ac:spMkLst>
        </pc:spChg>
        <pc:graphicFrameChg chg="add mod">
          <ac:chgData name="Bui Duc Minh Cao (Student)" userId="75a3ed00-6aa2-489c-ad7e-ae262e3e83c6" providerId="ADAL" clId="{B47591BB-4912-490E-9DBF-1E5FFA8943F5}" dt="2026-10-15T09:53:41.307" v="980" actId="14100"/>
          <ac:graphicFrameMkLst>
            <pc:docMk/>
            <pc:sldMk cId="4140851311" sldId="268"/>
            <ac:graphicFrameMk id="8" creationId="{FC207355-6CD2-7D54-E981-D154DFD12D8D}"/>
          </ac:graphicFrameMkLst>
        </pc:graphicFrameChg>
        <pc:graphicFrameChg chg="add del">
          <ac:chgData name="Bui Duc Minh Cao (Student)" userId="75a3ed00-6aa2-489c-ad7e-ae262e3e83c6" providerId="ADAL" clId="{B47591BB-4912-490E-9DBF-1E5FFA8943F5}" dt="2026-10-15T09:53:47.543" v="982" actId="22"/>
          <ac:graphicFrameMkLst>
            <pc:docMk/>
            <pc:sldMk cId="4140851311" sldId="268"/>
            <ac:graphicFrameMk id="10" creationId="{72E4AA30-7C0D-7C96-5A6C-E65F544FC1C8}"/>
          </ac:graphicFrameMkLst>
        </pc:graphicFrameChg>
      </pc:sldChg>
    </pc:docChg>
  </pc:docChgLst>
  <pc:docChgLst>
    <pc:chgData name="Bui Duc Minh Cao (Student)" userId="S::20937120@student.curtin.edu.au::75a3ed00-6aa2-489c-ad7e-ae262e3e83c6" providerId="AD" clId="Web-{F3BE62F5-4800-EEF4-9378-C37AE9C6C800}"/>
    <pc:docChg chg="modSld">
      <pc:chgData name="Bui Duc Minh Cao (Student)" userId="S::20937120@student.curtin.edu.au::75a3ed00-6aa2-489c-ad7e-ae262e3e83c6" providerId="AD" clId="Web-{F3BE62F5-4800-EEF4-9378-C37AE9C6C800}" dt="2026-10-15T09:16:58.340" v="147"/>
      <pc:docMkLst>
        <pc:docMk/>
      </pc:docMkLst>
      <pc:sldChg chg="addSp modSp">
        <pc:chgData name="Bui Duc Minh Cao (Student)" userId="S::20937120@student.curtin.edu.au::75a3ed00-6aa2-489c-ad7e-ae262e3e83c6" providerId="AD" clId="Web-{F3BE62F5-4800-EEF4-9378-C37AE9C6C800}" dt="2026-10-15T09:16:58.340" v="147"/>
        <pc:sldMkLst>
          <pc:docMk/>
          <pc:sldMk cId="1190987254" sldId="261"/>
        </pc:sldMkLst>
        <pc:spChg chg="mod">
          <ac:chgData name="Bui Duc Minh Cao (Student)" userId="S::20937120@student.curtin.edu.au::75a3ed00-6aa2-489c-ad7e-ae262e3e83c6" providerId="AD" clId="Web-{F3BE62F5-4800-EEF4-9378-C37AE9C6C800}" dt="2026-10-15T09:13:03.649" v="3" actId="20577"/>
          <ac:spMkLst>
            <pc:docMk/>
            <pc:sldMk cId="1190987254" sldId="261"/>
            <ac:spMk id="2" creationId="{0ACB8AA9-DEC0-2DE2-9450-849B8DD2C19C}"/>
          </ac:spMkLst>
        </pc:spChg>
        <pc:spChg chg="mod">
          <ac:chgData name="Bui Duc Minh Cao (Student)" userId="S::20937120@student.curtin.edu.au::75a3ed00-6aa2-489c-ad7e-ae262e3e83c6" providerId="AD" clId="Web-{F3BE62F5-4800-EEF4-9378-C37AE9C6C800}" dt="2026-10-15T09:15:04.628" v="57" actId="14100"/>
          <ac:spMkLst>
            <pc:docMk/>
            <pc:sldMk cId="1190987254" sldId="261"/>
            <ac:spMk id="3" creationId="{F3AE0EA1-2791-F0CF-530C-E294BCA1F133}"/>
          </ac:spMkLst>
        </pc:spChg>
        <pc:graphicFrameChg chg="add mod modGraphic">
          <ac:chgData name="Bui Duc Minh Cao (Student)" userId="S::20937120@student.curtin.edu.au::75a3ed00-6aa2-489c-ad7e-ae262e3e83c6" providerId="AD" clId="Web-{F3BE62F5-4800-EEF4-9378-C37AE9C6C800}" dt="2026-10-15T09:16:58.340" v="147"/>
          <ac:graphicFrameMkLst>
            <pc:docMk/>
            <pc:sldMk cId="1190987254" sldId="261"/>
            <ac:graphicFrameMk id="4" creationId="{C941ED4C-F8C4-52AC-5898-721A0A90A256}"/>
          </ac:graphicFrameMkLst>
        </pc:graphicFrameChg>
      </pc:sldChg>
    </pc:docChg>
  </pc:docChgLst>
  <pc:docChgLst>
    <pc:chgData name="Jake Pedersen (Student)" userId="S::21975066@student.curtin.edu.au::9ebd5bfa-272f-4a67-8cc8-a067192801c5" providerId="AD" clId="Web-{00000000-0000-0000-0000-000000000000}"/>
    <pc:docChg chg="modSld">
      <pc:chgData name="Jake Pedersen (Student)" userId="S::21975066@student.curtin.edu.au::9ebd5bfa-272f-4a67-8cc8-a067192801c5" providerId="AD" clId="Web-{00000000-0000-0000-0000-000000000000}" dt="2026-10-15T14:07:45.008" v="1" actId="20577"/>
      <pc:docMkLst>
        <pc:docMk/>
      </pc:docMkLst>
      <pc:sldChg chg="modSp">
        <pc:chgData name="Jake Pedersen (Student)" userId="S::21975066@student.curtin.edu.au::9ebd5bfa-272f-4a67-8cc8-a067192801c5" providerId="AD" clId="Web-{00000000-0000-0000-0000-000000000000}" dt="2026-10-15T14:07:45.008" v="1" actId="20577"/>
        <pc:sldMkLst>
          <pc:docMk/>
          <pc:sldMk cId="2822791411" sldId="257"/>
        </pc:sldMkLst>
        <pc:spChg chg="mod">
          <ac:chgData name="Jake Pedersen (Student)" userId="S::21975066@student.curtin.edu.au::9ebd5bfa-272f-4a67-8cc8-a067192801c5" providerId="AD" clId="Web-{00000000-0000-0000-0000-000000000000}" dt="2026-10-15T14:07:45.008" v="1" actId="20577"/>
          <ac:spMkLst>
            <pc:docMk/>
            <pc:sldMk cId="2822791411" sldId="257"/>
            <ac:spMk id="3" creationId="{25071538-F787-450D-C7B9-7BA2D0F710B0}"/>
          </ac:spMkLst>
        </pc:spChg>
      </pc:sldChg>
    </pc:docChg>
  </pc:docChgLst>
  <pc:docChgLst>
    <pc:chgData name="Jake Pedersen (Student)" userId="9ebd5bfa-272f-4a67-8cc8-a067192801c5" providerId="ADAL" clId="{FF18FF24-C9F0-492B-9B74-07116177E7EA}"/>
    <pc:docChg chg="undo custSel addSld modSld modMainMaster">
      <pc:chgData name="Jake Pedersen (Student)" userId="9ebd5bfa-272f-4a67-8cc8-a067192801c5" providerId="ADAL" clId="{FF18FF24-C9F0-492B-9B74-07116177E7EA}" dt="2026-10-14T15:25:38.871" v="2294" actId="114"/>
      <pc:docMkLst>
        <pc:docMk/>
      </pc:docMkLst>
      <pc:sldChg chg="addSp delSp modSp mod">
        <pc:chgData name="Jake Pedersen (Student)" userId="9ebd5bfa-272f-4a67-8cc8-a067192801c5" providerId="ADAL" clId="{FF18FF24-C9F0-492B-9B74-07116177E7EA}" dt="2026-10-14T14:11:18.131" v="157" actId="403"/>
        <pc:sldMkLst>
          <pc:docMk/>
          <pc:sldMk cId="109857222" sldId="256"/>
        </pc:sldMkLst>
        <pc:spChg chg="mod">
          <ac:chgData name="Jake Pedersen (Student)" userId="9ebd5bfa-272f-4a67-8cc8-a067192801c5" providerId="ADAL" clId="{FF18FF24-C9F0-492B-9B74-07116177E7EA}" dt="2026-10-14T14:11:18.131" v="157" actId="403"/>
          <ac:spMkLst>
            <pc:docMk/>
            <pc:sldMk cId="109857222" sldId="256"/>
            <ac:spMk id="3" creationId="{00000000-0000-0000-0000-000000000000}"/>
          </ac:spMkLst>
        </pc:spChg>
      </pc:sldChg>
      <pc:sldChg chg="modSp mod">
        <pc:chgData name="Jake Pedersen (Student)" userId="9ebd5bfa-272f-4a67-8cc8-a067192801c5" providerId="ADAL" clId="{FF18FF24-C9F0-492B-9B74-07116177E7EA}" dt="2026-10-14T14:24:00.015" v="482" actId="122"/>
        <pc:sldMkLst>
          <pc:docMk/>
          <pc:sldMk cId="2822791411" sldId="257"/>
        </pc:sldMkLst>
        <pc:spChg chg="mod">
          <ac:chgData name="Jake Pedersen (Student)" userId="9ebd5bfa-272f-4a67-8cc8-a067192801c5" providerId="ADAL" clId="{FF18FF24-C9F0-492B-9B74-07116177E7EA}" dt="2026-10-14T14:24:00.015" v="482" actId="122"/>
          <ac:spMkLst>
            <pc:docMk/>
            <pc:sldMk cId="2822791411" sldId="257"/>
            <ac:spMk id="2" creationId="{D36F6318-84E9-23F2-7FC2-4109008F7562}"/>
          </ac:spMkLst>
        </pc:spChg>
        <pc:spChg chg="mod">
          <ac:chgData name="Jake Pedersen (Student)" userId="9ebd5bfa-272f-4a67-8cc8-a067192801c5" providerId="ADAL" clId="{FF18FF24-C9F0-492B-9B74-07116177E7EA}" dt="2026-10-14T14:23:56.449" v="481" actId="403"/>
          <ac:spMkLst>
            <pc:docMk/>
            <pc:sldMk cId="2822791411" sldId="257"/>
            <ac:spMk id="3" creationId="{25071538-F787-450D-C7B9-7BA2D0F710B0}"/>
          </ac:spMkLst>
        </pc:spChg>
      </pc:sldChg>
      <pc:sldChg chg="modSp mod">
        <pc:chgData name="Jake Pedersen (Student)" userId="9ebd5bfa-272f-4a67-8cc8-a067192801c5" providerId="ADAL" clId="{FF18FF24-C9F0-492B-9B74-07116177E7EA}" dt="2026-10-14T14:52:32.317" v="1201" actId="114"/>
        <pc:sldMkLst>
          <pc:docMk/>
          <pc:sldMk cId="637912245" sldId="258"/>
        </pc:sldMkLst>
        <pc:spChg chg="mod">
          <ac:chgData name="Jake Pedersen (Student)" userId="9ebd5bfa-272f-4a67-8cc8-a067192801c5" providerId="ADAL" clId="{FF18FF24-C9F0-492B-9B74-07116177E7EA}" dt="2026-10-14T14:52:32.317" v="1201" actId="114"/>
          <ac:spMkLst>
            <pc:docMk/>
            <pc:sldMk cId="637912245" sldId="258"/>
            <ac:spMk id="3" creationId="{01FE76DB-0BAA-58E7-086A-90483C38112C}"/>
          </ac:spMkLst>
        </pc:spChg>
      </pc:sldChg>
      <pc:sldChg chg="addSp modSp mod">
        <pc:chgData name="Jake Pedersen (Student)" userId="9ebd5bfa-272f-4a67-8cc8-a067192801c5" providerId="ADAL" clId="{FF18FF24-C9F0-492B-9B74-07116177E7EA}" dt="2026-10-14T15:00:40.929" v="1555" actId="404"/>
        <pc:sldMkLst>
          <pc:docMk/>
          <pc:sldMk cId="3055582918" sldId="259"/>
        </pc:sldMkLst>
        <pc:spChg chg="mod">
          <ac:chgData name="Jake Pedersen (Student)" userId="9ebd5bfa-272f-4a67-8cc8-a067192801c5" providerId="ADAL" clId="{FF18FF24-C9F0-492B-9B74-07116177E7EA}" dt="2026-10-14T15:00:40.929" v="1555" actId="404"/>
          <ac:spMkLst>
            <pc:docMk/>
            <pc:sldMk cId="3055582918" sldId="259"/>
            <ac:spMk id="3" creationId="{74EC96E2-F071-255D-F554-97E9078C9DAF}"/>
          </ac:spMkLst>
        </pc:spChg>
        <pc:picChg chg="add mod">
          <ac:chgData name="Jake Pedersen (Student)" userId="9ebd5bfa-272f-4a67-8cc8-a067192801c5" providerId="ADAL" clId="{FF18FF24-C9F0-492B-9B74-07116177E7EA}" dt="2026-10-14T15:00:36.776" v="1554" actId="1037"/>
          <ac:picMkLst>
            <pc:docMk/>
            <pc:sldMk cId="3055582918" sldId="259"/>
            <ac:picMk id="4" creationId="{89ACD0A4-B6D6-EF4F-E9E9-DDBF834AA3D5}"/>
          </ac:picMkLst>
        </pc:picChg>
      </pc:sldChg>
      <pc:sldChg chg="addSp delSp modSp mod">
        <pc:chgData name="Jake Pedersen (Student)" userId="9ebd5bfa-272f-4a67-8cc8-a067192801c5" providerId="ADAL" clId="{FF18FF24-C9F0-492B-9B74-07116177E7EA}" dt="2026-10-14T15:25:38.871" v="2294" actId="114"/>
        <pc:sldMkLst>
          <pc:docMk/>
          <pc:sldMk cId="1128907343" sldId="260"/>
        </pc:sldMkLst>
        <pc:spChg chg="mod">
          <ac:chgData name="Jake Pedersen (Student)" userId="9ebd5bfa-272f-4a67-8cc8-a067192801c5" providerId="ADAL" clId="{FF18FF24-C9F0-492B-9B74-07116177E7EA}" dt="2026-10-14T15:15:27.387" v="2057" actId="14100"/>
          <ac:spMkLst>
            <pc:docMk/>
            <pc:sldMk cId="1128907343" sldId="260"/>
            <ac:spMk id="2" creationId="{45BF9B61-3688-C3C6-6D1F-6E2D97F61010}"/>
          </ac:spMkLst>
        </pc:spChg>
        <pc:spChg chg="mod">
          <ac:chgData name="Jake Pedersen (Student)" userId="9ebd5bfa-272f-4a67-8cc8-a067192801c5" providerId="ADAL" clId="{FF18FF24-C9F0-492B-9B74-07116177E7EA}" dt="2026-10-14T15:15:32.109" v="2059" actId="27636"/>
          <ac:spMkLst>
            <pc:docMk/>
            <pc:sldMk cId="1128907343" sldId="260"/>
            <ac:spMk id="3" creationId="{DAF4BEFE-9AC4-3CA7-575C-34BA9744A253}"/>
          </ac:spMkLst>
        </pc:spChg>
        <pc:spChg chg="add mod">
          <ac:chgData name="Jake Pedersen (Student)" userId="9ebd5bfa-272f-4a67-8cc8-a067192801c5" providerId="ADAL" clId="{FF18FF24-C9F0-492B-9B74-07116177E7EA}" dt="2026-10-14T15:24:36.520" v="2257" actId="14100"/>
          <ac:spMkLst>
            <pc:docMk/>
            <pc:sldMk cId="1128907343" sldId="260"/>
            <ac:spMk id="10" creationId="{EA5045FD-C367-CF9F-9BBD-8522D05CB137}"/>
          </ac:spMkLst>
        </pc:spChg>
        <pc:graphicFrameChg chg="add mod modGraphic">
          <ac:chgData name="Jake Pedersen (Student)" userId="9ebd5bfa-272f-4a67-8cc8-a067192801c5" providerId="ADAL" clId="{FF18FF24-C9F0-492B-9B74-07116177E7EA}" dt="2026-10-14T15:25:29.104" v="2292" actId="20577"/>
          <ac:graphicFrameMkLst>
            <pc:docMk/>
            <pc:sldMk cId="1128907343" sldId="260"/>
            <ac:graphicFrameMk id="4" creationId="{BB51DB04-D926-657E-3905-007E7D0CCCFE}"/>
          </ac:graphicFrameMkLst>
        </pc:graphicFrameChg>
        <pc:graphicFrameChg chg="add mod modGraphic">
          <ac:chgData name="Jake Pedersen (Student)" userId="9ebd5bfa-272f-4a67-8cc8-a067192801c5" providerId="ADAL" clId="{FF18FF24-C9F0-492B-9B74-07116177E7EA}" dt="2026-10-14T15:25:38.871" v="2294" actId="114"/>
          <ac:graphicFrameMkLst>
            <pc:docMk/>
            <pc:sldMk cId="1128907343" sldId="260"/>
            <ac:graphicFrameMk id="6" creationId="{352AA809-E069-CBB9-F07E-B934E619DC79}"/>
          </ac:graphicFrameMkLst>
        </pc:graphicFrameChg>
      </pc:sldChg>
      <pc:sldChg chg="modSp mod">
        <pc:chgData name="Jake Pedersen (Student)" userId="9ebd5bfa-272f-4a67-8cc8-a067192801c5" providerId="ADAL" clId="{FF18FF24-C9F0-492B-9B74-07116177E7EA}" dt="2026-10-14T14:52:56.027" v="1205" actId="114"/>
        <pc:sldMkLst>
          <pc:docMk/>
          <pc:sldMk cId="1190987254" sldId="261"/>
        </pc:sldMkLst>
        <pc:spChg chg="mod">
          <ac:chgData name="Jake Pedersen (Student)" userId="9ebd5bfa-272f-4a67-8cc8-a067192801c5" providerId="ADAL" clId="{FF18FF24-C9F0-492B-9B74-07116177E7EA}" dt="2026-10-14T14:52:56.027" v="1205" actId="114"/>
          <ac:spMkLst>
            <pc:docMk/>
            <pc:sldMk cId="1190987254" sldId="261"/>
            <ac:spMk id="3" creationId="{F3AE0EA1-2791-F0CF-530C-E294BCA1F133}"/>
          </ac:spMkLst>
        </pc:spChg>
      </pc:sldChg>
      <pc:sldChg chg="modSp mod">
        <pc:chgData name="Jake Pedersen (Student)" userId="9ebd5bfa-272f-4a67-8cc8-a067192801c5" providerId="ADAL" clId="{FF18FF24-C9F0-492B-9B74-07116177E7EA}" dt="2026-10-14T14:52:59.927" v="1206" actId="114"/>
        <pc:sldMkLst>
          <pc:docMk/>
          <pc:sldMk cId="2741771502" sldId="262"/>
        </pc:sldMkLst>
      </pc:sldChg>
      <pc:sldChg chg="modSp mod">
        <pc:chgData name="Jake Pedersen (Student)" userId="9ebd5bfa-272f-4a67-8cc8-a067192801c5" providerId="ADAL" clId="{FF18FF24-C9F0-492B-9B74-07116177E7EA}" dt="2026-10-14T14:53:03.812" v="1207" actId="114"/>
        <pc:sldMkLst>
          <pc:docMk/>
          <pc:sldMk cId="1827632156" sldId="263"/>
        </pc:sldMkLst>
        <pc:spChg chg="mod">
          <ac:chgData name="Jake Pedersen (Student)" userId="9ebd5bfa-272f-4a67-8cc8-a067192801c5" providerId="ADAL" clId="{FF18FF24-C9F0-492B-9B74-07116177E7EA}" dt="2026-10-14T14:53:03.812" v="1207" actId="114"/>
          <ac:spMkLst>
            <pc:docMk/>
            <pc:sldMk cId="1827632156" sldId="263"/>
            <ac:spMk id="3" creationId="{1607AE5F-5E36-9729-77FB-31C756A2A760}"/>
          </ac:spMkLst>
        </pc:spChg>
      </pc:sldChg>
      <pc:sldChg chg="modSp mod">
        <pc:chgData name="Jake Pedersen (Student)" userId="9ebd5bfa-272f-4a67-8cc8-a067192801c5" providerId="ADAL" clId="{FF18FF24-C9F0-492B-9B74-07116177E7EA}" dt="2026-10-14T14:53:08.515" v="1208" actId="114"/>
        <pc:sldMkLst>
          <pc:docMk/>
          <pc:sldMk cId="2892464062" sldId="264"/>
        </pc:sldMkLst>
        <pc:spChg chg="mod">
          <ac:chgData name="Jake Pedersen (Student)" userId="9ebd5bfa-272f-4a67-8cc8-a067192801c5" providerId="ADAL" clId="{FF18FF24-C9F0-492B-9B74-07116177E7EA}" dt="2026-10-14T14:53:08.515" v="1208" actId="114"/>
          <ac:spMkLst>
            <pc:docMk/>
            <pc:sldMk cId="2892464062" sldId="264"/>
            <ac:spMk id="3" creationId="{785C60CC-8E13-7386-9A24-D5F8426AAF05}"/>
          </ac:spMkLst>
        </pc:spChg>
      </pc:sldChg>
      <pc:sldChg chg="modSp add mod">
        <pc:chgData name="Jake Pedersen (Student)" userId="9ebd5bfa-272f-4a67-8cc8-a067192801c5" providerId="ADAL" clId="{FF18FF24-C9F0-492B-9B74-07116177E7EA}" dt="2026-10-14T14:52:39.859" v="1202" actId="114"/>
        <pc:sldMkLst>
          <pc:docMk/>
          <pc:sldMk cId="1234567971" sldId="266"/>
        </pc:sldMkLst>
        <pc:spChg chg="mod">
          <ac:chgData name="Jake Pedersen (Student)" userId="9ebd5bfa-272f-4a67-8cc8-a067192801c5" providerId="ADAL" clId="{FF18FF24-C9F0-492B-9B74-07116177E7EA}" dt="2026-10-14T14:52:39.859" v="1202" actId="114"/>
          <ac:spMkLst>
            <pc:docMk/>
            <pc:sldMk cId="1234567971" sldId="266"/>
            <ac:spMk id="3" creationId="{D0B54859-96F0-FEC1-C780-A64B559A4857}"/>
          </ac:spMkLst>
        </pc:spChg>
      </pc:sldChg>
      <pc:sldMasterChg chg="setBg modSldLayout">
        <pc:chgData name="Jake Pedersen (Student)" userId="9ebd5bfa-272f-4a67-8cc8-a067192801c5" providerId="ADAL" clId="{FF18FF24-C9F0-492B-9B74-07116177E7EA}" dt="2026-10-14T12:45:31.027" v="0"/>
        <pc:sldMasterMkLst>
          <pc:docMk/>
          <pc:sldMasterMk cId="2174541238" sldId="2147483912"/>
        </pc:sldMasterMkLst>
        <pc:sldLayoutChg chg="setBg">
          <pc:chgData name="Jake Pedersen (Student)" userId="9ebd5bfa-272f-4a67-8cc8-a067192801c5" providerId="ADAL" clId="{FF18FF24-C9F0-492B-9B74-07116177E7EA}" dt="2026-10-14T12:45:31.027" v="0"/>
          <pc:sldLayoutMkLst>
            <pc:docMk/>
            <pc:sldMasterMk cId="2174541238" sldId="2147483912"/>
            <pc:sldLayoutMk cId="2381828038" sldId="2147483940"/>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Ice cooling power (kW)</c:v>
                </c:pt>
              </c:strCache>
            </c:strRef>
          </c:tx>
          <c:spPr>
            <a:ln w="31750">
              <a:solidFill>
                <a:srgbClr val="1F6FB2"/>
              </a:solidFill>
            </a:ln>
          </c:spPr>
          <c:marker>
            <c:symbol val="circle"/>
            <c:size val="9"/>
            <c:spPr>
              <a:solidFill>
                <a:srgbClr val="1F6FB2"/>
              </a:solidFill>
              <a:ln>
                <a:solidFill>
                  <a:srgbClr val="FFFFFF"/>
                </a:solidFill>
              </a:ln>
            </c:spPr>
          </c:marker>
          <c:dLbls>
            <c:dLbl>
              <c:idx val="2"/>
              <c:tx>
                <c:rich>
                  <a:bodyPr/>
                  <a:lstStyle/>
                  <a:p>
                    <a:r>
                      <a:rPr lang="en-US" sz="1200">
                        <a:solidFill>
                          <a:srgbClr val="1F2328"/>
                        </a:solidFill>
                      </a:rPr>
                      <a:t>97.0 kW at every outdoor temperature</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1609-4F71-8B28-386E7EC2147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Sheet1!$A$2:$A$4</c:f>
              <c:numCache>
                <c:formatCode>General</c:formatCode>
                <c:ptCount val="3"/>
                <c:pt idx="0">
                  <c:v>8.1</c:v>
                </c:pt>
                <c:pt idx="1">
                  <c:v>18</c:v>
                </c:pt>
                <c:pt idx="2">
                  <c:v>32.1</c:v>
                </c:pt>
              </c:numCache>
            </c:numRef>
          </c:xVal>
          <c:yVal>
            <c:numRef>
              <c:f>Sheet1!$B$2:$B$4</c:f>
              <c:numCache>
                <c:formatCode>General</c:formatCode>
                <c:ptCount val="3"/>
                <c:pt idx="0">
                  <c:v>96.98</c:v>
                </c:pt>
                <c:pt idx="1">
                  <c:v>96.98</c:v>
                </c:pt>
                <c:pt idx="2">
                  <c:v>96.98</c:v>
                </c:pt>
              </c:numCache>
            </c:numRef>
          </c:yVal>
          <c:smooth val="0"/>
          <c:extLst>
            <c:ext xmlns:c16="http://schemas.microsoft.com/office/drawing/2014/chart" uri="{C3380CC4-5D6E-409C-BE32-E72D297353CC}">
              <c16:uniqueId val="{00000001-1609-4F71-8B28-386E7EC21479}"/>
            </c:ext>
          </c:extLst>
        </c:ser>
        <c:ser>
          <c:idx val="1"/>
          <c:order val="1"/>
          <c:tx>
            <c:strRef>
              <c:f>Sheet1!$B$6</c:f>
              <c:strCache>
                <c:ptCount val="1"/>
                <c:pt idx="0">
                  <c:v>Upper-unit power (kW): + heating, − cooling</c:v>
                </c:pt>
              </c:strCache>
            </c:strRef>
          </c:tx>
          <c:spPr>
            <a:ln w="31750">
              <a:solidFill>
                <a:srgbClr val="C2562B"/>
              </a:solidFill>
            </a:ln>
          </c:spPr>
          <c:marker>
            <c:symbol val="circle"/>
            <c:size val="9"/>
            <c:spPr>
              <a:solidFill>
                <a:srgbClr val="C2562B"/>
              </a:solidFill>
              <a:ln>
                <a:solidFill>
                  <a:srgbClr val="FFFFFF"/>
                </a:solidFill>
              </a:ln>
            </c:spPr>
          </c:marker>
          <c:dLbls>
            <c:dLbl>
              <c:idx val="0"/>
              <c:tx>
                <c:rich>
                  <a:bodyPr/>
                  <a:lstStyle/>
                  <a:p>
                    <a:r>
                      <a:rPr lang="en-US" sz="1200">
                        <a:solidFill>
                          <a:srgbClr val="1F2328"/>
                        </a:solidFill>
                      </a:rPr>
                      <a:t>Winter night 8.1 °C</a:t>
                    </a:r>
                  </a:p>
                  <a:p>
                    <a:r>
                      <a:rPr lang="en-US" sz="1200">
                        <a:solidFill>
                          <a:srgbClr val="1F2328"/>
                        </a:solidFill>
                      </a:rPr>
                      <a:t>+57.0 kW</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1609-4F71-8B28-386E7EC21479}"/>
                </c:ext>
              </c:extLst>
            </c:dLbl>
            <c:dLbl>
              <c:idx val="1"/>
              <c:tx>
                <c:rich>
                  <a:bodyPr/>
                  <a:lstStyle/>
                  <a:p>
                    <a:r>
                      <a:rPr lang="en-US" sz="1200">
                        <a:solidFill>
                          <a:srgbClr val="1F2328"/>
                        </a:solidFill>
                      </a:rPr>
                      <a:t>Winter day 18.0 °C</a:t>
                    </a:r>
                  </a:p>
                  <a:p>
                    <a:r>
                      <a:rPr lang="en-US" sz="1200">
                        <a:solidFill>
                          <a:srgbClr val="1F2328"/>
                        </a:solidFill>
                      </a:rPr>
                      <a:t>+28.8 kW</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1609-4F71-8B28-386E7EC21479}"/>
                </c:ext>
              </c:extLst>
            </c:dLbl>
            <c:dLbl>
              <c:idx val="2"/>
              <c:tx>
                <c:rich>
                  <a:bodyPr/>
                  <a:lstStyle/>
                  <a:p>
                    <a:r>
                      <a:rPr lang="en-US" sz="1200">
                        <a:solidFill>
                          <a:srgbClr val="1F2328"/>
                        </a:solidFill>
                      </a:rPr>
                      <a:t>switch-over 28.1 °C</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1609-4F71-8B28-386E7EC21479}"/>
                </c:ext>
              </c:extLst>
            </c:dLbl>
            <c:dLbl>
              <c:idx val="3"/>
              <c:tx>
                <c:rich>
                  <a:bodyPr/>
                  <a:lstStyle/>
                  <a:p>
                    <a:r>
                      <a:rPr lang="en-US" sz="1200">
                        <a:solidFill>
                          <a:srgbClr val="1F2328"/>
                        </a:solidFill>
                      </a:rPr>
                      <a:t>Summer day 32.1 °C</a:t>
                    </a:r>
                  </a:p>
                  <a:p>
                    <a:r>
                      <a:rPr lang="en-US" sz="1200">
                        <a:solidFill>
                          <a:srgbClr val="1F2328"/>
                        </a:solidFill>
                      </a:rPr>
                      <a:t>−11.5 kW</a:t>
                    </a:r>
                  </a:p>
                </c:rich>
              </c:tx>
              <c:dLblPos val="l"/>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1609-4F71-8B28-386E7EC2147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Sheet1!$A$7:$A$10</c:f>
              <c:numCache>
                <c:formatCode>General</c:formatCode>
                <c:ptCount val="4"/>
                <c:pt idx="0">
                  <c:v>8.1</c:v>
                </c:pt>
                <c:pt idx="1">
                  <c:v>18</c:v>
                </c:pt>
                <c:pt idx="2">
                  <c:v>28.08</c:v>
                </c:pt>
                <c:pt idx="3">
                  <c:v>32.1</c:v>
                </c:pt>
              </c:numCache>
            </c:numRef>
          </c:xVal>
          <c:yVal>
            <c:numRef>
              <c:f>Sheet1!$B$7:$B$10</c:f>
              <c:numCache>
                <c:formatCode>General</c:formatCode>
                <c:ptCount val="4"/>
                <c:pt idx="0">
                  <c:v>57.01</c:v>
                </c:pt>
                <c:pt idx="1">
                  <c:v>28.76</c:v>
                </c:pt>
                <c:pt idx="2">
                  <c:v>0</c:v>
                </c:pt>
                <c:pt idx="3">
                  <c:v>-11.46</c:v>
                </c:pt>
              </c:numCache>
            </c:numRef>
          </c:yVal>
          <c:smooth val="0"/>
          <c:extLst>
            <c:ext xmlns:c16="http://schemas.microsoft.com/office/drawing/2014/chart" uri="{C3380CC4-5D6E-409C-BE32-E72D297353CC}">
              <c16:uniqueId val="{00000006-1609-4F71-8B28-386E7EC21479}"/>
            </c:ext>
          </c:extLst>
        </c:ser>
        <c:dLbls>
          <c:showLegendKey val="0"/>
          <c:showVal val="0"/>
          <c:showCatName val="0"/>
          <c:showSerName val="0"/>
          <c:showPercent val="0"/>
          <c:showBubbleSize val="0"/>
        </c:dLbls>
        <c:axId val="-2128940872"/>
        <c:axId val="-2129643912"/>
      </c:scatterChart>
      <c:valAx>
        <c:axId val="-2128940872"/>
        <c:scaling>
          <c:orientation val="minMax"/>
          <c:max val="40"/>
          <c:min val="0"/>
        </c:scaling>
        <c:delete val="0"/>
        <c:axPos val="b"/>
        <c:title>
          <c:tx>
            <c:rich>
              <a:bodyPr/>
              <a:lstStyle/>
              <a:p>
                <a:r>
                  <a:rPr lang="en-AU" sz="1400" b="0">
                    <a:solidFill>
                      <a:srgbClr val="3F4650"/>
                    </a:solidFill>
                  </a:rPr>
                  <a:t>Outdoor temperature (°C)</a:t>
                </a:r>
              </a:p>
            </c:rich>
          </c:tx>
          <c:overlay val="0"/>
        </c:title>
        <c:numFmt formatCode="General" sourceLinked="1"/>
        <c:majorTickMark val="out"/>
        <c:minorTickMark val="none"/>
        <c:tickLblPos val="low"/>
        <c:spPr>
          <a:ln>
            <a:solidFill>
              <a:srgbClr val="8A929B"/>
            </a:solidFill>
          </a:ln>
        </c:spPr>
        <c:txPr>
          <a:bodyPr/>
          <a:lstStyle/>
          <a:p>
            <a:pPr>
              <a:defRPr sz="1200">
                <a:solidFill>
                  <a:srgbClr val="3F4650"/>
                </a:solidFill>
              </a:defRPr>
            </a:pPr>
            <a:endParaRPr lang="en-US"/>
          </a:p>
        </c:txPr>
        <c:crossAx val="-2129643912"/>
        <c:crosses val="autoZero"/>
        <c:crossBetween val="midCat"/>
        <c:majorUnit val="5"/>
      </c:valAx>
      <c:valAx>
        <c:axId val="-2129643912"/>
        <c:scaling>
          <c:orientation val="minMax"/>
          <c:max val="120"/>
          <c:min val="-40"/>
        </c:scaling>
        <c:delete val="0"/>
        <c:axPos val="l"/>
        <c:majorGridlines>
          <c:spPr>
            <a:ln>
              <a:solidFill>
                <a:srgbClr val="C9D3DD"/>
              </a:solidFill>
            </a:ln>
          </c:spPr>
        </c:majorGridlines>
        <c:title>
          <c:tx>
            <c:rich>
              <a:bodyPr/>
              <a:lstStyle/>
              <a:p>
                <a:r>
                  <a:rPr lang="en-AU" sz="1400" b="0">
                    <a:solidFill>
                      <a:srgbClr val="3F4650"/>
                    </a:solidFill>
                  </a:rPr>
                  <a:t>Thermal power (kW)</a:t>
                </a:r>
              </a:p>
            </c:rich>
          </c:tx>
          <c:overlay val="0"/>
        </c:title>
        <c:numFmt formatCode="General" sourceLinked="1"/>
        <c:majorTickMark val="out"/>
        <c:minorTickMark val="none"/>
        <c:tickLblPos val="nextTo"/>
        <c:spPr>
          <a:ln>
            <a:solidFill>
              <a:srgbClr val="8A929B"/>
            </a:solidFill>
          </a:ln>
        </c:spPr>
        <c:txPr>
          <a:bodyPr/>
          <a:lstStyle/>
          <a:p>
            <a:pPr>
              <a:defRPr sz="1200">
                <a:solidFill>
                  <a:srgbClr val="3F4650"/>
                </a:solidFill>
              </a:defRPr>
            </a:pPr>
            <a:endParaRPr lang="en-US"/>
          </a:p>
        </c:txPr>
        <c:crossAx val="-2128940872"/>
        <c:crosses val="autoZero"/>
        <c:crossBetween val="midCat"/>
        <c:majorUnit val="20"/>
      </c:valAx>
    </c:plotArea>
    <c:legend>
      <c:legendPos val="b"/>
      <c:overlay val="0"/>
    </c:legend>
    <c:plotVisOnly val="1"/>
    <c:dispBlanksAs val="gap"/>
    <c:showDLblsOverMax val="0"/>
  </c:chart>
  <c:txPr>
    <a:bodyPr/>
    <a:lstStyle/>
    <a:p>
      <a:pPr>
        <a:defRPr sz="14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overlay val="0"/>
    </c:title>
    <c:autoTitleDeleted val="0"/>
    <c:plotArea>
      <c:layout/>
      <c:barChart>
        <c:barDir val="bar"/>
        <c:grouping val="clustered"/>
        <c:varyColors val="1"/>
        <c:ser>
          <c:idx val="0"/>
          <c:order val="0"/>
          <c:tx>
            <c:strRef>
              <c:f>Sheet1!$B$1</c:f>
              <c:strCache>
                <c:ptCount val="1"/>
                <c:pt idx="0">
                  <c:v>Normalised sensitivity S</c:v>
                </c:pt>
              </c:strCache>
            </c:strRef>
          </c:tx>
          <c:spPr>
            <a:solidFill>
              <a:srgbClr val="1F6FB2"/>
            </a:solidFill>
          </c:spPr>
          <c:invertIfNegative val="1"/>
          <c:dLbls>
            <c:numFmt formatCode="0.000" sourceLinked="0"/>
            <c:spPr>
              <a:noFill/>
              <a:ln>
                <a:noFill/>
              </a:ln>
              <a:effectLst/>
            </c:spPr>
            <c:txPr>
              <a:bodyPr/>
              <a:lstStyle/>
              <a:p>
                <a:pPr>
                  <a:defRPr sz="1400">
                    <a:solidFill>
                      <a:srgbClr val="1F2328"/>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Envelope coefficient</c:v>
                </c:pt>
                <c:pt idx="1">
                  <c:v>Air–floor coefficient</c:v>
                </c:pt>
                <c:pt idx="2">
                  <c:v>Interzone coefficient</c:v>
                </c:pt>
                <c:pt idx="3">
                  <c:v>Floor temperature</c:v>
                </c:pt>
                <c:pt idx="4">
                  <c:v>Upper-air temperature</c:v>
                </c:pt>
                <c:pt idx="5">
                  <c:v>Air–ice coefficient</c:v>
                </c:pt>
              </c:strCache>
            </c:strRef>
          </c:cat>
          <c:val>
            <c:numRef>
              <c:f>Sheet1!$B$2:$B$7</c:f>
              <c:numCache>
                <c:formatCode>General</c:formatCode>
                <c:ptCount val="6"/>
                <c:pt idx="0">
                  <c:v>0</c:v>
                </c:pt>
                <c:pt idx="1">
                  <c:v>0.107</c:v>
                </c:pt>
                <c:pt idx="2">
                  <c:v>0.122</c:v>
                </c:pt>
                <c:pt idx="3">
                  <c:v>0.46800000000000003</c:v>
                </c:pt>
                <c:pt idx="4">
                  <c:v>0.53200000000000003</c:v>
                </c:pt>
                <c:pt idx="5">
                  <c:v>0.76800000000000002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FDB-432E-A313-3DD3A6A67B08}"/>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8A929B"/>
            </a:solidFill>
          </a:ln>
        </c:spPr>
        <c:txPr>
          <a:bodyPr/>
          <a:lstStyle/>
          <a:p>
            <a:pPr>
              <a:defRPr sz="1400">
                <a:solidFill>
                  <a:srgbClr val="1F2328"/>
                </a:solidFill>
              </a:defRPr>
            </a:pPr>
            <a:endParaRPr lang="en-US"/>
          </a:p>
        </c:txPr>
        <c:crossAx val="-2113994440"/>
        <c:crosses val="autoZero"/>
        <c:auto val="1"/>
        <c:lblAlgn val="ctr"/>
        <c:lblOffset val="100"/>
        <c:noMultiLvlLbl val="0"/>
      </c:catAx>
      <c:valAx>
        <c:axId val="-2113994440"/>
        <c:scaling>
          <c:orientation val="minMax"/>
          <c:max val="0.9"/>
          <c:min val="0"/>
        </c:scaling>
        <c:delete val="0"/>
        <c:axPos val="b"/>
        <c:majorGridlines>
          <c:spPr>
            <a:ln>
              <a:solidFill>
                <a:srgbClr val="C9D3DD"/>
              </a:solidFill>
            </a:ln>
          </c:spPr>
        </c:majorGridlines>
        <c:title>
          <c:tx>
            <c:rich>
              <a:bodyPr/>
              <a:lstStyle/>
              <a:p>
                <a:r>
                  <a:rPr lang="en-US" sz="1400" b="0">
                    <a:solidFill>
                      <a:srgbClr val="3F4650"/>
                    </a:solidFill>
                  </a:rPr>
                  <a:t>Normalised sensitivity S of the ice cooling power</a:t>
                </a:r>
              </a:p>
            </c:rich>
          </c:tx>
          <c:overlay val="0"/>
        </c:title>
        <c:numFmt formatCode="0.0" sourceLinked="0"/>
        <c:majorTickMark val="out"/>
        <c:minorTickMark val="none"/>
        <c:tickLblPos val="nextTo"/>
        <c:spPr>
          <a:ln>
            <a:solidFill>
              <a:srgbClr val="8A929B"/>
            </a:solidFill>
          </a:ln>
        </c:spPr>
        <c:txPr>
          <a:bodyPr/>
          <a:lstStyle/>
          <a:p>
            <a:pPr>
              <a:defRPr sz="1400">
                <a:solidFill>
                  <a:srgbClr val="1F2328"/>
                </a:solidFill>
              </a:defRPr>
            </a:pPr>
            <a:endParaRPr lang="en-US"/>
          </a:p>
        </c:txPr>
        <c:crossAx val="-2068027336"/>
        <c:crosses val="autoZero"/>
        <c:crossBetween val="between"/>
        <c:majorUnit val="0.2"/>
      </c:valAx>
    </c:plotArea>
    <c:plotVisOnly val="1"/>
    <c:dispBlanksAs val="gap"/>
    <c:showDLblsOverMax val="1"/>
  </c:chart>
  <c:txPr>
    <a:bodyPr/>
    <a:lstStyle/>
    <a:p>
      <a:pPr>
        <a:defRPr sz="14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BCF87B-8630-4762-9302-72D66F8757B1}" type="datetimeFigureOut">
              <a:rPr lang="en-AU" smtClean="0"/>
              <a:t>22/10/2026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1DCA5C-0F11-47AF-B338-46D129E3C9E2}" type="slidenum">
              <a:rPr lang="en-AU" smtClean="0"/>
              <a:t>‹#›</a:t>
            </a:fld>
            <a:endParaRPr lang="en-AU"/>
          </a:p>
        </p:txBody>
      </p:sp>
    </p:spTree>
    <p:extLst>
      <p:ext uri="{BB962C8B-B14F-4D97-AF65-F5344CB8AC3E}">
        <p14:creationId xmlns:p14="http://schemas.microsoft.com/office/powerpoint/2010/main" val="3506339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doi.org/10.1080/17512549.2019.1615549"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s://www.diva-portal.org/smash/get/diva2:542333/FULLTEXT01.pdf"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1DCA5C-0F11-47AF-B338-46D129E3C9E2}" type="slidenum">
              <a:rPr lang="en-AU" smtClean="0"/>
              <a:t>1</a:t>
            </a:fld>
            <a:endParaRPr lang="en-AU"/>
          </a:p>
        </p:txBody>
      </p:sp>
    </p:spTree>
    <p:extLst>
      <p:ext uri="{BB962C8B-B14F-4D97-AF65-F5344CB8AC3E}">
        <p14:creationId xmlns:p14="http://schemas.microsoft.com/office/powerpoint/2010/main" val="315445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Indoor ice rinks are an unusual engineering problem: the ice must be kept below freezing, while the air above it must be comfortable enough for skaters. The building is effectively being heated and refrigerated at the same time. Any heat applied to the upper zone of the rink doesn’t stay there; it transfers down towards the cold zone, and the refrigeration system has to remove it. So, the refrigeration and heating systems are linked; the more heat we apply to the upper zone, the harder the refrigeration in the lower zone has to work. </a:t>
            </a:r>
          </a:p>
          <a:p>
            <a:endParaRPr lang="en-US"/>
          </a:p>
          <a:p>
            <a:r>
              <a:rPr lang="en-US"/>
              <a:t>For our project, we modelled the thermal energy consumption of a hypothetical ice rink in Perth. For our scope, we’re looking at the heating/cooling thermal energy that needs to be applied/removed, not the electricity the plant equipment draws.</a:t>
            </a:r>
          </a:p>
          <a:p>
            <a:r>
              <a:rPr lang="en-US"/>
              <a:t>We used a lumped, two-zone, steady—state model with an Upper comfort zone (input of 10 degrees Celsius), a lower zone that is in-between the upper zone and ice surface (output calculated from model) the the Ice surface itself (input of-4 degree’s Celsius ), From this we can calculate the thermal power and thermal energy that the heating and refrigeration systems need to handle.</a:t>
            </a:r>
          </a:p>
          <a:p>
            <a:endParaRPr lang="en-US"/>
          </a:p>
          <a:p>
            <a:r>
              <a:rPr lang="en-US"/>
              <a:t>Rinks are energy-intensive buildings; a simple model is useful for estimating thermal load requirements for plant equipment and for comparing designs to assess efficiency and identify which parameters matter most. </a:t>
            </a:r>
          </a:p>
          <a:p>
            <a:endParaRPr lang="en-US"/>
          </a:p>
        </p:txBody>
      </p:sp>
      <p:sp>
        <p:nvSpPr>
          <p:cNvPr id="4" name="Slide Number Placeholder 3"/>
          <p:cNvSpPr>
            <a:spLocks noGrp="1"/>
          </p:cNvSpPr>
          <p:nvPr>
            <p:ph type="sldNum" sz="quarter" idx="5"/>
          </p:nvPr>
        </p:nvSpPr>
        <p:spPr/>
        <p:txBody>
          <a:bodyPr/>
          <a:lstStyle/>
          <a:p>
            <a:fld id="{F31DCA5C-0F11-47AF-B338-46D129E3C9E2}" type="slidenum">
              <a:rPr lang="en-AU" smtClean="0"/>
              <a:t>3</a:t>
            </a:fld>
            <a:endParaRPr lang="en-AU"/>
          </a:p>
        </p:txBody>
      </p:sp>
    </p:spTree>
    <p:extLst>
      <p:ext uri="{BB962C8B-B14F-4D97-AF65-F5344CB8AC3E}">
        <p14:creationId xmlns:p14="http://schemas.microsoft.com/office/powerpoint/2010/main" val="22763236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F31DCA5C-0F11-47AF-B338-46D129E3C9E2}" type="slidenum">
              <a:rPr lang="en-AU" smtClean="0"/>
              <a:t>4</a:t>
            </a:fld>
            <a:endParaRPr lang="en-AU"/>
          </a:p>
        </p:txBody>
      </p:sp>
    </p:spTree>
    <p:extLst>
      <p:ext uri="{BB962C8B-B14F-4D97-AF65-F5344CB8AC3E}">
        <p14:creationId xmlns:p14="http://schemas.microsoft.com/office/powerpoint/2010/main" val="571222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Air temperature is uniform within each zone; the ice temperature is also uniform. This is the standard lumped simplification, splitting the zones into two zones captures the main difference between the cold air and the ice and the upper comfort zone above and ignores variations of temperatures within those zones. </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System is steady state, each zone’s temperature doesn’t change with time. The thermal plants hold these temperatures as set points, and once reached, the temperature stops changing. This ignores the startup required to bring the building to the ideal temperature before opening to the public and the daily variation in operating hours. </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There are no occupants, humidity effects or radiative exchange and no heat sources other than the upper zones reverse cycle unit and the outdoor environment through the building envelope; these are left out to keep the model manageable for this project. Because this was neglected, we would assume it adds load, which means our results are a lower bound on what they would be in reality. </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The building is a closed system. Air circulates between the two zones but is not influenced by outside air. A real ice rink would bring in outside air, which would need to be cooled or heated and would also add to the additional load.</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The lower zone we have assumed to have no direct connection to the outdoors, as its walls are roughly 4% of the total envelope area and are neglected, which changed the loads by about 1kW or less.</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The upper zone thermal plant is a reverse-cycle air conditioner that can heat or cool; its power can be positive(heats) and negative (cools). This allows the reverse-cycle unit to maintain the comfort set point in both hot and cool weather. Both the reverse-cycle and the refrigeration unit are described in terms of thermal power only, so no thermal plant efficiency is introduced, and the results are thermal loads rather than electrical consumption.</a:t>
            </a:r>
          </a:p>
        </p:txBody>
      </p:sp>
      <p:sp>
        <p:nvSpPr>
          <p:cNvPr id="4" name="Slide Number Placeholder 3"/>
          <p:cNvSpPr>
            <a:spLocks noGrp="1"/>
          </p:cNvSpPr>
          <p:nvPr>
            <p:ph type="sldNum" sz="quarter" idx="5"/>
          </p:nvPr>
        </p:nvSpPr>
        <p:spPr/>
        <p:txBody>
          <a:bodyPr/>
          <a:lstStyle/>
          <a:p>
            <a:fld id="{F31DCA5C-0F11-47AF-B338-46D129E3C9E2}" type="slidenum">
              <a:rPr lang="en-AU" smtClean="0"/>
              <a:t>5</a:t>
            </a:fld>
            <a:endParaRPr lang="en-AU"/>
          </a:p>
        </p:txBody>
      </p:sp>
    </p:spTree>
    <p:extLst>
      <p:ext uri="{BB962C8B-B14F-4D97-AF65-F5344CB8AC3E}">
        <p14:creationId xmlns:p14="http://schemas.microsoft.com/office/powerpoint/2010/main" val="2235251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AU"/>
                  <a:t>In </a:t>
                </a:r>
                <a:r>
                  <a:rPr lang="en-US"/>
                  <a:t>developing our model, we considered the temperature and area of each zone/surface in</a:t>
                </a:r>
                <a:r>
                  <a:rPr lang="en-AU"/>
                  <a:t> our system: Upper Zone, Lower Zone, Envelope/Environment, Ice Floor, and Concrete Flooring. </a:t>
                </a:r>
              </a:p>
              <a:p>
                <a:endParaRPr lang="en-AU"/>
              </a:p>
              <a:p>
                <a:r>
                  <a:rPr lang="en-AU"/>
                  <a:t>We also defined the heat transfer coefficients between each neighbouring zone/surface, the required heating of the upper thermal plant, the cooling thermal plant below the ice and the total thermal requirement of both.</a:t>
                </a:r>
              </a:p>
              <a:p>
                <a:endParaRPr lang="en-AU"/>
              </a:p>
              <a:p>
                <a:pPr marL="0" marR="0" lvl="0" indent="0" algn="l" defTabSz="914400" rtl="0" eaLnBrk="1" fontAlgn="auto" latinLnBrk="0" hangingPunct="1">
                  <a:lnSpc>
                    <a:spcPct val="100000"/>
                  </a:lnSpc>
                  <a:spcBef>
                    <a:spcPts val="0"/>
                  </a:spcBef>
                  <a:spcAft>
                    <a:spcPts val="0"/>
                  </a:spcAft>
                  <a:buClrTx/>
                  <a:buSzTx/>
                  <a:buFontTx/>
                  <a:buNone/>
                  <a:tabLst/>
                  <a:defRPr/>
                </a:pPr>
                <a:r>
                  <a:rPr lang="en-AU"/>
                  <a:t>Our main governing equations are </a:t>
                </a:r>
                <a14:m>
                  <m:oMath xmlns:m="http://schemas.openxmlformats.org/officeDocument/2006/math">
                    <m:r>
                      <a:rPr lang="en-AU" b="0" i="1" smtClean="0">
                        <a:latin typeface="Cambria Math" panose="02040503050406030204" pitchFamily="18" charset="0"/>
                      </a:rPr>
                      <m:t>𝑚</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𝑐</m:t>
                        </m:r>
                      </m:e>
                      <m:sub>
                        <m:r>
                          <a:rPr lang="en-AU" b="0" i="1" smtClean="0">
                            <a:latin typeface="Cambria Math" panose="02040503050406030204" pitchFamily="18" charset="0"/>
                          </a:rPr>
                          <m:t>𝑝</m:t>
                        </m:r>
                      </m:sub>
                    </m:sSub>
                    <m:f>
                      <m:fPr>
                        <m:ctrlPr>
                          <a:rPr lang="en-AU" b="0" i="1" smtClean="0">
                            <a:latin typeface="Cambria Math" panose="02040503050406030204" pitchFamily="18" charset="0"/>
                          </a:rPr>
                        </m:ctrlPr>
                      </m:fPr>
                      <m:num>
                        <m:r>
                          <a:rPr lang="en-AU" b="0" i="1" smtClean="0">
                            <a:latin typeface="Cambria Math" panose="02040503050406030204" pitchFamily="18" charset="0"/>
                          </a:rPr>
                          <m:t>𝑑𝑇</m:t>
                        </m:r>
                      </m:num>
                      <m:den>
                        <m:r>
                          <a:rPr lang="en-AU" b="0" i="1" smtClean="0">
                            <a:latin typeface="Cambria Math" panose="02040503050406030204" pitchFamily="18" charset="0"/>
                          </a:rPr>
                          <m:t>𝑑𝑡</m:t>
                        </m:r>
                      </m:den>
                    </m:f>
                    <m:r>
                      <a:rPr lang="en-AU" b="0" i="1" smtClean="0">
                        <a:latin typeface="Cambria Math" panose="02040503050406030204" pitchFamily="18" charset="0"/>
                      </a:rPr>
                      <m:t>=</m:t>
                    </m:r>
                    <m:nary>
                      <m:naryPr>
                        <m:chr m:val="∑"/>
                        <m:subHide m:val="on"/>
                        <m:supHide m:val="on"/>
                        <m:ctrlPr>
                          <a:rPr lang="en-AU" b="0" i="1" smtClean="0">
                            <a:latin typeface="Cambria Math" panose="02040503050406030204" pitchFamily="18" charset="0"/>
                          </a:rPr>
                        </m:ctrlPr>
                      </m:naryPr>
                      <m:sub/>
                      <m:sup/>
                      <m:e>
                        <m:acc>
                          <m:accPr>
                            <m:chr m:val="̇"/>
                            <m:ctrlPr>
                              <a:rPr lang="en-AU" b="0" i="1" smtClean="0">
                                <a:latin typeface="Cambria Math" panose="02040503050406030204" pitchFamily="18" charset="0"/>
                              </a:rPr>
                            </m:ctrlPr>
                          </m:accPr>
                          <m:e>
                            <m:r>
                              <a:rPr lang="en-AU" b="0" i="1" smtClean="0">
                                <a:latin typeface="Cambria Math" panose="02040503050406030204" pitchFamily="18" charset="0"/>
                              </a:rPr>
                              <m:t>𝑄</m:t>
                            </m:r>
                          </m:e>
                        </m:acc>
                      </m:e>
                    </m:nary>
                  </m:oMath>
                </a14:m>
                <a:r>
                  <a:rPr lang="en-AU"/>
                  <a:t> and </a:t>
                </a:r>
                <a14:m>
                  <m:oMath xmlns:m="http://schemas.openxmlformats.org/officeDocument/2006/math">
                    <m:acc>
                      <m:accPr>
                        <m:chr m:val="̇"/>
                        <m:ctrlPr>
                          <a:rPr lang="en-AU" b="0" i="1" smtClean="0">
                            <a:latin typeface="Cambria Math" panose="02040503050406030204" pitchFamily="18" charset="0"/>
                          </a:rPr>
                        </m:ctrlPr>
                      </m:accPr>
                      <m:e>
                        <m:r>
                          <a:rPr lang="en-AU" b="0" i="1" smtClean="0">
                            <a:latin typeface="Cambria Math" panose="02040503050406030204" pitchFamily="18" charset="0"/>
                          </a:rPr>
                          <m:t>𝑄</m:t>
                        </m:r>
                      </m:e>
                    </m:acc>
                    <m:r>
                      <a:rPr lang="en-AU" b="0" i="1" smtClean="0">
                        <a:latin typeface="Cambria Math" panose="02040503050406030204" pitchFamily="18" charset="0"/>
                      </a:rPr>
                      <m:t>=</m:t>
                    </m:r>
                    <m:r>
                      <a:rPr lang="en-AU" b="0" i="1" smtClean="0">
                        <a:latin typeface="Cambria Math" panose="02040503050406030204" pitchFamily="18" charset="0"/>
                      </a:rPr>
                      <m:t>𝑈𝐴</m:t>
                    </m:r>
                    <m:r>
                      <m:rPr>
                        <m:sty m:val="p"/>
                      </m:rPr>
                      <a:rPr lang="en-AU" b="0" i="0" smtClean="0">
                        <a:latin typeface="Cambria Math" panose="02040503050406030204" pitchFamily="18" charset="0"/>
                      </a:rPr>
                      <m:t>Δ</m:t>
                    </m:r>
                    <m:r>
                      <a:rPr lang="en-AU" b="0" i="1" smtClean="0">
                        <a:latin typeface="Cambria Math" panose="02040503050406030204" pitchFamily="18" charset="0"/>
                      </a:rPr>
                      <m:t>𝑇</m:t>
                    </m:r>
                    <m:r>
                      <a:rPr lang="en-AU" b="0" i="0" smtClean="0">
                        <a:latin typeface="Cambria Math" panose="02040503050406030204" pitchFamily="18" charset="0"/>
                      </a:rPr>
                      <m:t>.</m:t>
                    </m:r>
                  </m:oMath>
                </a14:m>
                <a:r>
                  <a:rPr lang="en-AU" b="0"/>
                  <a:t> As we assume our model</a:t>
                </a:r>
                <a:r>
                  <a:rPr lang="en-AU" b="0" baseline="0"/>
                  <a:t> to be at steady state </a:t>
                </a:r>
                <a14:m>
                  <m:oMath xmlns:m="http://schemas.openxmlformats.org/officeDocument/2006/math">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𝑑𝑇</m:t>
                        </m:r>
                      </m:num>
                      <m:den>
                        <m:r>
                          <a:rPr lang="en-AU" b="0" i="1" smtClean="0">
                            <a:latin typeface="Cambria Math" panose="02040503050406030204" pitchFamily="18" charset="0"/>
                            <a:ea typeface="Cambria Math" panose="02040503050406030204" pitchFamily="18" charset="0"/>
                          </a:rPr>
                          <m:t>𝑑𝑡</m:t>
                        </m:r>
                      </m:den>
                    </m:f>
                    <m:r>
                      <a:rPr lang="en-AU" b="0" i="1" smtClean="0">
                        <a:latin typeface="Cambria Math" panose="02040503050406030204" pitchFamily="18" charset="0"/>
                        <a:ea typeface="Cambria Math" panose="02040503050406030204" pitchFamily="18" charset="0"/>
                      </a:rPr>
                      <m:t>=0</m:t>
                    </m:r>
                  </m:oMath>
                </a14:m>
                <a:r>
                  <a:rPr lang="en-AU" b="0"/>
                  <a:t> therefore</a:t>
                </a:r>
                <a:r>
                  <a:rPr lang="en-AU" b="0" baseline="0"/>
                  <a:t> the accumulation of all our thermal energy elements must be 0.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b="0" baseline="0"/>
              </a:p>
              <a:p>
                <a:pPr marL="0" marR="0" lvl="0" indent="0" algn="l" defTabSz="914400" rtl="0" eaLnBrk="1" fontAlgn="auto" latinLnBrk="0" hangingPunct="1">
                  <a:lnSpc>
                    <a:spcPct val="100000"/>
                  </a:lnSpc>
                  <a:spcBef>
                    <a:spcPts val="0"/>
                  </a:spcBef>
                  <a:spcAft>
                    <a:spcPts val="0"/>
                  </a:spcAft>
                  <a:buClrTx/>
                  <a:buSzTx/>
                  <a:buFontTx/>
                  <a:buNone/>
                  <a:tabLst/>
                  <a:defRPr/>
                </a:pPr>
                <a:r>
                  <a:rPr lang="en-AU" b="0" baseline="0"/>
                  <a:t>The following equations here are applications of this to determine T_L, Q_C and Q_U, with the two Q values using the T_L value calculated first</a:t>
                </a:r>
                <a:endParaRPr lang="en-AU" b="0"/>
              </a:p>
            </p:txBody>
          </p:sp>
        </mc:Choice>
        <mc:Fallback>
          <p:sp>
            <p:nvSpPr>
              <p:cNvPr id="3" name="Notes Placeholder 2"/>
              <p:cNvSpPr>
                <a:spLocks noGrp="1"/>
              </p:cNvSpPr>
              <p:nvPr>
                <p:ph type="body" idx="1"/>
              </p:nvPr>
            </p:nvSpPr>
            <p:spPr/>
            <p:txBody>
              <a:bodyPr/>
              <a:lstStyle/>
              <a:p>
                <a:r>
                  <a:rPr lang="en-AU"/>
                  <a:t>In </a:t>
                </a:r>
                <a:r>
                  <a:rPr lang="en-US"/>
                  <a:t>developing our model, we considered the temperature and area of each zone/surface in</a:t>
                </a:r>
                <a:r>
                  <a:rPr lang="en-AU"/>
                  <a:t> our system: Upper Zone, Lower Zone, Envelope/Environment, Ice Floor, and Concrete Flooring. </a:t>
                </a:r>
              </a:p>
              <a:p>
                <a:endParaRPr lang="en-AU"/>
              </a:p>
              <a:p>
                <a:r>
                  <a:rPr lang="en-AU"/>
                  <a:t>We also defined the heat transfer coefficients between each neighbouring zone/surface, the required heating of the upper thermal plant, the cooling thermal plant below the ice and the total thermal requirement of both.</a:t>
                </a:r>
              </a:p>
              <a:p>
                <a:endParaRPr lang="en-AU"/>
              </a:p>
              <a:p>
                <a:pPr marL="0" marR="0" lvl="0" indent="0" algn="l" defTabSz="914400" rtl="0" eaLnBrk="1" fontAlgn="auto" latinLnBrk="0" hangingPunct="1">
                  <a:lnSpc>
                    <a:spcPct val="100000"/>
                  </a:lnSpc>
                  <a:spcBef>
                    <a:spcPts val="0"/>
                  </a:spcBef>
                  <a:spcAft>
                    <a:spcPts val="0"/>
                  </a:spcAft>
                  <a:buClrTx/>
                  <a:buSzTx/>
                  <a:buFontTx/>
                  <a:buNone/>
                  <a:tabLst/>
                  <a:defRPr/>
                </a:pPr>
                <a:r>
                  <a:rPr lang="en-AU"/>
                  <a:t>Our main governing equations are </a:t>
                </a:r>
                <a:r>
                  <a:rPr lang="en-AU" b="0" i="0">
                    <a:latin typeface="Cambria Math" panose="02040503050406030204" pitchFamily="18" charset="0"/>
                  </a:rPr>
                  <a:t>𝑚𝑐_𝑝  𝑑𝑇/𝑑𝑡=∑▒𝑄 ̇ </a:t>
                </a:r>
                <a:r>
                  <a:rPr lang="en-AU"/>
                  <a:t> and </a:t>
                </a:r>
                <a:r>
                  <a:rPr lang="en-AU" b="0" i="0">
                    <a:latin typeface="Cambria Math" panose="02040503050406030204" pitchFamily="18" charset="0"/>
                  </a:rPr>
                  <a:t>𝑄 ̇=𝑈𝐴Δ𝑇.</a:t>
                </a:r>
                <a:r>
                  <a:rPr lang="en-AU" b="0"/>
                  <a:t> As we assume our model</a:t>
                </a:r>
                <a:r>
                  <a:rPr lang="en-AU" b="0" baseline="0"/>
                  <a:t> to be at steady state </a:t>
                </a:r>
                <a:r>
                  <a:rPr lang="en-AU" b="0" i="0">
                    <a:latin typeface="Cambria Math" panose="02040503050406030204" pitchFamily="18" charset="0"/>
                    <a:ea typeface="Cambria Math" panose="02040503050406030204" pitchFamily="18" charset="0"/>
                  </a:rPr>
                  <a:t>𝑑𝑇/𝑑𝑡=0</a:t>
                </a:r>
                <a:r>
                  <a:rPr lang="en-AU" b="0"/>
                  <a:t> therefore</a:t>
                </a:r>
                <a:r>
                  <a:rPr lang="en-AU" b="0" baseline="0"/>
                  <a:t> the accumulation of all our thermal energy elements must be 0.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b="0" baseline="0"/>
              </a:p>
              <a:p>
                <a:pPr marL="0" marR="0" lvl="0" indent="0" algn="l" defTabSz="914400" rtl="0" eaLnBrk="1" fontAlgn="auto" latinLnBrk="0" hangingPunct="1">
                  <a:lnSpc>
                    <a:spcPct val="100000"/>
                  </a:lnSpc>
                  <a:spcBef>
                    <a:spcPts val="0"/>
                  </a:spcBef>
                  <a:spcAft>
                    <a:spcPts val="0"/>
                  </a:spcAft>
                  <a:buClrTx/>
                  <a:buSzTx/>
                  <a:buFontTx/>
                  <a:buNone/>
                  <a:tabLst/>
                  <a:defRPr/>
                </a:pPr>
                <a:r>
                  <a:rPr lang="en-AU" b="0" baseline="0"/>
                  <a:t>The following equations here are applications of this to determine T_L, Q_C and Q_U, with the two Q values using the T_L value calculated first</a:t>
                </a:r>
                <a:endParaRPr lang="en-AU" b="0"/>
              </a:p>
            </p:txBody>
          </p:sp>
        </mc:Fallback>
      </mc:AlternateContent>
      <p:sp>
        <p:nvSpPr>
          <p:cNvPr id="4" name="Slide Number Placeholder 3"/>
          <p:cNvSpPr>
            <a:spLocks noGrp="1"/>
          </p:cNvSpPr>
          <p:nvPr>
            <p:ph type="sldNum" sz="quarter" idx="5"/>
          </p:nvPr>
        </p:nvSpPr>
        <p:spPr/>
        <p:txBody>
          <a:bodyPr/>
          <a:lstStyle/>
          <a:p>
            <a:fld id="{F31DCA5C-0F11-47AF-B338-46D129E3C9E2}" type="slidenum">
              <a:rPr lang="en-AU" smtClean="0"/>
              <a:t>6</a:t>
            </a:fld>
            <a:endParaRPr lang="en-AU"/>
          </a:p>
        </p:txBody>
      </p:sp>
    </p:spTree>
    <p:extLst>
      <p:ext uri="{BB962C8B-B14F-4D97-AF65-F5344CB8AC3E}">
        <p14:creationId xmlns:p14="http://schemas.microsoft.com/office/powerpoint/2010/main" val="40931644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Thank you. You have seen the model; I will now show how we solved it and what it predicts, starting with the inputs. On the left is the geometry: 1800 square </a:t>
            </a:r>
            <a:r>
              <a:rPr lang="en-US" sz="1200" kern="1200" err="1">
                <a:solidFill>
                  <a:schemeClr val="tx1"/>
                </a:solidFill>
                <a:effectLst/>
                <a:latin typeface="+mn-lt"/>
                <a:ea typeface="+mn-ea"/>
                <a:cs typeface="+mn-cs"/>
              </a:rPr>
              <a:t>metres</a:t>
            </a:r>
            <a:r>
              <a:rPr lang="en-US" sz="1200" kern="1200">
                <a:solidFill>
                  <a:schemeClr val="tx1"/>
                </a:solidFill>
                <a:effectLst/>
                <a:latin typeface="+mn-lt"/>
                <a:ea typeface="+mn-ea"/>
                <a:cs typeface="+mn-cs"/>
              </a:rPr>
              <a:t> of ice, 2200 of concrete floor around it, a 4000 square </a:t>
            </a:r>
            <a:r>
              <a:rPr lang="en-US" sz="1200" kern="1200" err="1">
                <a:solidFill>
                  <a:schemeClr val="tx1"/>
                </a:solidFill>
                <a:effectLst/>
                <a:latin typeface="+mn-lt"/>
                <a:ea typeface="+mn-ea"/>
                <a:cs typeface="+mn-cs"/>
              </a:rPr>
              <a:t>metre</a:t>
            </a:r>
            <a:r>
              <a:rPr lang="en-US" sz="1200" kern="1200">
                <a:solidFill>
                  <a:schemeClr val="tx1"/>
                </a:solidFill>
                <a:effectLst/>
                <a:latin typeface="+mn-lt"/>
                <a:ea typeface="+mn-ea"/>
                <a:cs typeface="+mn-cs"/>
              </a:rPr>
              <a:t> interface between the two zones, and 6340 square </a:t>
            </a:r>
            <a:r>
              <a:rPr lang="en-US" sz="1200" kern="1200" err="1">
                <a:solidFill>
                  <a:schemeClr val="tx1"/>
                </a:solidFill>
                <a:effectLst/>
                <a:latin typeface="+mn-lt"/>
                <a:ea typeface="+mn-ea"/>
                <a:cs typeface="+mn-cs"/>
              </a:rPr>
              <a:t>metres</a:t>
            </a:r>
            <a:r>
              <a:rPr lang="en-US" sz="1200" kern="1200">
                <a:solidFill>
                  <a:schemeClr val="tx1"/>
                </a:solidFill>
                <a:effectLst/>
                <a:latin typeface="+mn-lt"/>
                <a:ea typeface="+mn-ea"/>
                <a:cs typeface="+mn-cs"/>
              </a:rPr>
              <a:t> of envelope. That is the roof plus the upper-zone walls only, which is the correction we made after the proposal. Then the temperatures: the upper-zone air at 10 degrees, the ice at minus 4, the floor at 10, which is assumed, and three outdoor conditions from the Bureau of Meteorology. On the right are the four heat-transfer coefficients with their sources and the ranges we use later. The interzone coefficient U-UL is an effective coefficient for air exchange across the boundary between the zones, not a property of a wall. Finally, the three unknowns: the lower-zone air temperature, the power of the upper-zone unit, and the ice cooling power.</a:t>
            </a:r>
            <a:endParaRPr lang="en-SG" sz="1200" kern="1200">
              <a:solidFill>
                <a:schemeClr val="tx1"/>
              </a:solidFill>
              <a:effectLst/>
              <a:latin typeface="+mn-lt"/>
              <a:ea typeface="+mn-ea"/>
              <a:cs typeface="+mn-cs"/>
            </a:endParaRPr>
          </a:p>
          <a:p>
            <a:endParaRPr lang="en-AU"/>
          </a:p>
        </p:txBody>
      </p:sp>
      <p:sp>
        <p:nvSpPr>
          <p:cNvPr id="4" name="Slide Number Placeholder 3"/>
          <p:cNvSpPr>
            <a:spLocks noGrp="1"/>
          </p:cNvSpPr>
          <p:nvPr>
            <p:ph type="sldNum" sz="quarter" idx="5"/>
          </p:nvPr>
        </p:nvSpPr>
        <p:spPr/>
        <p:txBody>
          <a:bodyPr/>
          <a:lstStyle/>
          <a:p>
            <a:fld id="{F31DCA5C-0F11-47AF-B338-46D129E3C9E2}" type="slidenum">
              <a:rPr lang="en-AU" smtClean="0"/>
              <a:t>7</a:t>
            </a:fld>
            <a:endParaRPr lang="en-AU"/>
          </a:p>
        </p:txBody>
      </p:sp>
    </p:spTree>
    <p:extLst>
      <p:ext uri="{BB962C8B-B14F-4D97-AF65-F5344CB8AC3E}">
        <p14:creationId xmlns:p14="http://schemas.microsoft.com/office/powerpoint/2010/main" val="2789061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Here is how we solved the model, in five steps. Step 1: at steady state the energy balances become three linear equations. Step 2: because the upper-zone temperature is a fixed set point, we can solve them one at a time. The lower-zone balance gives the lower-zone temperature, the ice balance gives the ice load, and the upper-zone balance gives the unit’s power. Written with temperature differences from the ice, equation 6 shows that the ice load depends only on theta-U and theta-F, so the outdoor temperature never reaches it. Equation 7 splits the unit’s power into heating and cooling, so they cannot cancel when we add up energy, and equation 8 turns power into energy. Step 3: we coded the closed form in a Python script, </a:t>
            </a:r>
            <a:r>
              <a:rPr lang="en-US" sz="1200" kern="1200" err="1">
                <a:solidFill>
                  <a:schemeClr val="tx1"/>
                </a:solidFill>
                <a:effectLst/>
                <a:latin typeface="+mn-lt"/>
                <a:ea typeface="+mn-ea"/>
                <a:cs typeface="+mn-cs"/>
              </a:rPr>
              <a:t>sens.py</a:t>
            </a:r>
            <a:r>
              <a:rPr lang="en-US" sz="1200" kern="1200">
                <a:solidFill>
                  <a:schemeClr val="tx1"/>
                </a:solidFill>
                <a:effectLst/>
                <a:latin typeface="+mn-lt"/>
                <a:ea typeface="+mn-ea"/>
                <a:cs typeface="+mn-cs"/>
              </a:rPr>
              <a:t>. Step 4: we verified it, because the Python results match independent hand and Excel calculations. Step 5: we used the code for the sensitivity analysis, which I will show next.</a:t>
            </a:r>
            <a:endParaRPr lang="en-SG" sz="1200"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5"/>
          </p:nvPr>
        </p:nvSpPr>
        <p:spPr/>
        <p:txBody>
          <a:bodyPr/>
          <a:lstStyle/>
          <a:p>
            <a:fld id="{F31DCA5C-0F11-47AF-B338-46D129E3C9E2}" type="slidenum">
              <a:rPr lang="en-AU" smtClean="0"/>
              <a:t>8</a:t>
            </a:fld>
            <a:endParaRPr lang="en-AU"/>
          </a:p>
        </p:txBody>
      </p:sp>
    </p:spTree>
    <p:extLst>
      <p:ext uri="{BB962C8B-B14F-4D97-AF65-F5344CB8AC3E}">
        <p14:creationId xmlns:p14="http://schemas.microsoft.com/office/powerpoint/2010/main" val="31426195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Here are the baseline results. The blue line is the ice cooling power: 97 kilowatts at every outdoor temperature, exactly as the closed form predicts, with the lower-zone air at 6.78 degrees in all three conditions. The orange line is the upper-zone unit. On a winter night it heats with 57 kilowatts and on a winter day with 28.8, and its power falls in a straight line as the outside warms, by 2.85 kilowatts per degree. It crosses zero at 28.1 degrees. Above that the unit has to cool, so on a 32-degree summer day it removes 11.5 kilowatts. Over one day the ice needs 97 kilowatts times 24 hours, which is 2328 kilowatt-hours. This answers Objective 3, and the daily energy feeds Objective 5. The practical point: a heating-only unit could not hold 10 degrees on a hot Perth day, so this rink needs a reverse-cycle unit.</a:t>
            </a:r>
            <a:endParaRPr lang="en-SG" sz="1200"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5"/>
          </p:nvPr>
        </p:nvSpPr>
        <p:spPr/>
        <p:txBody>
          <a:bodyPr/>
          <a:lstStyle/>
          <a:p>
            <a:fld id="{F31DCA5C-0F11-47AF-B338-46D129E3C9E2}" type="slidenum">
              <a:rPr lang="en-AU" smtClean="0"/>
              <a:t>9</a:t>
            </a:fld>
            <a:endParaRPr lang="en-AU"/>
          </a:p>
        </p:txBody>
      </p:sp>
    </p:spTree>
    <p:extLst>
      <p:ext uri="{BB962C8B-B14F-4D97-AF65-F5344CB8AC3E}">
        <p14:creationId xmlns:p14="http://schemas.microsoft.com/office/powerpoint/2010/main" val="7524788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To compare inputs with different units, we use a </a:t>
            </a:r>
            <a:r>
              <a:rPr lang="en-US" sz="1200" kern="1200" err="1">
                <a:solidFill>
                  <a:schemeClr val="tx1"/>
                </a:solidFill>
                <a:effectLst/>
                <a:latin typeface="+mn-lt"/>
                <a:ea typeface="+mn-ea"/>
                <a:cs typeface="+mn-cs"/>
              </a:rPr>
              <a:t>normalised</a:t>
            </a:r>
            <a:r>
              <a:rPr lang="en-US" sz="1200" kern="1200">
                <a:solidFill>
                  <a:schemeClr val="tx1"/>
                </a:solidFill>
                <a:effectLst/>
                <a:latin typeface="+mn-lt"/>
                <a:ea typeface="+mn-ea"/>
                <a:cs typeface="+mn-cs"/>
              </a:rPr>
              <a:t> sensitivity, the formula on the right: the percentage change in the ice load for a 1 percent change in one input. Temperatures enter as their difference from the ice, because the zero of the Celsius scale is arbitrary. The air–ice coefficient dominates: a 1 percent rise raises the ice load by 0.77 percent. The upper-air and floor temperature differences follow at 0.53 and 0.47. The interzone and floor coefficients matter little, and the envelope has no effect on the ice load at all. One input at a time, the floor temperature stands out: from 8 to 18 degrees, the ice load rises by a third and the upper unit switches from heating to cooling, even on a winter day. So, for Objective 4, better data for the air–ice coefficient and the floor temperature would improve our prediction the most.</a:t>
            </a:r>
            <a:endParaRPr lang="en-SG" sz="1200" kern="1200">
              <a:solidFill>
                <a:schemeClr val="tx1"/>
              </a:solidFill>
              <a:effectLst/>
              <a:latin typeface="+mn-lt"/>
              <a:ea typeface="+mn-ea"/>
              <a:cs typeface="+mn-cs"/>
            </a:endParaRPr>
          </a:p>
          <a:p>
            <a:endParaRPr lang="en-AU"/>
          </a:p>
        </p:txBody>
      </p:sp>
      <p:sp>
        <p:nvSpPr>
          <p:cNvPr id="4" name="Slide Number Placeholder 3"/>
          <p:cNvSpPr>
            <a:spLocks noGrp="1"/>
          </p:cNvSpPr>
          <p:nvPr>
            <p:ph type="sldNum" sz="quarter" idx="5"/>
          </p:nvPr>
        </p:nvSpPr>
        <p:spPr/>
        <p:txBody>
          <a:bodyPr/>
          <a:lstStyle/>
          <a:p>
            <a:fld id="{F31DCA5C-0F11-47AF-B338-46D129E3C9E2}" type="slidenum">
              <a:rPr lang="en-AU" smtClean="0"/>
              <a:t>10</a:t>
            </a:fld>
            <a:endParaRPr lang="en-AU"/>
          </a:p>
        </p:txBody>
      </p:sp>
    </p:spTree>
    <p:extLst>
      <p:ext uri="{BB962C8B-B14F-4D97-AF65-F5344CB8AC3E}">
        <p14:creationId xmlns:p14="http://schemas.microsoft.com/office/powerpoint/2010/main" val="19580378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a:solidFill>
                  <a:schemeClr val="tx1"/>
                </a:solidFill>
                <a:effectLst/>
                <a:latin typeface="+mn-lt"/>
                <a:ea typeface="+mn-ea"/>
                <a:cs typeface="+mn-cs"/>
              </a:rPr>
              <a:t>Ferrantelli, Andrea, Klaus Viljanen, and Jarek </a:t>
            </a:r>
            <a:r>
              <a:rPr lang="en-AU" sz="1200" b="0" i="0" kern="1200" err="1">
                <a:solidFill>
                  <a:schemeClr val="tx1"/>
                </a:solidFill>
                <a:effectLst/>
                <a:latin typeface="+mn-lt"/>
                <a:ea typeface="+mn-ea"/>
                <a:cs typeface="+mn-cs"/>
              </a:rPr>
              <a:t>Kurnitski</a:t>
            </a:r>
            <a:r>
              <a:rPr lang="en-AU" sz="1200" b="0" i="0" kern="1200">
                <a:solidFill>
                  <a:schemeClr val="tx1"/>
                </a:solidFill>
                <a:effectLst/>
                <a:latin typeface="+mn-lt"/>
                <a:ea typeface="+mn-ea"/>
                <a:cs typeface="+mn-cs"/>
              </a:rPr>
              <a:t>. 2021. "Energy Analysis in Ice Hockey Arenas and Analytical Formula for the Temperature Profile in the Ice Pad with Transient Boundary Conditions." Advances in Building Energy Research 15 (4): 499–522.  </a:t>
            </a:r>
            <a:br>
              <a:rPr lang="en-AU" sz="1200" b="0" i="0" kern="1200">
                <a:solidFill>
                  <a:schemeClr val="tx1"/>
                </a:solidFill>
                <a:effectLst/>
                <a:latin typeface="+mn-lt"/>
                <a:ea typeface="+mn-ea"/>
                <a:cs typeface="+mn-cs"/>
              </a:rPr>
            </a:br>
            <a:r>
              <a:rPr lang="en-AU" sz="1200" b="0" i="0" u="sng" strike="noStrike" kern="1200">
                <a:solidFill>
                  <a:schemeClr val="tx1"/>
                </a:solidFill>
                <a:effectLst/>
                <a:latin typeface="+mn-lt"/>
                <a:ea typeface="+mn-ea"/>
                <a:cs typeface="+mn-cs"/>
                <a:hlinkClick r:id="rId3"/>
              </a:rPr>
              <a:t>https://doi.org/10.1080/17512549.2019.1615549</a:t>
            </a:r>
            <a:r>
              <a:rPr lang="en-AU" sz="1200" b="0" i="0" kern="1200">
                <a:solidFill>
                  <a:schemeClr val="tx1"/>
                </a:solidFill>
                <a:effectLst/>
                <a:latin typeface="+mn-lt"/>
                <a:ea typeface="+mn-ea"/>
                <a:cs typeface="+mn-cs"/>
              </a:rPr>
              <a:t>.  </a:t>
            </a:r>
            <a:endParaRPr lang="en-AU"/>
          </a:p>
          <a:p>
            <a:endParaRPr lang="en-AU"/>
          </a:p>
          <a:p>
            <a:r>
              <a:rPr lang="en-AU" sz="1200" b="0" i="0" kern="1200" err="1">
                <a:solidFill>
                  <a:schemeClr val="tx1"/>
                </a:solidFill>
                <a:effectLst/>
                <a:latin typeface="+mn-lt"/>
                <a:ea typeface="+mn-ea"/>
                <a:cs typeface="+mn-cs"/>
              </a:rPr>
              <a:t>Karampour</a:t>
            </a:r>
            <a:r>
              <a:rPr lang="en-AU" sz="1200" b="0" i="0" kern="1200">
                <a:solidFill>
                  <a:schemeClr val="tx1"/>
                </a:solidFill>
                <a:effectLst/>
                <a:latin typeface="+mn-lt"/>
                <a:ea typeface="+mn-ea"/>
                <a:cs typeface="+mn-cs"/>
              </a:rPr>
              <a:t>, </a:t>
            </a:r>
            <a:r>
              <a:rPr lang="en-AU" sz="1200" b="0" i="0" kern="1200" err="1">
                <a:solidFill>
                  <a:schemeClr val="tx1"/>
                </a:solidFill>
                <a:effectLst/>
                <a:latin typeface="+mn-lt"/>
                <a:ea typeface="+mn-ea"/>
                <a:cs typeface="+mn-cs"/>
              </a:rPr>
              <a:t>Mazyar</a:t>
            </a:r>
            <a:r>
              <a:rPr lang="en-AU" sz="1200" b="0" i="0" kern="1200">
                <a:solidFill>
                  <a:schemeClr val="tx1"/>
                </a:solidFill>
                <a:effectLst/>
                <a:latin typeface="+mn-lt"/>
                <a:ea typeface="+mn-ea"/>
                <a:cs typeface="+mn-cs"/>
              </a:rPr>
              <a:t>, and Jörgen </a:t>
            </a:r>
            <a:r>
              <a:rPr lang="en-AU" sz="1200" b="0" i="0" kern="1200" err="1">
                <a:solidFill>
                  <a:schemeClr val="tx1"/>
                </a:solidFill>
                <a:effectLst/>
                <a:latin typeface="+mn-lt"/>
                <a:ea typeface="+mn-ea"/>
                <a:cs typeface="+mn-cs"/>
              </a:rPr>
              <a:t>Rogstam</a:t>
            </a:r>
            <a:r>
              <a:rPr lang="en-AU" sz="1200" b="0" i="0" kern="1200">
                <a:solidFill>
                  <a:schemeClr val="tx1"/>
                </a:solidFill>
                <a:effectLst/>
                <a:latin typeface="+mn-lt"/>
                <a:ea typeface="+mn-ea"/>
                <a:cs typeface="+mn-cs"/>
              </a:rPr>
              <a:t>. 2012. “Measurement and Modelling of Ice Rink Heat Loads.” </a:t>
            </a:r>
            <a:r>
              <a:rPr lang="en-AU" sz="1200" b="0" i="0" u="sng" strike="noStrike" kern="1200">
                <a:solidFill>
                  <a:schemeClr val="tx1"/>
                </a:solidFill>
                <a:effectLst/>
                <a:latin typeface="+mn-lt"/>
                <a:ea typeface="+mn-ea"/>
                <a:cs typeface="+mn-cs"/>
                <a:hlinkClick r:id="rId4"/>
              </a:rPr>
              <a:t>https://www.diva-portal.org/smash/get/diva2:542333/FULLTEXT01.pdf.</a:t>
            </a:r>
            <a:r>
              <a:rPr lang="en-AU" sz="1200" b="0" i="0" kern="1200">
                <a:solidFill>
                  <a:schemeClr val="tx1"/>
                </a:solidFill>
                <a:effectLst/>
                <a:latin typeface="+mn-lt"/>
                <a:ea typeface="+mn-ea"/>
                <a:cs typeface="+mn-cs"/>
              </a:rPr>
              <a:t>  </a:t>
            </a:r>
            <a:endParaRPr lang="en-AU"/>
          </a:p>
        </p:txBody>
      </p:sp>
      <p:sp>
        <p:nvSpPr>
          <p:cNvPr id="4" name="Slide Number Placeholder 3"/>
          <p:cNvSpPr>
            <a:spLocks noGrp="1"/>
          </p:cNvSpPr>
          <p:nvPr>
            <p:ph type="sldNum" sz="quarter" idx="5"/>
          </p:nvPr>
        </p:nvSpPr>
        <p:spPr/>
        <p:txBody>
          <a:bodyPr/>
          <a:lstStyle/>
          <a:p>
            <a:fld id="{F31DCA5C-0F11-47AF-B338-46D129E3C9E2}" type="slidenum">
              <a:rPr lang="en-AU" smtClean="0"/>
              <a:t>11</a:t>
            </a:fld>
            <a:endParaRPr lang="en-AU"/>
          </a:p>
        </p:txBody>
      </p:sp>
    </p:spTree>
    <p:extLst>
      <p:ext uri="{BB962C8B-B14F-4D97-AF65-F5344CB8AC3E}">
        <p14:creationId xmlns:p14="http://schemas.microsoft.com/office/powerpoint/2010/main" val="41492447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F31DCA5C-0F11-47AF-B338-46D129E3C9E2}" type="slidenum">
              <a:rPr lang="en-AU" smtClean="0"/>
              <a:t>12</a:t>
            </a:fld>
            <a:endParaRPr lang="en-AU"/>
          </a:p>
        </p:txBody>
      </p:sp>
    </p:spTree>
    <p:extLst>
      <p:ext uri="{BB962C8B-B14F-4D97-AF65-F5344CB8AC3E}">
        <p14:creationId xmlns:p14="http://schemas.microsoft.com/office/powerpoint/2010/main" val="1795616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a:t>
              </a:t>
            </a:r>
          </a:p>
        </p:txBody>
      </p:sp>
      <p:sp>
        <p:nvSpPr>
          <p:cNvPr id="10" name="Picture Placeholder 9">
            <a:extLst>
              <a:ext uri="{FF2B5EF4-FFF2-40B4-BE49-F238E27FC236}">
                <a16:creationId xmlns:a16="http://schemas.microsoft.com/office/drawing/2014/main" id="{884C280F-E753-FE97-A722-F86168AC97B1}"/>
              </a:ext>
            </a:extLst>
          </p:cNvPr>
          <p:cNvSpPr>
            <a:spLocks noGrp="1" noChangeAspect="1"/>
          </p:cNvSpPr>
          <p:nvPr>
            <p:ph type="pic" sz="quarter" idx="13" hasCustomPrompt="1"/>
          </p:nvPr>
        </p:nvSpPr>
        <p:spPr>
          <a:xfrm>
            <a:off x="841248" y="964074"/>
            <a:ext cx="5403280" cy="5258929"/>
          </a:xfrm>
          <a:custGeom>
            <a:avLst/>
            <a:gdLst/>
            <a:ahLst/>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chor="t">
            <a:noAutofit/>
          </a:bodyPr>
          <a:lstStyle>
            <a:lvl1pPr>
              <a:defRPr>
                <a:solidFill>
                  <a:schemeClr val="tx1"/>
                </a:solidFill>
              </a:defRPr>
            </a:lvl1pPr>
          </a:lstStyle>
          <a:p>
            <a:endParaRP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7FA43F5B-065E-43CE-B3FD-98C48A6F94D7}" type="datetimeFigureOut">
              <a:rPr lang="en-US" dirty="0"/>
              <a:t>10/22/2026</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2DE90F28-AFBB-4AB2-AA79-6D3F72ED131B}" type="slidenum">
              <a:rPr lang="en-US" dirty="0"/>
              <a:pPr/>
              <a:t>‹#›</a:t>
            </a:fld>
            <a:endParaRPr lang="en-US"/>
          </a:p>
        </p:txBody>
      </p:sp>
    </p:spTree>
    <p:extLst>
      <p:ext uri="{BB962C8B-B14F-4D97-AF65-F5344CB8AC3E}">
        <p14:creationId xmlns:p14="http://schemas.microsoft.com/office/powerpoint/2010/main" val="13233047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
              </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EE6A364-A39C-470E-B89A-9BD899585684}" type="datetimeFigureOut">
              <a:rPr lang="en-US" dirty="0"/>
              <a:pPr/>
              <a:t>10/22/2026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a:p>
        </p:txBody>
      </p:sp>
    </p:spTree>
    <p:extLst>
      <p:ext uri="{BB962C8B-B14F-4D97-AF65-F5344CB8AC3E}">
        <p14:creationId xmlns:p14="http://schemas.microsoft.com/office/powerpoint/2010/main" val="3951320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noChangeAspect="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r>
              <a:rPr lang="en-US"/>
              <a:t>
              </a:t>
            </a:r>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7FA43F5B-065E-43CE-B3FD-98C48A6F94D7}" type="datetimeFigureOut">
              <a:rPr lang="en-US" dirty="0"/>
              <a:t>10/22/2026</a:t>
            </a:fld>
            <a:endParaRPr lang="en-US"/>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2DE90F28-AFBB-4AB2-AA79-6D3F72ED131B}" type="slidenum">
              <a:rPr lang="en-US" dirty="0"/>
              <a:t>‹#›</a:t>
            </a:fld>
            <a:endParaRPr lang="en-US"/>
          </a:p>
        </p:txBody>
      </p:sp>
    </p:spTree>
    <p:extLst>
      <p:ext uri="{BB962C8B-B14F-4D97-AF65-F5344CB8AC3E}">
        <p14:creationId xmlns:p14="http://schemas.microsoft.com/office/powerpoint/2010/main" val="27542323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r>
              <a:rPr lang="en-US"/>
              <a:t>
              </a:t>
            </a:r>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7FA43F5B-065E-43CE-B3FD-98C48A6F94D7}" type="datetimeFigureOut">
              <a:rPr lang="en-US" dirty="0"/>
              <a:t>10/22/2026</a:t>
            </a:fld>
            <a:endParaRPr lang="en-US"/>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2DE90F28-AFBB-4AB2-AA79-6D3F72ED131B}" type="slidenum">
              <a:rPr lang="en-US" dirty="0"/>
              <a:t>‹#›</a:t>
            </a:fld>
            <a:endParaRPr lang="en-US"/>
          </a:p>
        </p:txBody>
      </p:sp>
    </p:spTree>
    <p:extLst>
      <p:ext uri="{BB962C8B-B14F-4D97-AF65-F5344CB8AC3E}">
        <p14:creationId xmlns:p14="http://schemas.microsoft.com/office/powerpoint/2010/main" val="178445983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FigureOut">
              <a:rPr lang="en-US" dirty="0"/>
              <a:pPr/>
              <a:t>10/22/2026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648387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ahLst/>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3D6F41-6645-4089-A6BB-7B692A44A4CC}" type="datetimeFigureOut">
              <a:rPr lang="en-US" dirty="0"/>
              <a:pPr/>
              <a:t>10/22/2026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a:p>
        </p:txBody>
      </p:sp>
    </p:spTree>
    <p:extLst>
      <p:ext uri="{BB962C8B-B14F-4D97-AF65-F5344CB8AC3E}">
        <p14:creationId xmlns:p14="http://schemas.microsoft.com/office/powerpoint/2010/main" val="2143417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r>
              <a:rPr lang="en-US"/>
              <a:t>
              </a:t>
            </a:r>
          </a:p>
        </p:txBody>
      </p:sp>
      <p:sp>
        <p:nvSpPr>
          <p:cNvPr id="8" name="Picture Placeholder 7">
            <a:extLst>
              <a:ext uri="{FF2B5EF4-FFF2-40B4-BE49-F238E27FC236}">
                <a16:creationId xmlns:a16="http://schemas.microsoft.com/office/drawing/2014/main" id="{4E5AAB3D-814D-597A-6ADE-F522A8116DCD}"/>
              </a:ext>
            </a:extLst>
          </p:cNvPr>
          <p:cNvSpPr>
            <a:spLocks noGrp="1" noChangeAspect="1"/>
          </p:cNvSpPr>
          <p:nvPr>
            <p:ph type="pic" idx="13" hasCustomPrompt="1"/>
          </p:nvPr>
        </p:nvSpPr>
        <p:spPr>
          <a:xfrm>
            <a:off x="1257301" y="1097280"/>
            <a:ext cx="3776470" cy="3168100"/>
          </a:xfrm>
          <a:custGeom>
            <a:avLst/>
            <a:gdLst/>
            <a:ahLst/>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chor="t">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75E16723-2C2F-40DB-89B2-A94AAE77E75C}" type="datetimeFigureOut">
              <a:rPr lang="en-US" dirty="0"/>
              <a:pPr/>
              <a:t>10/22/2026</a:t>
            </a:fld>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dirty="0"/>
              <a:pPr/>
              <a:t>‹#›</a:t>
            </a:fld>
            <a:endParaRPr lang="en-US"/>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879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258B73AF-3955-4569-8B4F-B329360A9CBD}" type="datetimeFigureOut">
              <a:rPr lang="en-US" dirty="0"/>
              <a:pPr/>
              <a:t>10/22/2026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403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0ADC593-EA98-4C39-A75F-3F3A9C691019}" type="datetimeFigureOut">
              <a:rPr lang="en-US" dirty="0"/>
              <a:pPr/>
              <a:t>10/22/2026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8191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Aptos Display" panose="020B0004020202020204" pitchFamily="34" charset="0"/>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noChangeAspect="1"/>
          </p:cNvSpPr>
          <p:nvPr>
            <p:ph type="pic" sz="quarter" idx="13" hasCustomPrompt="1"/>
          </p:nvPr>
        </p:nvSpPr>
        <p:spPr>
          <a:xfrm>
            <a:off x="0" y="0"/>
            <a:ext cx="8326323" cy="6858000"/>
          </a:xfrm>
          <a:custGeom>
            <a:avLst/>
            <a:gdLst/>
            <a:ahLst/>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chor="t">
            <a:noAutofit/>
          </a:bodyPr>
          <a:lstStyle>
            <a:lvl1pPr marL="0" indent="0">
              <a:buFont typeface="Arial" panose="020B0604020202020204" pitchFamily="34" charset="0"/>
              <a:buNone/>
              <a:defRPr/>
            </a:lvl1pPr>
          </a:lstStyle>
          <a:p>
            <a:endParaRP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r>
              <a:rPr lang="en-US"/>
              <a:t>
              </a:t>
            </a:r>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7FA43F5B-065E-43CE-B3FD-98C48A6F94D7}" type="datetimeFigureOut">
              <a:rPr lang="en-US" dirty="0"/>
              <a:pPr/>
              <a:t>10/22/2026</a:t>
            </a:fld>
            <a:endParaRPr lang="en-US"/>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2DE90F28-AFBB-4AB2-AA79-6D3F72ED131B}" type="slidenum">
              <a:rPr lang="en-US" dirty="0"/>
              <a:pPr/>
              <a:t>‹#›</a:t>
            </a:fld>
            <a:endParaRPr lang="en-US"/>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2590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7FA43F5B-065E-43CE-B3FD-98C48A6F94D7}" type="datetimeFigureOut">
              <a:rPr lang="en-US" dirty="0"/>
              <a:pPr/>
              <a:t>10/22/2026</a:t>
            </a:fld>
            <a:endParaRPr lang="en-US"/>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r>
              <a:rPr lang="en-US"/>
              <a:t>
              </a:t>
            </a:r>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2DE90F28-AFBB-4AB2-AA79-6D3F72ED131B}" type="slidenum">
              <a:rPr lang="en-US" dirty="0"/>
              <a:pPr/>
              <a:t>‹#›</a:t>
            </a:fld>
            <a:endParaRPr lang="en-US"/>
          </a:p>
        </p:txBody>
      </p:sp>
    </p:spTree>
    <p:extLst>
      <p:ext uri="{BB962C8B-B14F-4D97-AF65-F5344CB8AC3E}">
        <p14:creationId xmlns:p14="http://schemas.microsoft.com/office/powerpoint/2010/main" val="4996596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7FA43F5B-065E-43CE-B3FD-98C48A6F94D7}" type="datetimeFigureOut">
              <a:rPr lang="en-US" dirty="0"/>
              <a:pPr/>
              <a:t>10/22/2026</a:t>
            </a:fld>
            <a:endParaRPr lang="en-US"/>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r>
              <a:rPr lang="en-US"/>
              <a:t>
              </a:t>
            </a:r>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2DE90F28-AFBB-4AB2-AA79-6D3F72ED131B}" type="slidenum">
              <a:rPr lang="en-US" dirty="0"/>
              <a:pPr/>
              <a:t>‹#›</a:t>
            </a:fld>
            <a:endParaRPr lang="en-US"/>
          </a:p>
        </p:txBody>
      </p:sp>
    </p:spTree>
    <p:extLst>
      <p:ext uri="{BB962C8B-B14F-4D97-AF65-F5344CB8AC3E}">
        <p14:creationId xmlns:p14="http://schemas.microsoft.com/office/powerpoint/2010/main" val="25087832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7FA43F5B-065E-43CE-B3FD-98C48A6F94D7}" type="datetimeFigureOut">
              <a:rPr lang="en-US" dirty="0"/>
              <a:pPr/>
              <a:t>10/22/2026</a:t>
            </a:fld>
            <a:endParaRPr lang="en-US"/>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r>
              <a:rPr lang="en-US"/>
              <a:t>
              </a:t>
            </a:r>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2DE90F28-AFBB-4AB2-AA79-6D3F72ED131B}" type="slidenum">
              <a:rPr lang="en-US" dirty="0"/>
              <a:pPr/>
              <a:t>‹#›</a:t>
            </a:fld>
            <a:endParaRPr lang="en-US"/>
          </a:p>
        </p:txBody>
      </p:sp>
    </p:spTree>
    <p:extLst>
      <p:ext uri="{BB962C8B-B14F-4D97-AF65-F5344CB8AC3E}">
        <p14:creationId xmlns:p14="http://schemas.microsoft.com/office/powerpoint/2010/main" val="18911411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7FA43F5B-065E-43CE-B3FD-98C48A6F94D7}" type="datetimeFigureOut">
              <a:rPr lang="en-US" dirty="0"/>
              <a:pPr/>
              <a:t>10/22/2026</a:t>
            </a:fld>
            <a:endParaRPr lang="en-US"/>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r>
              <a:rPr lang="en-US"/>
              <a:t>
              </a:t>
            </a:r>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2DE90F28-AFBB-4AB2-AA79-6D3F72ED131B}" type="slidenum">
              <a:rPr lang="en-US" dirty="0"/>
              <a:pPr/>
              <a:t>‹#›</a:t>
            </a:fld>
            <a:endParaRPr lang="en-US"/>
          </a:p>
        </p:txBody>
      </p:sp>
    </p:spTree>
    <p:extLst>
      <p:ext uri="{BB962C8B-B14F-4D97-AF65-F5344CB8AC3E}">
        <p14:creationId xmlns:p14="http://schemas.microsoft.com/office/powerpoint/2010/main" val="39401129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7FA43F5B-065E-43CE-B3FD-98C48A6F94D7}" type="datetimeFigureOut">
              <a:rPr lang="en-US" dirty="0"/>
              <a:pPr/>
              <a:t>10/22/2026</a:t>
            </a:fld>
            <a:endParaRPr lang="en-US"/>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r>
              <a:rPr lang="en-US"/>
              <a:t>
              </a:t>
            </a:r>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2DE90F28-AFBB-4AB2-AA79-6D3F72ED131B}" type="slidenum">
              <a:rPr lang="en-US" dirty="0"/>
              <a:pPr/>
              <a:t>‹#›</a:t>
            </a:fld>
            <a:endParaRPr lang="en-US"/>
          </a:p>
        </p:txBody>
      </p:sp>
    </p:spTree>
    <p:extLst>
      <p:ext uri="{BB962C8B-B14F-4D97-AF65-F5344CB8AC3E}">
        <p14:creationId xmlns:p14="http://schemas.microsoft.com/office/powerpoint/2010/main" val="36826464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ADC8C146-0A20-4029-98D5-9A42EEDF8B24}" type="datetimeFigureOut">
              <a:rPr lang="en-US" dirty="0"/>
              <a:pPr/>
              <a:t>10/22/2026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74975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
              </a:t>
            </a:r>
          </a:p>
        </p:txBody>
      </p:sp>
      <p:sp>
        <p:nvSpPr>
          <p:cNvPr id="16" name="Picture Placeholder 15">
            <a:extLst>
              <a:ext uri="{FF2B5EF4-FFF2-40B4-BE49-F238E27FC236}">
                <a16:creationId xmlns:a16="http://schemas.microsoft.com/office/drawing/2014/main" id="{838F5DE0-1AA8-5320-EBEC-7B2EEF399630}"/>
              </a:ext>
            </a:extLst>
          </p:cNvPr>
          <p:cNvSpPr>
            <a:spLocks noGrp="1" noChangeAspect="1"/>
          </p:cNvSpPr>
          <p:nvPr>
            <p:ph type="pic" sz="quarter" idx="13" hasCustomPrompt="1"/>
          </p:nvPr>
        </p:nvSpPr>
        <p:spPr>
          <a:xfrm>
            <a:off x="731520" y="548642"/>
            <a:ext cx="3490175" cy="4041647"/>
          </a:xfrm>
          <a:custGeom>
            <a:avLst/>
            <a:gdLst/>
            <a:ahLst/>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chor="t">
            <a:noAutofit/>
          </a:bodyPr>
          <a:lstStyle>
            <a:lvl1pPr>
              <a:defRPr>
                <a:solidFill>
                  <a:schemeClr val="tx1"/>
                </a:solidFill>
              </a:defRPr>
            </a:lvl1pPr>
          </a:lstStyle>
          <a:p>
            <a:endParaRP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73859A7-84EB-4384-87AF-59CC16704CF8}" type="datetimeFigureOut">
              <a:rPr lang="en-US" dirty="0"/>
              <a:pPr/>
              <a:t>10/22/2026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39508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a:t>
              </a:t>
            </a:r>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7FA43F5B-065E-43CE-B3FD-98C48A6F94D7}" type="datetimeFigureOut">
              <a:rPr lang="en-US" dirty="0"/>
              <a:pPr/>
              <a:t>10/22/2026</a:t>
            </a:fld>
            <a:endParaRPr lang="en-US"/>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2DE90F28-AFBB-4AB2-AA79-6D3F72ED131B}" type="slidenum">
              <a:rPr lang="en-US" dirty="0"/>
              <a:pPr/>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noChangeAspect="1"/>
          </p:cNvSpPr>
          <p:nvPr>
            <p:ph type="pic" sz="quarter" idx="13" hasCustomPrompt="1"/>
          </p:nvPr>
        </p:nvSpPr>
        <p:spPr>
          <a:xfrm>
            <a:off x="5658927" y="1713653"/>
            <a:ext cx="6533071" cy="5144347"/>
          </a:xfrm>
          <a:custGeom>
            <a:avLst/>
            <a:gdLst/>
            <a:ahLst/>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chor="t">
            <a:noAutofit/>
          </a:bodyPr>
          <a:lstStyle>
            <a:lvl1pPr marL="0" indent="0">
              <a:buFont typeface="Arial" panose="020B0604020202020204" pitchFamily="34" charset="0"/>
              <a:buNone/>
              <a:defRPr lang="en-US" dirty="0"/>
            </a:lvl1pPr>
          </a:lstStyle>
          <a:p>
            <a:pPr marL="285750" lvl="0" indent="-285750"/>
            <a:endParaRPr/>
          </a:p>
        </p:txBody>
      </p:sp>
    </p:spTree>
    <p:extLst>
      <p:ext uri="{BB962C8B-B14F-4D97-AF65-F5344CB8AC3E}">
        <p14:creationId xmlns:p14="http://schemas.microsoft.com/office/powerpoint/2010/main" val="9521319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
              </a:t>
            </a:r>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Aptos Display" panose="020B0004020202020204" pitchFamily="34" charset="0"/>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5AD3D17-73C9-402C-91E7-BA73E6829C50}" type="datetimeFigureOut">
              <a:rPr lang="en-US" dirty="0"/>
              <a:pPr/>
              <a:t>10/22/2026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581097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
              </a:t>
            </a:r>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140A1F3-DA5D-4F2E-B759-748FF8D0ACA9}" type="datetimeFigureOut">
              <a:rPr lang="en-US" dirty="0"/>
              <a:pPr/>
              <a:t>10/22/2026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ahLst/>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382554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
              </a:t>
            </a:r>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ahLst/>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63035D-22A0-4334-A9AE-2457016C8B47}" type="datetimeFigureOut">
              <a:rPr lang="en-US" dirty="0"/>
              <a:pPr/>
              <a:t>10/22/2026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a:p>
        </p:txBody>
      </p:sp>
    </p:spTree>
    <p:extLst>
      <p:ext uri="{BB962C8B-B14F-4D97-AF65-F5344CB8AC3E}">
        <p14:creationId xmlns:p14="http://schemas.microsoft.com/office/powerpoint/2010/main" val="33143803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
              </a:t>
            </a:r>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9E765B10-D26A-480A-9509-A9831C5E60D8}" type="datetimeFigureOut">
              <a:rPr lang="en-US" dirty="0"/>
              <a:pPr/>
              <a:t>10/22/2026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a:p>
        </p:txBody>
      </p:sp>
    </p:spTree>
    <p:extLst>
      <p:ext uri="{BB962C8B-B14F-4D97-AF65-F5344CB8AC3E}">
        <p14:creationId xmlns:p14="http://schemas.microsoft.com/office/powerpoint/2010/main" val="24244549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
              </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5BCCB42A-67CE-499B-A4FA-7D4E4469B142}" type="datetimeFigureOut">
              <a:rPr lang="en-US" dirty="0"/>
              <a:pPr/>
              <a:t>10/22/2026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a:p>
        </p:txBody>
      </p:sp>
    </p:spTree>
    <p:extLst>
      <p:ext uri="{BB962C8B-B14F-4D97-AF65-F5344CB8AC3E}">
        <p14:creationId xmlns:p14="http://schemas.microsoft.com/office/powerpoint/2010/main" val="23195909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
              </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EF9E5040-F7E0-40EC-B8E9-CED28200FAA3}" type="datetimeFigureOut">
              <a:rPr lang="en-US" dirty="0"/>
              <a:pPr/>
              <a:t>10/22/2026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a:p>
        </p:txBody>
      </p:sp>
    </p:spTree>
    <p:extLst>
      <p:ext uri="{BB962C8B-B14F-4D97-AF65-F5344CB8AC3E}">
        <p14:creationId xmlns:p14="http://schemas.microsoft.com/office/powerpoint/2010/main" val="24877184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
              </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87CFF128-BAC7-4E0D-8F77-28A571D93B6F}" type="datetimeFigureOut">
              <a:rPr lang="en-US" dirty="0"/>
              <a:pPr/>
              <a:t>10/22/2026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a:p>
        </p:txBody>
      </p:sp>
    </p:spTree>
    <p:extLst>
      <p:ext uri="{BB962C8B-B14F-4D97-AF65-F5344CB8AC3E}">
        <p14:creationId xmlns:p14="http://schemas.microsoft.com/office/powerpoint/2010/main" val="36193421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157987AA-E4E6-4FC1-BAD8-09A952212C58}" type="datetimeFigureOut">
              <a:rPr lang="en-US" dirty="0"/>
              <a:pPr/>
              <a:t>10/22/2026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CC057153-B650-4DEB-B370-79DDCFDCE934}" type="slidenum">
              <a:rPr lang="en-US" dirty="0"/>
              <a:pPr/>
              <a:t>‹#›</a:t>
            </a:fld>
            <a:endParaRPr lang="en-US"/>
          </a:p>
        </p:txBody>
      </p:sp>
    </p:spTree>
    <p:extLst>
      <p:ext uri="{BB962C8B-B14F-4D97-AF65-F5344CB8AC3E}">
        <p14:creationId xmlns:p14="http://schemas.microsoft.com/office/powerpoint/2010/main" val="8273239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
              </a:t>
            </a:r>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FigureOut">
              <a:rPr lang="en-US" dirty="0"/>
              <a:pPr/>
              <a:t>10/22/2026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a:p>
        </p:txBody>
      </p:sp>
    </p:spTree>
    <p:extLst>
      <p:ext uri="{BB962C8B-B14F-4D97-AF65-F5344CB8AC3E}">
        <p14:creationId xmlns:p14="http://schemas.microsoft.com/office/powerpoint/2010/main" val="32393984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spc="3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7" name="Rectangle 6"/>
          <p:cNvSpPr/>
          <p:nvPr/>
        </p:nvSpPr>
        <p:spPr>
          <a:xfrm>
            <a:off x="0" y="0"/>
            <a:ext cx="457200" cy="685800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8" name="Date Placeholder 7"/>
          <p:cNvSpPr>
            <a:spLocks noGrp="1"/>
          </p:cNvSpPr>
          <p:nvPr>
            <p:ph type="dt" sz="half" idx="10"/>
          </p:nvPr>
        </p:nvSpPr>
        <p:spPr/>
        <p:txBody>
          <a:bodyPr/>
          <a:lstStyle/>
          <a:p>
            <a:fld id="{726ED139-0480-4198-83E2-68CE0B25BC9B}" type="datetimeFigureOut">
              <a:rPr lang="en-US" dirty="0"/>
              <a:t>10/22/2026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23818280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82BD47-5F5E-4508-9DFC-0021F20B392D}" type="datetimeFigureOut">
              <a:rPr lang="en-US" dirty="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115890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r>
              <a:rPr lang="en-US"/>
              <a:t>
              </a:t>
            </a:r>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7FA43F5B-065E-43CE-B3FD-98C48A6F94D7}" type="datetimeFigureOut">
              <a:rPr lang="en-US" dirty="0"/>
              <a:pPr/>
              <a:t>10/22/2026</a:t>
            </a:fld>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2DE90F28-AFBB-4AB2-AA79-6D3F72ED131B}" type="slidenum">
              <a:rPr lang="en-US" dirty="0"/>
              <a:pPr/>
              <a:t>‹#›</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4541238"/>
      </p:ext>
    </p:extLst>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 id="2147483924" r:id="rId12"/>
    <p:sldLayoutId id="2147483925" r:id="rId13"/>
    <p:sldLayoutId id="2147483926" r:id="rId14"/>
    <p:sldLayoutId id="2147483927" r:id="rId15"/>
    <p:sldLayoutId id="2147483928" r:id="rId16"/>
    <p:sldLayoutId id="2147483929" r:id="rId17"/>
    <p:sldLayoutId id="2147483930" r:id="rId18"/>
    <p:sldLayoutId id="2147483931" r:id="rId19"/>
    <p:sldLayoutId id="2147483932" r:id="rId20"/>
    <p:sldLayoutId id="2147483933" r:id="rId21"/>
    <p:sldLayoutId id="2147483934" r:id="rId22"/>
    <p:sldLayoutId id="2147483935" r:id="rId23"/>
    <p:sldLayoutId id="2147483936" r:id="rId24"/>
    <p:sldLayoutId id="2147483937" r:id="rId25"/>
    <p:sldLayoutId id="2147483938" r:id="rId26"/>
    <p:sldLayoutId id="2147483939" r:id="rId27"/>
    <p:sldLayoutId id="2147483940" r:id="rId28"/>
    <p:sldLayoutId id="2147483941" r:id="rId29"/>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Aptos Display" panose="020B0004020202020204" pitchFamily="34" charset="0"/>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9.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9.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29.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9.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91268" y="270122"/>
            <a:ext cx="9418320" cy="4041648"/>
          </a:xfrm>
        </p:spPr>
        <p:txBody>
          <a:bodyPr>
            <a:normAutofit/>
          </a:bodyPr>
          <a:lstStyle/>
          <a:p>
            <a:r>
              <a:rPr lang="en-US" sz="6000">
                <a:latin typeface="Aptos Display"/>
                <a:ea typeface="Calibri"/>
                <a:cs typeface="Calibri"/>
              </a:rPr>
              <a:t>Thermal Energy Consumption of Heating and Cooling an Ice Rink</a:t>
            </a:r>
            <a:endParaRPr lang="en-US" sz="6000"/>
          </a:p>
        </p:txBody>
      </p:sp>
      <p:sp>
        <p:nvSpPr>
          <p:cNvPr id="3" name="Subtitle 2"/>
          <p:cNvSpPr>
            <a:spLocks noGrp="1"/>
          </p:cNvSpPr>
          <p:nvPr>
            <p:ph type="subTitle" idx="1"/>
          </p:nvPr>
        </p:nvSpPr>
        <p:spPr>
          <a:xfrm>
            <a:off x="1394604" y="4665962"/>
            <a:ext cx="9144000" cy="1655762"/>
          </a:xfrm>
        </p:spPr>
        <p:txBody>
          <a:bodyPr vert="horz" lIns="91440" tIns="45720" rIns="91440" bIns="45720" rtlCol="0" anchor="t">
            <a:normAutofit/>
          </a:bodyPr>
          <a:lstStyle/>
          <a:p>
            <a:r>
              <a:rPr lang="en-US" sz="1600">
                <a:latin typeface="Aptos Display"/>
              </a:rPr>
              <a:t>Mathematical Modelling – Semester 2 – 16/10/2026 – Group 8</a:t>
            </a:r>
          </a:p>
          <a:p>
            <a:pPr algn="l"/>
            <a:r>
              <a:rPr lang="en-US" sz="1600">
                <a:latin typeface="Aptos Display"/>
              </a:rPr>
              <a:t>21975066 Jake Pedersen		</a:t>
            </a:r>
          </a:p>
          <a:p>
            <a:pPr algn="l"/>
            <a:r>
              <a:rPr lang="en-US" sz="1600">
                <a:solidFill>
                  <a:schemeClr val="tx1"/>
                </a:solidFill>
                <a:latin typeface="Aptos Display"/>
                <a:cs typeface="Segoe UI"/>
              </a:rPr>
              <a:t>20937120 Bui Duc Minh Cao</a:t>
            </a:r>
          </a:p>
          <a:p>
            <a:pPr algn="l"/>
            <a:r>
              <a:rPr lang="en-US" sz="1600">
                <a:latin typeface="Aptos Display"/>
                <a:cs typeface="Segoe UI"/>
              </a:rPr>
              <a:t>20448350 Adam Zaltsman</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F6318-84E9-23F2-7FC2-4109008F7562}"/>
              </a:ext>
            </a:extLst>
          </p:cNvPr>
          <p:cNvSpPr>
            <a:spLocks noGrp="1"/>
          </p:cNvSpPr>
          <p:nvPr>
            <p:ph type="title"/>
          </p:nvPr>
        </p:nvSpPr>
        <p:spPr/>
        <p:txBody>
          <a:bodyPr/>
          <a:lstStyle/>
          <a:p>
            <a:pPr algn="ctr"/>
            <a:r>
              <a:rPr lang="en-US">
                <a:latin typeface="Aptos Display"/>
              </a:rPr>
              <a:t>Acknowledgement of Country</a:t>
            </a:r>
          </a:p>
        </p:txBody>
      </p:sp>
      <p:sp>
        <p:nvSpPr>
          <p:cNvPr id="3" name="Content Placeholder 2">
            <a:extLst>
              <a:ext uri="{FF2B5EF4-FFF2-40B4-BE49-F238E27FC236}">
                <a16:creationId xmlns:a16="http://schemas.microsoft.com/office/drawing/2014/main" id="{25071538-F787-450D-C7B9-7BA2D0F710B0}"/>
              </a:ext>
            </a:extLst>
          </p:cNvPr>
          <p:cNvSpPr>
            <a:spLocks noGrp="1"/>
          </p:cNvSpPr>
          <p:nvPr>
            <p:ph idx="1"/>
          </p:nvPr>
        </p:nvSpPr>
        <p:spPr/>
        <p:txBody>
          <a:bodyPr vert="horz" lIns="91440" tIns="45720" rIns="91440" bIns="45720" rtlCol="0" anchor="t">
            <a:normAutofit/>
          </a:bodyPr>
          <a:lstStyle/>
          <a:p>
            <a:pPr algn="ctr"/>
            <a:r>
              <a:rPr lang="en-US" sz="3600"/>
              <a:t>We would like to acknowledge the traditional custodians of the land on which we are meeting, the Whadjuk people of the Nyungar nation, and pay our respects to elders past, present and emerging</a:t>
            </a:r>
            <a:r>
              <a:rPr lang="en-US" sz="3200"/>
              <a:t>. </a:t>
            </a:r>
          </a:p>
        </p:txBody>
      </p:sp>
    </p:spTree>
    <p:extLst>
      <p:ext uri="{BB962C8B-B14F-4D97-AF65-F5344CB8AC3E}">
        <p14:creationId xmlns:p14="http://schemas.microsoft.com/office/powerpoint/2010/main" val="2822791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3809F-AF2F-06C7-F3C4-A557AC85C2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6C7209-D65E-CE58-F6F4-5879A708F9E5}"/>
              </a:ext>
            </a:extLst>
          </p:cNvPr>
          <p:cNvSpPr>
            <a:spLocks noGrp="1"/>
          </p:cNvSpPr>
          <p:nvPr>
            <p:ph type="title"/>
          </p:nvPr>
        </p:nvSpPr>
        <p:spPr/>
        <p:txBody>
          <a:bodyPr/>
          <a:lstStyle/>
          <a:p>
            <a:r>
              <a:rPr lang="en-US">
                <a:latin typeface="Aptos Display"/>
              </a:rPr>
              <a:t>Introduction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B54859-96F0-FEC1-C780-A64B559A4857}"/>
                  </a:ext>
                </a:extLst>
              </p:cNvPr>
              <p:cNvSpPr>
                <a:spLocks noGrp="1"/>
              </p:cNvSpPr>
              <p:nvPr>
                <p:ph idx="1"/>
              </p:nvPr>
            </p:nvSpPr>
            <p:spPr>
              <a:xfrm>
                <a:off x="838200" y="2061470"/>
                <a:ext cx="10515600" cy="3319202"/>
              </a:xfrm>
            </p:spPr>
            <p:txBody>
              <a:bodyPr numCol="2">
                <a:normAutofit fontScale="47500" lnSpcReduction="20000"/>
              </a:bodyPr>
              <a:lstStyle/>
              <a:p>
                <a:r>
                  <a:rPr lang="en-US" sz="3400" u="sng"/>
                  <a:t>The Problem</a:t>
                </a:r>
                <a:endParaRPr lang="en-US" sz="2900" u="sng"/>
              </a:p>
              <a:p>
                <a:pPr marL="285750" indent="-285750">
                  <a:buFont typeface="Arial" panose="020B0604020202020204" pitchFamily="34" charset="0"/>
                  <a:buChar char="•"/>
                </a:pPr>
                <a:r>
                  <a:rPr lang="en-US" sz="2900"/>
                  <a:t>Indoor rink must hold the ice below 0</a:t>
                </a:r>
                <a14:m>
                  <m:oMath xmlns:m="http://schemas.openxmlformats.org/officeDocument/2006/math">
                    <m:r>
                      <a:rPr lang="en-US" sz="2900" i="0" smtClean="0">
                        <a:latin typeface="Cambria Math" panose="02040503050406030204" pitchFamily="18" charset="0"/>
                        <a:ea typeface="Cambria Math" panose="02040503050406030204" pitchFamily="18" charset="0"/>
                      </a:rPr>
                      <m:t>°</m:t>
                    </m:r>
                    <m:r>
                      <m:rPr>
                        <m:sty m:val="p"/>
                      </m:rPr>
                      <a:rPr lang="en-AU" sz="2900" b="0" i="0" smtClean="0">
                        <a:latin typeface="Cambria Math" panose="02040503050406030204" pitchFamily="18" charset="0"/>
                        <a:ea typeface="Cambria Math" panose="02040503050406030204" pitchFamily="18" charset="0"/>
                      </a:rPr>
                      <m:t>c</m:t>
                    </m:r>
                  </m:oMath>
                </a14:m>
                <a:r>
                  <a:rPr lang="en-US" sz="2900"/>
                  <a:t> (-4 </a:t>
                </a:r>
                <a14:m>
                  <m:oMath xmlns:m="http://schemas.openxmlformats.org/officeDocument/2006/math">
                    <m:r>
                      <a:rPr lang="en-US" sz="2900" i="0" smtClean="0">
                        <a:latin typeface="Cambria Math" panose="02040503050406030204" pitchFamily="18" charset="0"/>
                        <a:ea typeface="Cambria Math" panose="02040503050406030204" pitchFamily="18" charset="0"/>
                      </a:rPr>
                      <m:t>°</m:t>
                    </m:r>
                    <m:r>
                      <m:rPr>
                        <m:sty m:val="p"/>
                      </m:rPr>
                      <a:rPr lang="en-AU" sz="2900" b="0" i="0" smtClean="0">
                        <a:latin typeface="Cambria Math" panose="02040503050406030204" pitchFamily="18" charset="0"/>
                        <a:ea typeface="Cambria Math" panose="02040503050406030204" pitchFamily="18" charset="0"/>
                      </a:rPr>
                      <m:t>C</m:t>
                    </m:r>
                  </m:oMath>
                </a14:m>
                <a:r>
                  <a:rPr lang="en-US" sz="2900"/>
                  <a:t>) while keeping the air comfortable for skaters (10</a:t>
                </a:r>
                <a14:m>
                  <m:oMath xmlns:m="http://schemas.openxmlformats.org/officeDocument/2006/math">
                    <m:r>
                      <a:rPr lang="en-US" sz="2900" i="0" smtClean="0">
                        <a:latin typeface="Cambria Math" panose="02040503050406030204" pitchFamily="18" charset="0"/>
                        <a:ea typeface="Cambria Math" panose="02040503050406030204" pitchFamily="18" charset="0"/>
                      </a:rPr>
                      <m:t>°</m:t>
                    </m:r>
                    <m:r>
                      <m:rPr>
                        <m:sty m:val="p"/>
                      </m:rPr>
                      <a:rPr lang="en-AU" sz="2900" b="0" i="0" smtClean="0">
                        <a:latin typeface="Cambria Math" panose="02040503050406030204" pitchFamily="18" charset="0"/>
                        <a:ea typeface="Cambria Math" panose="02040503050406030204" pitchFamily="18" charset="0"/>
                      </a:rPr>
                      <m:t>C</m:t>
                    </m:r>
                    <m:r>
                      <a:rPr lang="en-AU" sz="2900" b="0" i="0" smtClean="0">
                        <a:latin typeface="Cambria Math" panose="02040503050406030204" pitchFamily="18" charset="0"/>
                        <a:ea typeface="Cambria Math" panose="02040503050406030204" pitchFamily="18" charset="0"/>
                      </a:rPr>
                      <m:t>) </m:t>
                    </m:r>
                  </m:oMath>
                </a14:m>
                <a:endParaRPr lang="en-US" sz="2900"/>
              </a:p>
              <a:p>
                <a:pPr marL="285750" indent="-285750">
                  <a:buFont typeface="Arial" panose="020B0604020202020204" pitchFamily="34" charset="0"/>
                  <a:buChar char="•"/>
                </a:pPr>
                <a:r>
                  <a:rPr lang="en-US" sz="2900"/>
                  <a:t>Requires both heating and refrigeration at the same time.</a:t>
                </a:r>
              </a:p>
              <a:p>
                <a:pPr marL="285750" indent="-285750">
                  <a:buFont typeface="Arial" panose="020B0604020202020204" pitchFamily="34" charset="0"/>
                  <a:buChar char="•"/>
                </a:pPr>
                <a:r>
                  <a:rPr lang="en-US" sz="2900"/>
                  <a:t>Heat supplied to the upper zone transfers down to the cold zone and must be removed by refrigeration </a:t>
                </a:r>
              </a:p>
              <a:p>
                <a:pPr marL="285750" indent="-285750">
                  <a:buFont typeface="Arial" panose="020B0604020202020204" pitchFamily="34" charset="0"/>
                  <a:buChar char="•"/>
                </a:pPr>
                <a:r>
                  <a:rPr lang="en-US" sz="2900"/>
                  <a:t>The two systems are linked; more heating in the upper zone requires more refrigeration. </a:t>
                </a:r>
              </a:p>
              <a:p>
                <a:endParaRPr lang="en-US" sz="2900"/>
              </a:p>
              <a:p>
                <a:endParaRPr lang="en-US" sz="2900"/>
              </a:p>
              <a:p>
                <a:endParaRPr lang="en-US" sz="2900"/>
              </a:p>
              <a:p>
                <a:r>
                  <a:rPr lang="en-US" sz="3400" u="sng"/>
                  <a:t>Our Approach </a:t>
                </a:r>
                <a:endParaRPr lang="en-US" sz="2900" u="sng"/>
              </a:p>
              <a:p>
                <a:pPr marL="285750" indent="-285750">
                  <a:buFont typeface="Arial" panose="020B0604020202020204" pitchFamily="34" charset="0"/>
                  <a:buChar char="•"/>
                </a:pPr>
                <a:r>
                  <a:rPr lang="en-US" sz="2900"/>
                  <a:t>Hypothetical rink in Perth, Western Australia </a:t>
                </a:r>
              </a:p>
              <a:p>
                <a:pPr marL="285750" indent="-285750">
                  <a:buFont typeface="Arial" panose="020B0604020202020204" pitchFamily="34" charset="0"/>
                  <a:buChar char="•"/>
                </a:pPr>
                <a:r>
                  <a:rPr lang="en-US" sz="2900"/>
                  <a:t>Lumped Two-zone, steady state model:</a:t>
                </a:r>
              </a:p>
              <a:p>
                <a:pPr marL="788670" lvl="1" indent="-285750">
                  <a:buFont typeface="Arial" panose="020B0604020202020204" pitchFamily="34" charset="0"/>
                  <a:buChar char="•"/>
                </a:pPr>
                <a:r>
                  <a:rPr lang="en-US" sz="2900" i="0"/>
                  <a:t>Upper zone (</a:t>
                </a:r>
                <a14:m>
                  <m:oMath xmlns:m="http://schemas.openxmlformats.org/officeDocument/2006/math">
                    <m:sSub>
                      <m:sSubPr>
                        <m:ctrlPr>
                          <a:rPr lang="en-AU" sz="2900" b="0" i="1" smtClean="0">
                            <a:latin typeface="Cambria Math" panose="02040503050406030204" pitchFamily="18" charset="0"/>
                          </a:rPr>
                        </m:ctrlPr>
                      </m:sSubPr>
                      <m:e>
                        <m:r>
                          <m:rPr>
                            <m:sty m:val="p"/>
                          </m:rPr>
                          <a:rPr lang="en-AU" sz="2900" b="0" i="1" smtClean="0">
                            <a:latin typeface="Cambria Math" panose="02040503050406030204" pitchFamily="18" charset="0"/>
                          </a:rPr>
                          <m:t>T</m:t>
                        </m:r>
                      </m:e>
                      <m:sub>
                        <m:r>
                          <m:rPr>
                            <m:sty m:val="p"/>
                          </m:rPr>
                          <a:rPr lang="en-AU" sz="2900" b="0" i="1" smtClean="0">
                            <a:latin typeface="Cambria Math" panose="02040503050406030204" pitchFamily="18" charset="0"/>
                          </a:rPr>
                          <m:t>U</m:t>
                        </m:r>
                      </m:sub>
                    </m:sSub>
                  </m:oMath>
                </a14:m>
                <a:r>
                  <a:rPr lang="en-US" sz="2900" i="0"/>
                  <a:t> - input (</a:t>
                </a:r>
                <a:r>
                  <a:rPr lang="en-US" sz="2900"/>
                  <a:t>10</a:t>
                </a:r>
                <a14:m>
                  <m:oMath xmlns:m="http://schemas.openxmlformats.org/officeDocument/2006/math">
                    <m:r>
                      <a:rPr lang="en-US" sz="2900" i="0">
                        <a:latin typeface="Cambria Math" panose="02040503050406030204" pitchFamily="18" charset="0"/>
                        <a:ea typeface="Cambria Math" panose="02040503050406030204" pitchFamily="18" charset="0"/>
                      </a:rPr>
                      <m:t>°</m:t>
                    </m:r>
                    <m:r>
                      <m:rPr>
                        <m:sty m:val="p"/>
                      </m:rPr>
                      <a:rPr lang="en-AU" sz="2900" b="0" i="0" smtClean="0">
                        <a:latin typeface="Cambria Math" panose="02040503050406030204" pitchFamily="18" charset="0"/>
                        <a:ea typeface="Cambria Math" panose="02040503050406030204" pitchFamily="18" charset="0"/>
                      </a:rPr>
                      <m:t>C</m:t>
                    </m:r>
                    <m:r>
                      <a:rPr lang="en-AU" sz="2900" i="0">
                        <a:latin typeface="Cambria Math" panose="02040503050406030204" pitchFamily="18" charset="0"/>
                        <a:ea typeface="Cambria Math" panose="02040503050406030204" pitchFamily="18" charset="0"/>
                      </a:rPr>
                      <m:t>)</m:t>
                    </m:r>
                  </m:oMath>
                </a14:m>
                <a:r>
                  <a:rPr lang="en-US" sz="2900" i="0"/>
                  <a:t>).</a:t>
                </a:r>
              </a:p>
              <a:p>
                <a:pPr marL="788670" lvl="1" indent="-285750">
                  <a:buFont typeface="Arial" panose="020B0604020202020204" pitchFamily="34" charset="0"/>
                  <a:buChar char="•"/>
                </a:pPr>
                <a:r>
                  <a:rPr lang="en-US" sz="2900" i="0"/>
                  <a:t>Lower zone between the Upper zone and the Ice Sheet/Concrete floor (</a:t>
                </a:r>
                <a14:m>
                  <m:oMath xmlns:m="http://schemas.openxmlformats.org/officeDocument/2006/math">
                    <m:sSub>
                      <m:sSubPr>
                        <m:ctrlPr>
                          <a:rPr lang="en-AU" sz="2900" b="0" i="1" smtClean="0">
                            <a:latin typeface="Cambria Math" panose="02040503050406030204" pitchFamily="18" charset="0"/>
                          </a:rPr>
                        </m:ctrlPr>
                      </m:sSubPr>
                      <m:e>
                        <m:r>
                          <m:rPr>
                            <m:sty m:val="p"/>
                          </m:rPr>
                          <a:rPr lang="en-AU" sz="2900" b="0" i="1" smtClean="0">
                            <a:latin typeface="Cambria Math" panose="02040503050406030204" pitchFamily="18" charset="0"/>
                          </a:rPr>
                          <m:t>T</m:t>
                        </m:r>
                      </m:e>
                      <m:sub>
                        <m:r>
                          <m:rPr>
                            <m:sty m:val="p"/>
                          </m:rPr>
                          <a:rPr lang="en-AU" sz="2900" b="0" i="1" smtClean="0">
                            <a:latin typeface="Cambria Math" panose="02040503050406030204" pitchFamily="18" charset="0"/>
                          </a:rPr>
                          <m:t>L</m:t>
                        </m:r>
                      </m:sub>
                    </m:sSub>
                  </m:oMath>
                </a14:m>
                <a:r>
                  <a:rPr lang="en-US" sz="2900" i="0"/>
                  <a:t> - Output).</a:t>
                </a:r>
              </a:p>
              <a:p>
                <a:pPr marL="788670" lvl="1" indent="-285750">
                  <a:buFont typeface="Arial" panose="020B0604020202020204" pitchFamily="34" charset="0"/>
                  <a:buChar char="•"/>
                </a:pPr>
                <a:r>
                  <a:rPr lang="en-US" sz="2900" i="0"/>
                  <a:t>Ice surface  (</a:t>
                </a:r>
                <a14:m>
                  <m:oMath xmlns:m="http://schemas.openxmlformats.org/officeDocument/2006/math">
                    <m:sSub>
                      <m:sSubPr>
                        <m:ctrlPr>
                          <a:rPr lang="en-AU" sz="2900" b="0" i="1" smtClean="0">
                            <a:latin typeface="Cambria Math" panose="02040503050406030204" pitchFamily="18" charset="0"/>
                          </a:rPr>
                        </m:ctrlPr>
                      </m:sSubPr>
                      <m:e>
                        <m:r>
                          <m:rPr>
                            <m:sty m:val="p"/>
                          </m:rPr>
                          <a:rPr lang="en-AU" sz="2900" b="0" i="1" smtClean="0">
                            <a:latin typeface="Cambria Math" panose="02040503050406030204" pitchFamily="18" charset="0"/>
                          </a:rPr>
                          <m:t>T</m:t>
                        </m:r>
                      </m:e>
                      <m:sub>
                        <m:r>
                          <m:rPr>
                            <m:sty m:val="p"/>
                          </m:rPr>
                          <a:rPr lang="en-AU" sz="2900" b="0" i="1" smtClean="0">
                            <a:latin typeface="Cambria Math" panose="02040503050406030204" pitchFamily="18" charset="0"/>
                          </a:rPr>
                          <m:t>Ice</m:t>
                        </m:r>
                      </m:sub>
                    </m:sSub>
                  </m:oMath>
                </a14:m>
                <a:r>
                  <a:rPr lang="en-US" sz="2900" i="0"/>
                  <a:t> - input (</a:t>
                </a:r>
                <a:r>
                  <a:rPr lang="en-US" sz="2900"/>
                  <a:t>-4</a:t>
                </a:r>
                <a14:m>
                  <m:oMath xmlns:m="http://schemas.openxmlformats.org/officeDocument/2006/math">
                    <m:r>
                      <a:rPr lang="en-US" sz="2900" i="0">
                        <a:latin typeface="Cambria Math" panose="02040503050406030204" pitchFamily="18" charset="0"/>
                        <a:ea typeface="Cambria Math" panose="02040503050406030204" pitchFamily="18" charset="0"/>
                      </a:rPr>
                      <m:t>°</m:t>
                    </m:r>
                    <m:r>
                      <m:rPr>
                        <m:sty m:val="p"/>
                      </m:rPr>
                      <a:rPr lang="en-AU" sz="2900" b="0" i="0" smtClean="0">
                        <a:latin typeface="Cambria Math" panose="02040503050406030204" pitchFamily="18" charset="0"/>
                        <a:ea typeface="Cambria Math" panose="02040503050406030204" pitchFamily="18" charset="0"/>
                      </a:rPr>
                      <m:t>C</m:t>
                    </m:r>
                    <m:r>
                      <a:rPr lang="en-AU" sz="2900" b="0" i="0" smtClean="0">
                        <a:latin typeface="Cambria Math" panose="02040503050406030204" pitchFamily="18" charset="0"/>
                        <a:ea typeface="Cambria Math" panose="02040503050406030204" pitchFamily="18" charset="0"/>
                      </a:rPr>
                      <m:t>)</m:t>
                    </m:r>
                  </m:oMath>
                </a14:m>
                <a:r>
                  <a:rPr lang="en-US" sz="2900" i="0"/>
                  <a:t>)</a:t>
                </a:r>
              </a:p>
              <a:p>
                <a:pPr marL="285750" indent="-285750">
                  <a:buFont typeface="Arial" panose="020B0604020202020204" pitchFamily="34" charset="0"/>
                  <a:buChar char="•"/>
                </a:pPr>
                <a:r>
                  <a:rPr lang="en-US" sz="2900"/>
                  <a:t>Output: Thermal power and  thermal energy the heating and refrigeration systems must handle (for heat supplied and removed, not electricity drawn)</a:t>
                </a:r>
              </a:p>
              <a:p>
                <a:endParaRPr lang="en-US"/>
              </a:p>
              <a:p>
                <a:endParaRPr lang="en-US"/>
              </a:p>
            </p:txBody>
          </p:sp>
        </mc:Choice>
        <mc:Fallback xmlns="">
          <p:sp>
            <p:nvSpPr>
              <p:cNvPr id="3" name="Content Placeholder 2">
                <a:extLst>
                  <a:ext uri="{FF2B5EF4-FFF2-40B4-BE49-F238E27FC236}">
                    <a16:creationId xmlns:a16="http://schemas.microsoft.com/office/drawing/2014/main" id="{D0B54859-96F0-FEC1-C780-A64B559A4857}"/>
                  </a:ext>
                </a:extLst>
              </p:cNvPr>
              <p:cNvSpPr>
                <a:spLocks noGrp="1" noRot="1" noChangeAspect="1" noMove="1" noResize="1" noEditPoints="1" noAdjustHandles="1" noChangeArrowheads="1" noChangeShapeType="1" noTextEdit="1"/>
              </p:cNvSpPr>
              <p:nvPr>
                <p:ph idx="1"/>
              </p:nvPr>
            </p:nvSpPr>
            <p:spPr>
              <a:xfrm>
                <a:off x="838200" y="2061470"/>
                <a:ext cx="10515600" cy="3319202"/>
              </a:xfrm>
              <a:blipFill>
                <a:blip r:embed="rId3"/>
                <a:stretch>
                  <a:fillRect l="-348" t="-1284"/>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0213592B-945F-3CC2-77AB-E2625484A8B3}"/>
              </a:ext>
            </a:extLst>
          </p:cNvPr>
          <p:cNvSpPr txBox="1"/>
          <p:nvPr/>
        </p:nvSpPr>
        <p:spPr>
          <a:xfrm>
            <a:off x="868932" y="4817968"/>
            <a:ext cx="5603637" cy="1415772"/>
          </a:xfrm>
          <a:prstGeom prst="rect">
            <a:avLst/>
          </a:prstGeom>
          <a:noFill/>
        </p:spPr>
        <p:txBody>
          <a:bodyPr wrap="square" rtlCol="0">
            <a:spAutoFit/>
          </a:bodyPr>
          <a:lstStyle/>
          <a:p>
            <a:r>
              <a:rPr lang="en-US" sz="1600" u="sng"/>
              <a:t>Why it Matters</a:t>
            </a:r>
            <a:endParaRPr lang="en-US" sz="1400" u="sng"/>
          </a:p>
          <a:p>
            <a:pPr marL="285750" indent="-285750">
              <a:buFont typeface="Arial" panose="020B0604020202020204" pitchFamily="34" charset="0"/>
              <a:buChar char="•"/>
            </a:pPr>
            <a:r>
              <a:rPr lang="en-US" sz="1400"/>
              <a:t>Rinks are energy-intensive buildings </a:t>
            </a:r>
          </a:p>
          <a:p>
            <a:pPr marL="285750" indent="-285750">
              <a:buFont typeface="Arial" panose="020B0604020202020204" pitchFamily="34" charset="0"/>
              <a:buChar char="•"/>
            </a:pPr>
            <a:r>
              <a:rPr lang="en-US" sz="1400"/>
              <a:t>A simple model gives estimates for sizing equipment (heating/refrigeration plant) and comparing design choices (building size/shape) </a:t>
            </a:r>
          </a:p>
          <a:p>
            <a:pPr marL="285750" indent="-285750">
              <a:buFont typeface="Arial" panose="020B0604020202020204" pitchFamily="34" charset="0"/>
              <a:buChar char="•"/>
            </a:pPr>
            <a:r>
              <a:rPr lang="en-US" sz="1400"/>
              <a:t>It shows which parameters drive the load. </a:t>
            </a:r>
          </a:p>
        </p:txBody>
      </p:sp>
      <p:pic>
        <p:nvPicPr>
          <p:cNvPr id="6" name="Picture 5">
            <a:extLst>
              <a:ext uri="{FF2B5EF4-FFF2-40B4-BE49-F238E27FC236}">
                <a16:creationId xmlns:a16="http://schemas.microsoft.com/office/drawing/2014/main" id="{7E388A19-3DA1-BD9B-C883-E7283F62DA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85397" y="4646363"/>
            <a:ext cx="4728088" cy="2187956"/>
          </a:xfrm>
          <a:prstGeom prst="rect">
            <a:avLst/>
          </a:prstGeom>
        </p:spPr>
      </p:pic>
    </p:spTree>
    <p:extLst>
      <p:ext uri="{BB962C8B-B14F-4D97-AF65-F5344CB8AC3E}">
        <p14:creationId xmlns:p14="http://schemas.microsoft.com/office/powerpoint/2010/main" val="12345679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08905-39EC-DE29-F5F6-E8FCE61B6293}"/>
              </a:ext>
            </a:extLst>
          </p:cNvPr>
          <p:cNvSpPr>
            <a:spLocks noGrp="1"/>
          </p:cNvSpPr>
          <p:nvPr>
            <p:ph type="title"/>
          </p:nvPr>
        </p:nvSpPr>
        <p:spPr/>
        <p:txBody>
          <a:bodyPr/>
          <a:lstStyle/>
          <a:p>
            <a:r>
              <a:rPr lang="en-US">
                <a:ea typeface="+mj-lt"/>
                <a:cs typeface="+mj-lt"/>
              </a:rPr>
              <a:t>Problem Statement and Objectives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FE76DB-0BAA-58E7-086A-90483C38112C}"/>
                  </a:ext>
                </a:extLst>
              </p:cNvPr>
              <p:cNvSpPr>
                <a:spLocks noGrp="1"/>
              </p:cNvSpPr>
              <p:nvPr>
                <p:ph idx="1"/>
              </p:nvPr>
            </p:nvSpPr>
            <p:spPr/>
            <p:txBody>
              <a:bodyPr/>
              <a:lstStyle/>
              <a:p>
                <a:r>
                  <a:rPr lang="en-AU" sz="2400"/>
                  <a:t>What is the thermal energy consumption of an ice rink?</a:t>
                </a:r>
              </a:p>
              <a:p>
                <a:r>
                  <a:rPr lang="en-AU" sz="2400" u="sng"/>
                  <a:t>Objectives</a:t>
                </a:r>
                <a:endParaRPr lang="en-AU" u="sng"/>
              </a:p>
              <a:p>
                <a:pPr marL="342900" indent="-342900">
                  <a:buFont typeface="+mj-lt"/>
                  <a:buAutoNum type="arabicPeriod"/>
                </a:pPr>
                <a:r>
                  <a:rPr lang="en-AU" sz="2000"/>
                  <a:t>Develop a lumped two-zone steady-state energy model of the ice rink</a:t>
                </a:r>
              </a:p>
              <a:p>
                <a:pPr marL="342900" indent="-342900">
                  <a:buFont typeface="+mj-lt"/>
                  <a:buAutoNum type="arabicPeriod"/>
                </a:pPr>
                <a:r>
                  <a:rPr lang="en-AU" sz="2000"/>
                  <a:t>Formulate and analyse the governing equations relevant to the system scope</a:t>
                </a:r>
              </a:p>
              <a:p>
                <a:pPr marL="342900" indent="-342900">
                  <a:buFont typeface="+mj-lt"/>
                  <a:buAutoNum type="arabicPeriod"/>
                </a:pPr>
                <a:r>
                  <a:rPr lang="en-AU" sz="2000"/>
                  <a:t>Obtain analytical solutions for the lower zone temperature </a:t>
                </a:r>
                <a14:m>
                  <m:oMath xmlns:m="http://schemas.openxmlformats.org/officeDocument/2006/math">
                    <m:sSub>
                      <m:sSubPr>
                        <m:ctrlPr>
                          <a:rPr lang="en-AU" sz="2000" b="0" i="1" smtClean="0">
                            <a:latin typeface="Cambria Math" panose="02040503050406030204" pitchFamily="18" charset="0"/>
                          </a:rPr>
                        </m:ctrlPr>
                      </m:sSubPr>
                      <m:e>
                        <m:r>
                          <a:rPr lang="en-AU" sz="2000" b="0" i="1" smtClean="0">
                            <a:latin typeface="Cambria Math" panose="02040503050406030204" pitchFamily="18" charset="0"/>
                          </a:rPr>
                          <m:t>𝑇</m:t>
                        </m:r>
                      </m:e>
                      <m:sub>
                        <m:r>
                          <a:rPr lang="en-AU" sz="2000" b="0" i="1" smtClean="0">
                            <a:latin typeface="Cambria Math" panose="02040503050406030204" pitchFamily="18" charset="0"/>
                          </a:rPr>
                          <m:t>𝐿</m:t>
                        </m:r>
                      </m:sub>
                    </m:sSub>
                  </m:oMath>
                </a14:m>
                <a:r>
                  <a:rPr lang="en-AU" sz="2000"/>
                  <a:t>, required cooling </a:t>
                </a:r>
                <a14:m>
                  <m:oMath xmlns:m="http://schemas.openxmlformats.org/officeDocument/2006/math">
                    <m:sSub>
                      <m:sSubPr>
                        <m:ctrlPr>
                          <a:rPr lang="en-AU" sz="2000" b="0" i="1" smtClean="0">
                            <a:latin typeface="Cambria Math" panose="02040503050406030204" pitchFamily="18" charset="0"/>
                          </a:rPr>
                        </m:ctrlPr>
                      </m:sSubPr>
                      <m:e>
                        <m:acc>
                          <m:accPr>
                            <m:chr m:val="̇"/>
                            <m:ctrlPr>
                              <a:rPr lang="en-AU" sz="2000" b="0" i="1" smtClean="0">
                                <a:latin typeface="Cambria Math" panose="02040503050406030204" pitchFamily="18" charset="0"/>
                              </a:rPr>
                            </m:ctrlPr>
                          </m:accPr>
                          <m:e>
                            <m:r>
                              <a:rPr lang="en-AU" sz="2000" b="0" i="1" smtClean="0">
                                <a:latin typeface="Cambria Math" panose="02040503050406030204" pitchFamily="18" charset="0"/>
                              </a:rPr>
                              <m:t>𝑄</m:t>
                            </m:r>
                          </m:e>
                        </m:acc>
                      </m:e>
                      <m:sub>
                        <m:r>
                          <m:rPr>
                            <m:sty m:val="p"/>
                          </m:rPr>
                          <a:rPr lang="en-AU" sz="2000" b="0" i="1" smtClean="0">
                            <a:latin typeface="Cambria Math" panose="02040503050406030204" pitchFamily="18" charset="0"/>
                          </a:rPr>
                          <m:t>C</m:t>
                        </m:r>
                      </m:sub>
                    </m:sSub>
                  </m:oMath>
                </a14:m>
                <a:r>
                  <a:rPr lang="en-AU" sz="2000"/>
                  <a:t> and required thermal equalisation of the upper zone </a:t>
                </a:r>
                <a14:m>
                  <m:oMath xmlns:m="http://schemas.openxmlformats.org/officeDocument/2006/math">
                    <m:sSub>
                      <m:sSubPr>
                        <m:ctrlPr>
                          <a:rPr lang="en-AU" sz="2000" b="0" i="1" smtClean="0">
                            <a:latin typeface="Cambria Math" panose="02040503050406030204" pitchFamily="18" charset="0"/>
                          </a:rPr>
                        </m:ctrlPr>
                      </m:sSubPr>
                      <m:e>
                        <m:acc>
                          <m:accPr>
                            <m:chr m:val="̇"/>
                            <m:ctrlPr>
                              <a:rPr lang="en-AU" sz="2000" b="0" i="1" smtClean="0">
                                <a:latin typeface="Cambria Math" panose="02040503050406030204" pitchFamily="18" charset="0"/>
                              </a:rPr>
                            </m:ctrlPr>
                          </m:accPr>
                          <m:e>
                            <m:r>
                              <a:rPr lang="en-AU" sz="2000" b="0" i="1" smtClean="0">
                                <a:latin typeface="Cambria Math" panose="02040503050406030204" pitchFamily="18" charset="0"/>
                              </a:rPr>
                              <m:t>𝑄</m:t>
                            </m:r>
                          </m:e>
                        </m:acc>
                      </m:e>
                      <m:sub>
                        <m:r>
                          <m:rPr>
                            <m:sty m:val="p"/>
                          </m:rPr>
                          <a:rPr lang="en-AU" sz="2000" b="0" i="1" smtClean="0">
                            <a:latin typeface="Cambria Math" panose="02040503050406030204" pitchFamily="18" charset="0"/>
                          </a:rPr>
                          <m:t>U</m:t>
                        </m:r>
                      </m:sub>
                    </m:sSub>
                    <m:r>
                      <a:rPr lang="en-AU" sz="2000" b="0" i="1" smtClean="0">
                        <a:latin typeface="Cambria Math" panose="02040503050406030204" pitchFamily="18" charset="0"/>
                      </a:rPr>
                      <m:t> </m:t>
                    </m:r>
                  </m:oMath>
                </a14:m>
                <a:endParaRPr lang="en-AU" sz="2000"/>
              </a:p>
              <a:p>
                <a:pPr marL="342900" indent="-342900">
                  <a:buFont typeface="+mj-lt"/>
                  <a:buAutoNum type="arabicPeriod"/>
                </a:pPr>
                <a:r>
                  <a:rPr lang="en-AU" sz="2000"/>
                  <a:t>Complete sensitivity analysis on parameters of the </a:t>
                </a:r>
                <a14:m>
                  <m:oMath xmlns:m="http://schemas.openxmlformats.org/officeDocument/2006/math">
                    <m:sSub>
                      <m:sSubPr>
                        <m:ctrlPr>
                          <a:rPr lang="en-AU" sz="2000" i="1">
                            <a:latin typeface="Cambria Math" panose="02040503050406030204" pitchFamily="18" charset="0"/>
                          </a:rPr>
                        </m:ctrlPr>
                      </m:sSubPr>
                      <m:e>
                        <m:acc>
                          <m:accPr>
                            <m:chr m:val="̇"/>
                            <m:ctrlPr>
                              <a:rPr lang="en-AU" sz="2000" i="1">
                                <a:latin typeface="Cambria Math" panose="02040503050406030204" pitchFamily="18" charset="0"/>
                              </a:rPr>
                            </m:ctrlPr>
                          </m:accPr>
                          <m:e>
                            <m:r>
                              <a:rPr lang="en-AU" sz="2000" i="1">
                                <a:latin typeface="Cambria Math" panose="02040503050406030204" pitchFamily="18" charset="0"/>
                              </a:rPr>
                              <m:t>𝑄</m:t>
                            </m:r>
                          </m:e>
                        </m:acc>
                      </m:e>
                      <m:sub>
                        <m:r>
                          <m:rPr>
                            <m:sty m:val="p"/>
                          </m:rPr>
                          <a:rPr lang="en-AU" sz="2000" b="0" i="1" smtClean="0">
                            <a:latin typeface="Cambria Math" panose="02040503050406030204" pitchFamily="18" charset="0"/>
                          </a:rPr>
                          <m:t>U</m:t>
                        </m:r>
                      </m:sub>
                    </m:sSub>
                  </m:oMath>
                </a14:m>
                <a:r>
                  <a:rPr lang="en-AU" sz="2000"/>
                  <a:t> and </a:t>
                </a:r>
                <a14:m>
                  <m:oMath xmlns:m="http://schemas.openxmlformats.org/officeDocument/2006/math">
                    <m:sSub>
                      <m:sSubPr>
                        <m:ctrlPr>
                          <a:rPr lang="en-AU" sz="2000" i="1">
                            <a:latin typeface="Cambria Math" panose="02040503050406030204" pitchFamily="18" charset="0"/>
                          </a:rPr>
                        </m:ctrlPr>
                      </m:sSubPr>
                      <m:e>
                        <m:acc>
                          <m:accPr>
                            <m:chr m:val="̇"/>
                            <m:ctrlPr>
                              <a:rPr lang="en-AU" sz="2000" i="1">
                                <a:latin typeface="Cambria Math" panose="02040503050406030204" pitchFamily="18" charset="0"/>
                              </a:rPr>
                            </m:ctrlPr>
                          </m:accPr>
                          <m:e>
                            <m:r>
                              <a:rPr lang="en-AU" sz="2000" i="1">
                                <a:latin typeface="Cambria Math" panose="02040503050406030204" pitchFamily="18" charset="0"/>
                              </a:rPr>
                              <m:t>𝑄</m:t>
                            </m:r>
                          </m:e>
                        </m:acc>
                      </m:e>
                      <m:sub>
                        <m:r>
                          <a:rPr lang="en-AU" sz="2000" b="0" i="1" smtClean="0">
                            <a:latin typeface="Cambria Math" panose="02040503050406030204" pitchFamily="18" charset="0"/>
                          </a:rPr>
                          <m:t>𝐶</m:t>
                        </m:r>
                      </m:sub>
                    </m:sSub>
                  </m:oMath>
                </a14:m>
                <a:r>
                  <a:rPr lang="en-AU" sz="2000"/>
                  <a:t> equations</a:t>
                </a:r>
              </a:p>
              <a:p>
                <a:pPr marL="342900" indent="-342900">
                  <a:buFont typeface="+mj-lt"/>
                  <a:buAutoNum type="arabicPeriod"/>
                </a:pPr>
                <a:r>
                  <a:rPr lang="en-AU" sz="2000"/>
                  <a:t>Compare total thermal energy requirements to published data</a:t>
                </a:r>
              </a:p>
              <a:p>
                <a:endParaRPr lang="en-AU"/>
              </a:p>
            </p:txBody>
          </p:sp>
        </mc:Choice>
        <mc:Fallback xmlns="">
          <p:sp>
            <p:nvSpPr>
              <p:cNvPr id="3" name="Content Placeholder 2">
                <a:extLst>
                  <a:ext uri="{FF2B5EF4-FFF2-40B4-BE49-F238E27FC236}">
                    <a16:creationId xmlns:a16="http://schemas.microsoft.com/office/drawing/2014/main" id="{01FE76DB-0BAA-58E7-086A-90483C38112C}"/>
                  </a:ext>
                </a:extLst>
              </p:cNvPr>
              <p:cNvSpPr>
                <a:spLocks noGrp="1" noRot="1" noChangeAspect="1" noMove="1" noResize="1" noEditPoints="1" noAdjustHandles="1" noChangeArrowheads="1" noChangeShapeType="1" noTextEdit="1"/>
              </p:cNvSpPr>
              <p:nvPr>
                <p:ph idx="1"/>
              </p:nvPr>
            </p:nvSpPr>
            <p:spPr>
              <a:blipFill>
                <a:blip r:embed="rId3"/>
                <a:stretch>
                  <a:fillRect l="-928" t="-741" r="-58"/>
                </a:stretch>
              </a:blipFill>
            </p:spPr>
            <p:txBody>
              <a:bodyPr/>
              <a:lstStyle/>
              <a:p>
                <a:r>
                  <a:rPr lang="en-US">
                    <a:noFill/>
                  </a:rPr>
                  <a:t> </a:t>
                </a:r>
              </a:p>
            </p:txBody>
          </p:sp>
        </mc:Fallback>
      </mc:AlternateContent>
    </p:spTree>
    <p:extLst>
      <p:ext uri="{BB962C8B-B14F-4D97-AF65-F5344CB8AC3E}">
        <p14:creationId xmlns:p14="http://schemas.microsoft.com/office/powerpoint/2010/main" val="637912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7617F-C4C5-A94A-A1F4-F7A76AD66CB5}"/>
              </a:ext>
            </a:extLst>
          </p:cNvPr>
          <p:cNvSpPr>
            <a:spLocks noGrp="1"/>
          </p:cNvSpPr>
          <p:nvPr>
            <p:ph type="title"/>
          </p:nvPr>
        </p:nvSpPr>
        <p:spPr/>
        <p:txBody>
          <a:bodyPr/>
          <a:lstStyle/>
          <a:p>
            <a:r>
              <a:rPr lang="en-US"/>
              <a:t>Physical System and Assumptions</a:t>
            </a:r>
          </a:p>
        </p:txBody>
      </p:sp>
      <p:sp>
        <p:nvSpPr>
          <p:cNvPr id="3" name="Content Placeholder 2">
            <a:extLst>
              <a:ext uri="{FF2B5EF4-FFF2-40B4-BE49-F238E27FC236}">
                <a16:creationId xmlns:a16="http://schemas.microsoft.com/office/drawing/2014/main" id="{74EC96E2-F071-255D-F554-97E9078C9DAF}"/>
              </a:ext>
            </a:extLst>
          </p:cNvPr>
          <p:cNvSpPr>
            <a:spLocks noGrp="1"/>
          </p:cNvSpPr>
          <p:nvPr>
            <p:ph idx="1"/>
          </p:nvPr>
        </p:nvSpPr>
        <p:spPr/>
        <p:txBody>
          <a:bodyPr/>
          <a:lstStyle/>
          <a:p>
            <a:r>
              <a:rPr lang="en-AU" u="sng"/>
              <a:t>Assumptions</a:t>
            </a:r>
            <a:endParaRPr lang="en-AU" sz="1600" u="sng"/>
          </a:p>
          <a:p>
            <a:pPr marL="285750" indent="-285750">
              <a:buFont typeface="Arial" panose="020B0604020202020204" pitchFamily="34" charset="0"/>
              <a:buChar char="•"/>
            </a:pPr>
            <a:r>
              <a:rPr lang="en-AU" sz="1600"/>
              <a:t>Uniform air and surface temperatures</a:t>
            </a:r>
          </a:p>
          <a:p>
            <a:pPr marL="285750" indent="-285750">
              <a:buFont typeface="Arial" panose="020B0604020202020204" pitchFamily="34" charset="0"/>
              <a:buChar char="•"/>
            </a:pPr>
            <a:r>
              <a:rPr lang="en-AU" sz="1600"/>
              <a:t>Steady state</a:t>
            </a:r>
          </a:p>
          <a:p>
            <a:pPr marL="285750" indent="-285750">
              <a:buFont typeface="Arial" panose="020B0604020202020204" pitchFamily="34" charset="0"/>
              <a:buChar char="•"/>
            </a:pPr>
            <a:r>
              <a:rPr lang="en-AU" sz="1600"/>
              <a:t>No occupant, humidity or radiation effects</a:t>
            </a:r>
          </a:p>
          <a:p>
            <a:pPr marL="285750" indent="-285750">
              <a:buFont typeface="Arial" panose="020B0604020202020204" pitchFamily="34" charset="0"/>
              <a:buChar char="•"/>
            </a:pPr>
            <a:r>
              <a:rPr lang="en-AU" sz="1600"/>
              <a:t>Closed system</a:t>
            </a:r>
          </a:p>
          <a:p>
            <a:pPr marL="285750" indent="-285750">
              <a:buFont typeface="Arial" panose="020B0604020202020204" pitchFamily="34" charset="0"/>
              <a:buChar char="•"/>
            </a:pPr>
            <a:r>
              <a:rPr lang="en-AU" sz="1600"/>
              <a:t>Lower zone/environment is negligible</a:t>
            </a:r>
          </a:p>
          <a:p>
            <a:pPr marL="285750" indent="-285750">
              <a:buFont typeface="Arial" panose="020B0604020202020204" pitchFamily="34" charset="0"/>
              <a:buChar char="•"/>
            </a:pPr>
            <a:r>
              <a:rPr lang="en-US" sz="1600"/>
              <a:t>Upper zone reverse-cycle air conditioner</a:t>
            </a:r>
          </a:p>
        </p:txBody>
      </p:sp>
      <p:pic>
        <p:nvPicPr>
          <p:cNvPr id="4" name="Picture 3">
            <a:extLst>
              <a:ext uri="{FF2B5EF4-FFF2-40B4-BE49-F238E27FC236}">
                <a16:creationId xmlns:a16="http://schemas.microsoft.com/office/drawing/2014/main" id="{89ACD0A4-B6D6-EF4F-E9E9-DDBF834AA3D5}"/>
              </a:ext>
            </a:extLst>
          </p:cNvPr>
          <p:cNvPicPr>
            <a:picLocks noChangeAspect="1"/>
          </p:cNvPicPr>
          <p:nvPr/>
        </p:nvPicPr>
        <p:blipFill>
          <a:blip r:embed="rId3"/>
          <a:stretch>
            <a:fillRect/>
          </a:stretch>
        </p:blipFill>
        <p:spPr>
          <a:xfrm>
            <a:off x="5089263" y="2582250"/>
            <a:ext cx="6993018" cy="3690760"/>
          </a:xfrm>
          <a:prstGeom prst="rect">
            <a:avLst/>
          </a:prstGeom>
        </p:spPr>
      </p:pic>
    </p:spTree>
    <p:extLst>
      <p:ext uri="{BB962C8B-B14F-4D97-AF65-F5344CB8AC3E}">
        <p14:creationId xmlns:p14="http://schemas.microsoft.com/office/powerpoint/2010/main" val="3055582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F9B61-3688-C3C6-6D1F-6E2D97F61010}"/>
              </a:ext>
            </a:extLst>
          </p:cNvPr>
          <p:cNvSpPr>
            <a:spLocks noGrp="1"/>
          </p:cNvSpPr>
          <p:nvPr>
            <p:ph type="title"/>
          </p:nvPr>
        </p:nvSpPr>
        <p:spPr/>
        <p:txBody>
          <a:bodyPr/>
          <a:lstStyle/>
          <a:p>
            <a:r>
              <a:rPr lang="en-US">
                <a:ea typeface="+mj-lt"/>
                <a:cs typeface="+mj-lt"/>
              </a:rPr>
              <a:t>Mathematical Model</a:t>
            </a:r>
            <a:endParaRPr lang="en-US"/>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BB51DB04-D926-657E-3905-007E7D0CCCFE}"/>
                  </a:ext>
                </a:extLst>
              </p:cNvPr>
              <p:cNvGraphicFramePr>
                <a:graphicFrameLocks noGrp="1"/>
              </p:cNvGraphicFramePr>
              <p:nvPr>
                <p:extLst>
                  <p:ext uri="{D42A27DB-BD31-4B8C-83A1-F6EECF244321}">
                    <p14:modId xmlns:p14="http://schemas.microsoft.com/office/powerpoint/2010/main" val="2522520449"/>
                  </p:ext>
                </p:extLst>
              </p:nvPr>
            </p:nvGraphicFramePr>
            <p:xfrm>
              <a:off x="533400" y="1967688"/>
              <a:ext cx="5782733" cy="2225040"/>
            </p:xfrm>
            <a:graphic>
              <a:graphicData uri="http://schemas.openxmlformats.org/drawingml/2006/table">
                <a:tbl>
                  <a:tblPr firstRow="1" bandRow="1">
                    <a:tableStyleId>{5C22544A-7EE6-4342-B048-85BDC9FD1C3A}</a:tableStyleId>
                  </a:tblPr>
                  <a:tblGrid>
                    <a:gridCol w="2675626">
                      <a:extLst>
                        <a:ext uri="{9D8B030D-6E8A-4147-A177-3AD203B41FA5}">
                          <a16:colId xmlns:a16="http://schemas.microsoft.com/office/drawing/2014/main" val="1535842504"/>
                        </a:ext>
                      </a:extLst>
                    </a:gridCol>
                    <a:gridCol w="1667774">
                      <a:extLst>
                        <a:ext uri="{9D8B030D-6E8A-4147-A177-3AD203B41FA5}">
                          <a16:colId xmlns:a16="http://schemas.microsoft.com/office/drawing/2014/main" val="37891492"/>
                        </a:ext>
                      </a:extLst>
                    </a:gridCol>
                    <a:gridCol w="1439333">
                      <a:extLst>
                        <a:ext uri="{9D8B030D-6E8A-4147-A177-3AD203B41FA5}">
                          <a16:colId xmlns:a16="http://schemas.microsoft.com/office/drawing/2014/main" val="3576808361"/>
                        </a:ext>
                      </a:extLst>
                    </a:gridCol>
                  </a:tblGrid>
                  <a:tr h="370840">
                    <a:tc>
                      <a:txBody>
                        <a:bodyPr/>
                        <a:lstStyle/>
                        <a:p>
                          <a:r>
                            <a:rPr lang="en-AU" b="0" i="1">
                              <a:solidFill>
                                <a:schemeClr val="tx1"/>
                              </a:solidFill>
                            </a:rPr>
                            <a:t>Zone/Surface</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AU" b="0" i="1">
                              <a:solidFill>
                                <a:schemeClr val="tx1"/>
                              </a:solidFill>
                            </a:rPr>
                            <a:t>Temperature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AU" b="0" i="1">
                              <a:solidFill>
                                <a:schemeClr val="tx1"/>
                              </a:solidFill>
                            </a:rPr>
                            <a:t>Area</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8808371"/>
                      </a:ext>
                    </a:extLst>
                  </a:tr>
                  <a:tr h="370840">
                    <a:tc>
                      <a:txBody>
                        <a:bodyPr/>
                        <a:lstStyle/>
                        <a:p>
                          <a:r>
                            <a:rPr lang="en-AU"/>
                            <a:t>Upper Zone</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𝑇</m:t>
                                    </m:r>
                                  </m:e>
                                  <m:sub>
                                    <m:r>
                                      <a:rPr lang="en-AU" b="0" i="1" smtClean="0">
                                        <a:latin typeface="Cambria Math" panose="02040503050406030204" pitchFamily="18" charset="0"/>
                                      </a:rPr>
                                      <m:t>𝑈</m:t>
                                    </m:r>
                                  </m:sub>
                                </m:sSub>
                              </m:oMath>
                            </m:oMathPara>
                          </a14:m>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
                                <m:sSub>
                                  <m:sSubPr>
                                    <m:ctrlPr>
                                      <a:rPr lang="en-AU" b="0"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𝑈</m:t>
                                    </m:r>
                                  </m:sub>
                                </m:sSub>
                              </m:oMath>
                            </m:oMathPara>
                          </a14:m>
                          <a:endParaRPr lang="en-AU"/>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2819280"/>
                      </a:ext>
                    </a:extLst>
                  </a:tr>
                  <a:tr h="370840">
                    <a:tc>
                      <a:txBody>
                        <a:bodyPr/>
                        <a:lstStyle/>
                        <a:p>
                          <a:r>
                            <a:rPr lang="en-AU"/>
                            <a:t>Lower Zone</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𝑇</m:t>
                                    </m:r>
                                  </m:e>
                                  <m:sub>
                                    <m:r>
                                      <a:rPr lang="en-AU" b="0" i="1" smtClean="0">
                                        <a:latin typeface="Cambria Math" panose="02040503050406030204" pitchFamily="18" charset="0"/>
                                      </a:rPr>
                                      <m:t>𝐿</m:t>
                                    </m:r>
                                  </m:sub>
                                </m:sSub>
                              </m:oMath>
                            </m:oMathPara>
                          </a14:m>
                          <a:endParaRPr lang="en-AU"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
                                <m:sSub>
                                  <m:sSubPr>
                                    <m:ctrlPr>
                                      <a:rPr lang="en-AU" b="0"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𝐿</m:t>
                                    </m:r>
                                  </m:sub>
                                </m:sSub>
                              </m:oMath>
                            </m:oMathPara>
                          </a14:m>
                          <a:endParaRPr lang="en-AU"/>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3874092"/>
                      </a:ext>
                    </a:extLst>
                  </a:tr>
                  <a:tr h="370840">
                    <a:tc>
                      <a:txBody>
                        <a:bodyPr/>
                        <a:lstStyle/>
                        <a:p>
                          <a:r>
                            <a:rPr lang="en-AU"/>
                            <a:t>Envelope/Environment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𝑇</m:t>
                                    </m:r>
                                  </m:e>
                                  <m:sub>
                                    <m:r>
                                      <a:rPr lang="en-AU" b="0" i="1" smtClean="0">
                                        <a:latin typeface="Cambria Math" panose="02040503050406030204" pitchFamily="18" charset="0"/>
                                      </a:rPr>
                                      <m:t>𝐸𝑛𝑣</m:t>
                                    </m:r>
                                  </m:sub>
                                </m:sSub>
                              </m:oMath>
                            </m:oMathPara>
                          </a14:m>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
                                <m:sSub>
                                  <m:sSubPr>
                                    <m:ctrlPr>
                                      <a:rPr lang="en-AU" b="0"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𝐸𝑛𝑣</m:t>
                                    </m:r>
                                  </m:sub>
                                </m:sSub>
                              </m:oMath>
                            </m:oMathPara>
                          </a14:m>
                          <a:endParaRPr lang="en-AU"/>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5060609"/>
                      </a:ext>
                    </a:extLst>
                  </a:tr>
                  <a:tr h="370840">
                    <a:tc>
                      <a:txBody>
                        <a:bodyPr/>
                        <a:lstStyle/>
                        <a:p>
                          <a:r>
                            <a:rPr lang="en-AU"/>
                            <a:t>Ice Rink/Floor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𝑇</m:t>
                                    </m:r>
                                  </m:e>
                                  <m:sub>
                                    <m:r>
                                      <a:rPr lang="en-AU" b="0" i="1" smtClean="0">
                                        <a:latin typeface="Cambria Math" panose="02040503050406030204" pitchFamily="18" charset="0"/>
                                      </a:rPr>
                                      <m:t>𝐼𝑐𝑒</m:t>
                                    </m:r>
                                  </m:sub>
                                </m:sSub>
                              </m:oMath>
                            </m:oMathPara>
                          </a14:m>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
                                <m:sSub>
                                  <m:sSubPr>
                                    <m:ctrlPr>
                                      <a:rPr lang="en-AU" b="0"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𝐼𝑐𝑒</m:t>
                                    </m:r>
                                  </m:sub>
                                </m:sSub>
                              </m:oMath>
                            </m:oMathPara>
                          </a14:m>
                          <a:endParaRPr lang="en-AU"/>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7482001"/>
                      </a:ext>
                    </a:extLst>
                  </a:tr>
                  <a:tr h="370840">
                    <a:tc>
                      <a:txBody>
                        <a:bodyPr/>
                        <a:lstStyle/>
                        <a:p>
                          <a:r>
                            <a:rPr lang="en-AU"/>
                            <a:t>Concrete Flooring</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𝑇</m:t>
                                    </m:r>
                                  </m:e>
                                  <m:sub>
                                    <m:r>
                                      <a:rPr lang="en-AU" b="0" i="1" smtClean="0">
                                        <a:latin typeface="Cambria Math" panose="02040503050406030204" pitchFamily="18" charset="0"/>
                                      </a:rPr>
                                      <m:t>𝐹𝑙𝑜𝑜𝑟</m:t>
                                    </m:r>
                                  </m:sub>
                                </m:sSub>
                              </m:oMath>
                            </m:oMathPara>
                          </a14:m>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
                                <m:sSub>
                                  <m:sSubPr>
                                    <m:ctrlPr>
                                      <a:rPr lang="en-AU" b="0"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𝐹𝑙𝑜𝑜𝑟</m:t>
                                    </m:r>
                                  </m:sub>
                                </m:sSub>
                              </m:oMath>
                            </m:oMathPara>
                          </a14:m>
                          <a:endParaRPr lang="en-AU"/>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1115255"/>
                      </a:ext>
                    </a:extLst>
                  </a:tr>
                </a:tbl>
              </a:graphicData>
            </a:graphic>
          </p:graphicFrame>
        </mc:Choice>
        <mc:Fallback xmlns="">
          <p:graphicFrame>
            <p:nvGraphicFramePr>
              <p:cNvPr id="4" name="Table 3">
                <a:extLst>
                  <a:ext uri="{FF2B5EF4-FFF2-40B4-BE49-F238E27FC236}">
                    <a16:creationId xmlns:a16="http://schemas.microsoft.com/office/drawing/2014/main" id="{BB51DB04-D926-657E-3905-007E7D0CCCFE}"/>
                  </a:ext>
                </a:extLst>
              </p:cNvPr>
              <p:cNvGraphicFramePr>
                <a:graphicFrameLocks noGrp="1"/>
              </p:cNvGraphicFramePr>
              <p:nvPr>
                <p:extLst>
                  <p:ext uri="{D42A27DB-BD31-4B8C-83A1-F6EECF244321}">
                    <p14:modId xmlns:p14="http://schemas.microsoft.com/office/powerpoint/2010/main" val="2522520449"/>
                  </p:ext>
                </p:extLst>
              </p:nvPr>
            </p:nvGraphicFramePr>
            <p:xfrm>
              <a:off x="533400" y="1967688"/>
              <a:ext cx="5782733" cy="2225040"/>
            </p:xfrm>
            <a:graphic>
              <a:graphicData uri="http://schemas.openxmlformats.org/drawingml/2006/table">
                <a:tbl>
                  <a:tblPr firstRow="1" bandRow="1">
                    <a:tableStyleId>{5C22544A-7EE6-4342-B048-85BDC9FD1C3A}</a:tableStyleId>
                  </a:tblPr>
                  <a:tblGrid>
                    <a:gridCol w="2675626">
                      <a:extLst>
                        <a:ext uri="{9D8B030D-6E8A-4147-A177-3AD203B41FA5}">
                          <a16:colId xmlns:a16="http://schemas.microsoft.com/office/drawing/2014/main" val="1535842504"/>
                        </a:ext>
                      </a:extLst>
                    </a:gridCol>
                    <a:gridCol w="1667774">
                      <a:extLst>
                        <a:ext uri="{9D8B030D-6E8A-4147-A177-3AD203B41FA5}">
                          <a16:colId xmlns:a16="http://schemas.microsoft.com/office/drawing/2014/main" val="37891492"/>
                        </a:ext>
                      </a:extLst>
                    </a:gridCol>
                    <a:gridCol w="1439333">
                      <a:extLst>
                        <a:ext uri="{9D8B030D-6E8A-4147-A177-3AD203B41FA5}">
                          <a16:colId xmlns:a16="http://schemas.microsoft.com/office/drawing/2014/main" val="3576808361"/>
                        </a:ext>
                      </a:extLst>
                    </a:gridCol>
                  </a:tblGrid>
                  <a:tr h="370840">
                    <a:tc>
                      <a:txBody>
                        <a:bodyPr/>
                        <a:lstStyle/>
                        <a:p>
                          <a:r>
                            <a:rPr lang="en-AU" b="0" i="1">
                              <a:solidFill>
                                <a:schemeClr val="tx1"/>
                              </a:solidFill>
                            </a:rPr>
                            <a:t>Zone/Surface</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AU" b="0" i="1">
                              <a:solidFill>
                                <a:schemeClr val="tx1"/>
                              </a:solidFill>
                            </a:rPr>
                            <a:t>Temperature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AU" b="0" i="1">
                              <a:solidFill>
                                <a:schemeClr val="tx1"/>
                              </a:solidFill>
                            </a:rPr>
                            <a:t>Area</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8808371"/>
                      </a:ext>
                    </a:extLst>
                  </a:tr>
                  <a:tr h="370840">
                    <a:tc>
                      <a:txBody>
                        <a:bodyPr/>
                        <a:lstStyle/>
                        <a:p>
                          <a:r>
                            <a:rPr lang="en-AU"/>
                            <a:t>Upper Zone</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60584" t="-108197" r="-86496" b="-4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02542" t="-108197" r="-424" b="-424590"/>
                          </a:stretch>
                        </a:blipFill>
                      </a:tcPr>
                    </a:tc>
                    <a:extLst>
                      <a:ext uri="{0D108BD9-81ED-4DB2-BD59-A6C34878D82A}">
                        <a16:rowId xmlns:a16="http://schemas.microsoft.com/office/drawing/2014/main" val="942819280"/>
                      </a:ext>
                    </a:extLst>
                  </a:tr>
                  <a:tr h="370840">
                    <a:tc>
                      <a:txBody>
                        <a:bodyPr/>
                        <a:lstStyle/>
                        <a:p>
                          <a:r>
                            <a:rPr lang="en-AU"/>
                            <a:t>Lower Zone</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60584" t="-208197" r="-86496" b="-3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02542" t="-208197" r="-424" b="-324590"/>
                          </a:stretch>
                        </a:blipFill>
                      </a:tcPr>
                    </a:tc>
                    <a:extLst>
                      <a:ext uri="{0D108BD9-81ED-4DB2-BD59-A6C34878D82A}">
                        <a16:rowId xmlns:a16="http://schemas.microsoft.com/office/drawing/2014/main" val="603874092"/>
                      </a:ext>
                    </a:extLst>
                  </a:tr>
                  <a:tr h="370840">
                    <a:tc>
                      <a:txBody>
                        <a:bodyPr/>
                        <a:lstStyle/>
                        <a:p>
                          <a:r>
                            <a:rPr lang="en-AU"/>
                            <a:t>Envelope/Environment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60584" t="-308197" r="-86496" b="-2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02542" t="-308197" r="-424" b="-224590"/>
                          </a:stretch>
                        </a:blipFill>
                      </a:tcPr>
                    </a:tc>
                    <a:extLst>
                      <a:ext uri="{0D108BD9-81ED-4DB2-BD59-A6C34878D82A}">
                        <a16:rowId xmlns:a16="http://schemas.microsoft.com/office/drawing/2014/main" val="3075060609"/>
                      </a:ext>
                    </a:extLst>
                  </a:tr>
                  <a:tr h="370840">
                    <a:tc>
                      <a:txBody>
                        <a:bodyPr/>
                        <a:lstStyle/>
                        <a:p>
                          <a:r>
                            <a:rPr lang="en-AU"/>
                            <a:t>Ice Rink/Floor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60584" t="-408197" r="-86496" b="-1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02542" t="-408197" r="-424" b="-124590"/>
                          </a:stretch>
                        </a:blipFill>
                      </a:tcPr>
                    </a:tc>
                    <a:extLst>
                      <a:ext uri="{0D108BD9-81ED-4DB2-BD59-A6C34878D82A}">
                        <a16:rowId xmlns:a16="http://schemas.microsoft.com/office/drawing/2014/main" val="567482001"/>
                      </a:ext>
                    </a:extLst>
                  </a:tr>
                  <a:tr h="370840">
                    <a:tc>
                      <a:txBody>
                        <a:bodyPr/>
                        <a:lstStyle/>
                        <a:p>
                          <a:r>
                            <a:rPr lang="en-AU"/>
                            <a:t>Concrete Flooring</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160584" t="-508197" r="-86496" b="-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302542" t="-508197" r="-424" b="-24590"/>
                          </a:stretch>
                        </a:blipFill>
                      </a:tcPr>
                    </a:tc>
                    <a:extLst>
                      <a:ext uri="{0D108BD9-81ED-4DB2-BD59-A6C34878D82A}">
                        <a16:rowId xmlns:a16="http://schemas.microsoft.com/office/drawing/2014/main" val="60111525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352AA809-E069-CBB9-F07E-B934E619DC79}"/>
                  </a:ext>
                </a:extLst>
              </p:cNvPr>
              <p:cNvGraphicFramePr>
                <a:graphicFrameLocks noGrp="1"/>
              </p:cNvGraphicFramePr>
              <p:nvPr>
                <p:extLst>
                  <p:ext uri="{D42A27DB-BD31-4B8C-83A1-F6EECF244321}">
                    <p14:modId xmlns:p14="http://schemas.microsoft.com/office/powerpoint/2010/main" val="3495939196"/>
                  </p:ext>
                </p:extLst>
              </p:nvPr>
            </p:nvGraphicFramePr>
            <p:xfrm>
              <a:off x="526211" y="4393311"/>
              <a:ext cx="4425351" cy="1865122"/>
            </p:xfrm>
            <a:graphic>
              <a:graphicData uri="http://schemas.openxmlformats.org/drawingml/2006/table">
                <a:tbl>
                  <a:tblPr firstRow="1" bandRow="1">
                    <a:tableStyleId>{5C22544A-7EE6-4342-B048-85BDC9FD1C3A}</a:tableStyleId>
                  </a:tblPr>
                  <a:tblGrid>
                    <a:gridCol w="2682815">
                      <a:extLst>
                        <a:ext uri="{9D8B030D-6E8A-4147-A177-3AD203B41FA5}">
                          <a16:colId xmlns:a16="http://schemas.microsoft.com/office/drawing/2014/main" val="802253933"/>
                        </a:ext>
                      </a:extLst>
                    </a:gridCol>
                    <a:gridCol w="1742536">
                      <a:extLst>
                        <a:ext uri="{9D8B030D-6E8A-4147-A177-3AD203B41FA5}">
                          <a16:colId xmlns:a16="http://schemas.microsoft.com/office/drawing/2014/main" val="469775205"/>
                        </a:ext>
                      </a:extLst>
                    </a:gridCol>
                  </a:tblGrid>
                  <a:tr h="271286">
                    <a:tc>
                      <a:txBody>
                        <a:bodyPr/>
                        <a:lstStyle/>
                        <a:p>
                          <a:r>
                            <a:rPr lang="en-AU" b="0" i="1">
                              <a:solidFill>
                                <a:schemeClr val="tx1"/>
                              </a:solidFill>
                            </a:rPr>
                            <a:t>Heat Transfer Coefficients</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AU" b="0" i="1">
                              <a:solidFill>
                                <a:schemeClr val="tx1"/>
                              </a:solidFill>
                            </a:rPr>
                            <a:t>Required Energy</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752845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0">
                              <a:solidFill>
                                <a:schemeClr val="tx1"/>
                              </a:solidFill>
                            </a:rPr>
                            <a:t>Environment- Upper</a:t>
                          </a:r>
                          <a:r>
                            <a:rPr lang="en-AU" b="0" baseline="0">
                              <a:solidFill>
                                <a:schemeClr val="tx1"/>
                              </a:solidFill>
                            </a:rPr>
                            <a:t> </a:t>
                          </a:r>
                          <a14:m>
                            <m:oMath xmlns:m="http://schemas.openxmlformats.org/officeDocument/2006/math">
                              <m:sSub>
                                <m:sSubPr>
                                  <m:ctrlPr>
                                    <a:rPr lang="en-AU" b="0" i="1" smtClean="0">
                                      <a:solidFill>
                                        <a:schemeClr val="tx1"/>
                                      </a:solidFill>
                                      <a:latin typeface="Cambria Math" panose="02040503050406030204" pitchFamily="18" charset="0"/>
                                    </a:rPr>
                                  </m:ctrlPr>
                                </m:sSubPr>
                                <m:e>
                                  <m:r>
                                    <a:rPr lang="en-AU" b="0" i="1" smtClean="0">
                                      <a:solidFill>
                                        <a:schemeClr val="tx1"/>
                                      </a:solidFill>
                                      <a:latin typeface="Cambria Math" panose="02040503050406030204" pitchFamily="18" charset="0"/>
                                    </a:rPr>
                                    <m:t>𝑈</m:t>
                                  </m:r>
                                </m:e>
                                <m:sub>
                                  <m:r>
                                    <a:rPr lang="en-AU" b="0" i="1" smtClean="0">
                                      <a:solidFill>
                                        <a:schemeClr val="tx1"/>
                                      </a:solidFill>
                                      <a:latin typeface="Cambria Math" panose="02040503050406030204" pitchFamily="18" charset="0"/>
                                    </a:rPr>
                                    <m:t>𝐸𝑛𝑣</m:t>
                                  </m:r>
                                </m:sub>
                              </m:sSub>
                            </m:oMath>
                          </a14:m>
                          <a:endParaRPr lang="en-AU" b="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AU" b="0">
                              <a:solidFill>
                                <a:schemeClr val="tx1"/>
                              </a:solidFill>
                            </a:rPr>
                            <a:t>Upper Zone </a:t>
                          </a:r>
                          <a14:m>
                            <m:oMath xmlns:m="http://schemas.openxmlformats.org/officeDocument/2006/math">
                              <m:sSub>
                                <m:sSubPr>
                                  <m:ctrlPr>
                                    <a:rPr lang="en-AU" b="0" i="1" smtClean="0">
                                      <a:solidFill>
                                        <a:schemeClr val="tx1"/>
                                      </a:solidFill>
                                      <a:latin typeface="Cambria Math" panose="02040503050406030204" pitchFamily="18" charset="0"/>
                                    </a:rPr>
                                  </m:ctrlPr>
                                </m:sSubPr>
                                <m:e>
                                  <m:acc>
                                    <m:accPr>
                                      <m:chr m:val="̇"/>
                                      <m:ctrlPr>
                                        <a:rPr lang="en-AU" b="0" i="1" smtClean="0">
                                          <a:solidFill>
                                            <a:schemeClr val="tx1"/>
                                          </a:solidFill>
                                          <a:latin typeface="Cambria Math" panose="02040503050406030204" pitchFamily="18" charset="0"/>
                                        </a:rPr>
                                      </m:ctrlPr>
                                    </m:accPr>
                                    <m:e>
                                      <m:r>
                                        <a:rPr lang="en-AU" b="0" i="1" smtClean="0">
                                          <a:solidFill>
                                            <a:schemeClr val="tx1"/>
                                          </a:solidFill>
                                          <a:latin typeface="Cambria Math" panose="02040503050406030204" pitchFamily="18" charset="0"/>
                                        </a:rPr>
                                        <m:t>𝑄</m:t>
                                      </m:r>
                                    </m:e>
                                  </m:acc>
                                </m:e>
                                <m:sub>
                                  <m:r>
                                    <a:rPr lang="en-AU" b="0" i="1" dirty="0" smtClean="0">
                                      <a:solidFill>
                                        <a:schemeClr val="tx1"/>
                                      </a:solidFill>
                                      <a:latin typeface="Cambria Math" panose="02040503050406030204" pitchFamily="18" charset="0"/>
                                    </a:rPr>
                                    <m:t>𝑈</m:t>
                                  </m:r>
                                </m:sub>
                              </m:sSub>
                            </m:oMath>
                          </a14:m>
                          <a:endParaRPr lang="en-AU" b="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247778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0">
                              <a:solidFill>
                                <a:schemeClr val="tx1"/>
                              </a:solidFill>
                            </a:rPr>
                            <a:t>Upper-Lower</a:t>
                          </a:r>
                          <a:r>
                            <a:rPr lang="en-AU" b="0" baseline="0">
                              <a:solidFill>
                                <a:schemeClr val="tx1"/>
                              </a:solidFill>
                            </a:rPr>
                            <a:t> </a:t>
                          </a:r>
                          <a14:m>
                            <m:oMath xmlns:m="http://schemas.openxmlformats.org/officeDocument/2006/math">
                              <m:sSub>
                                <m:sSubPr>
                                  <m:ctrlPr>
                                    <a:rPr lang="en-AU" b="0" i="1" smtClean="0">
                                      <a:solidFill>
                                        <a:schemeClr val="tx1"/>
                                      </a:solidFill>
                                      <a:latin typeface="Cambria Math" panose="02040503050406030204" pitchFamily="18" charset="0"/>
                                    </a:rPr>
                                  </m:ctrlPr>
                                </m:sSubPr>
                                <m:e>
                                  <m:r>
                                    <a:rPr lang="en-AU" b="0" i="1" smtClean="0">
                                      <a:solidFill>
                                        <a:schemeClr val="tx1"/>
                                      </a:solidFill>
                                      <a:latin typeface="Cambria Math" panose="02040503050406030204" pitchFamily="18" charset="0"/>
                                    </a:rPr>
                                    <m:t>𝑈</m:t>
                                  </m:r>
                                </m:e>
                                <m:sub>
                                  <m:r>
                                    <a:rPr lang="en-AU" b="0" i="1" smtClean="0">
                                      <a:solidFill>
                                        <a:schemeClr val="tx1"/>
                                      </a:solidFill>
                                      <a:latin typeface="Cambria Math" panose="02040503050406030204" pitchFamily="18" charset="0"/>
                                    </a:rPr>
                                    <m:t>𝑈𝐿</m:t>
                                  </m:r>
                                </m:sub>
                              </m:sSub>
                            </m:oMath>
                          </a14:m>
                          <a:endParaRPr lang="en-AU" b="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0">
                              <a:solidFill>
                                <a:schemeClr val="tx1"/>
                              </a:solidFill>
                            </a:rPr>
                            <a:t>Cooling </a:t>
                          </a:r>
                          <a14:m>
                            <m:oMath xmlns:m="http://schemas.openxmlformats.org/officeDocument/2006/math">
                              <m:sSub>
                                <m:sSubPr>
                                  <m:ctrlPr>
                                    <a:rPr lang="en-AU" b="0" i="1" smtClean="0">
                                      <a:solidFill>
                                        <a:schemeClr val="tx1"/>
                                      </a:solidFill>
                                      <a:latin typeface="Cambria Math" panose="02040503050406030204" pitchFamily="18" charset="0"/>
                                    </a:rPr>
                                  </m:ctrlPr>
                                </m:sSubPr>
                                <m:e>
                                  <m:acc>
                                    <m:accPr>
                                      <m:chr m:val="̇"/>
                                      <m:ctrlPr>
                                        <a:rPr lang="en-AU" b="0" i="1" smtClean="0">
                                          <a:solidFill>
                                            <a:schemeClr val="tx1"/>
                                          </a:solidFill>
                                          <a:latin typeface="Cambria Math" panose="02040503050406030204" pitchFamily="18" charset="0"/>
                                        </a:rPr>
                                      </m:ctrlPr>
                                    </m:accPr>
                                    <m:e>
                                      <m:r>
                                        <a:rPr lang="en-AU" b="0" i="1" smtClean="0">
                                          <a:solidFill>
                                            <a:schemeClr val="tx1"/>
                                          </a:solidFill>
                                          <a:latin typeface="Cambria Math" panose="02040503050406030204" pitchFamily="18" charset="0"/>
                                        </a:rPr>
                                        <m:t>𝑄</m:t>
                                      </m:r>
                                    </m:e>
                                  </m:acc>
                                </m:e>
                                <m:sub>
                                  <m:r>
                                    <a:rPr lang="en-AU" b="0" i="1" smtClean="0">
                                      <a:solidFill>
                                        <a:schemeClr val="tx1"/>
                                      </a:solidFill>
                                      <a:latin typeface="Cambria Math" panose="02040503050406030204" pitchFamily="18" charset="0"/>
                                    </a:rPr>
                                    <m:t>𝐶</m:t>
                                  </m:r>
                                </m:sub>
                              </m:sSub>
                            </m:oMath>
                          </a14:m>
                          <a:endParaRPr lang="en-AU" b="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593324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0">
                              <a:solidFill>
                                <a:schemeClr val="tx1"/>
                              </a:solidFill>
                            </a:rPr>
                            <a:t>Lower-Ice </a:t>
                          </a:r>
                          <a14:m>
                            <m:oMath xmlns:m="http://schemas.openxmlformats.org/officeDocument/2006/math">
                              <m:sSub>
                                <m:sSubPr>
                                  <m:ctrlPr>
                                    <a:rPr lang="en-AU" b="0" i="1" smtClean="0">
                                      <a:solidFill>
                                        <a:schemeClr val="tx1"/>
                                      </a:solidFill>
                                      <a:latin typeface="Cambria Math" panose="02040503050406030204" pitchFamily="18" charset="0"/>
                                    </a:rPr>
                                  </m:ctrlPr>
                                </m:sSubPr>
                                <m:e>
                                  <m:r>
                                    <a:rPr lang="en-AU" b="0" i="1" smtClean="0">
                                      <a:solidFill>
                                        <a:schemeClr val="tx1"/>
                                      </a:solidFill>
                                      <a:latin typeface="Cambria Math" panose="02040503050406030204" pitchFamily="18" charset="0"/>
                                    </a:rPr>
                                    <m:t>𝑈</m:t>
                                  </m:r>
                                </m:e>
                                <m:sub>
                                  <m:r>
                                    <a:rPr lang="en-AU" b="0" i="1" smtClean="0">
                                      <a:solidFill>
                                        <a:schemeClr val="tx1"/>
                                      </a:solidFill>
                                      <a:latin typeface="Cambria Math" panose="02040503050406030204" pitchFamily="18" charset="0"/>
                                    </a:rPr>
                                    <m:t>𝐿𝐼</m:t>
                                  </m:r>
                                </m:sub>
                              </m:sSub>
                            </m:oMath>
                          </a14:m>
                          <a:endParaRPr lang="en-AU" b="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0">
                              <a:solidFill>
                                <a:schemeClr val="tx1"/>
                              </a:solidFill>
                            </a:rPr>
                            <a:t>Total </a:t>
                          </a:r>
                          <a14:m>
                            <m:oMath xmlns:m="http://schemas.openxmlformats.org/officeDocument/2006/math">
                              <m:sSub>
                                <m:sSubPr>
                                  <m:ctrlPr>
                                    <a:rPr lang="en-AU" b="0" i="1" smtClean="0">
                                      <a:solidFill>
                                        <a:schemeClr val="tx1"/>
                                      </a:solidFill>
                                      <a:latin typeface="Cambria Math" panose="02040503050406030204" pitchFamily="18" charset="0"/>
                                    </a:rPr>
                                  </m:ctrlPr>
                                </m:sSubPr>
                                <m:e>
                                  <m:acc>
                                    <m:accPr>
                                      <m:chr m:val="̇"/>
                                      <m:ctrlPr>
                                        <a:rPr lang="en-AU" b="0" i="1" smtClean="0">
                                          <a:solidFill>
                                            <a:schemeClr val="tx1"/>
                                          </a:solidFill>
                                          <a:latin typeface="Cambria Math" panose="02040503050406030204" pitchFamily="18" charset="0"/>
                                        </a:rPr>
                                      </m:ctrlPr>
                                    </m:accPr>
                                    <m:e>
                                      <m:r>
                                        <a:rPr lang="en-AU" b="0" i="1" smtClean="0">
                                          <a:solidFill>
                                            <a:schemeClr val="tx1"/>
                                          </a:solidFill>
                                          <a:latin typeface="Cambria Math" panose="02040503050406030204" pitchFamily="18" charset="0"/>
                                        </a:rPr>
                                        <m:t>𝑄</m:t>
                                      </m:r>
                                    </m:e>
                                  </m:acc>
                                </m:e>
                                <m:sub>
                                  <m:r>
                                    <a:rPr lang="en-AU" b="0" i="1" smtClean="0">
                                      <a:solidFill>
                                        <a:schemeClr val="tx1"/>
                                      </a:solidFill>
                                      <a:latin typeface="Cambria Math" panose="02040503050406030204" pitchFamily="18" charset="0"/>
                                    </a:rPr>
                                    <m:t>𝑇</m:t>
                                  </m:r>
                                </m:sub>
                              </m:sSub>
                            </m:oMath>
                          </a14:m>
                          <a:endParaRPr lang="en-AU" b="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541936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0">
                              <a:solidFill>
                                <a:schemeClr val="tx1"/>
                              </a:solidFill>
                            </a:rPr>
                            <a:t>Lower-Floor </a:t>
                          </a:r>
                          <a14:m>
                            <m:oMath xmlns:m="http://schemas.openxmlformats.org/officeDocument/2006/math">
                              <m:sSub>
                                <m:sSubPr>
                                  <m:ctrlPr>
                                    <a:rPr lang="en-AU" b="0" i="1" smtClean="0">
                                      <a:solidFill>
                                        <a:schemeClr val="tx1"/>
                                      </a:solidFill>
                                      <a:latin typeface="Cambria Math" panose="02040503050406030204" pitchFamily="18" charset="0"/>
                                    </a:rPr>
                                  </m:ctrlPr>
                                </m:sSubPr>
                                <m:e>
                                  <m:r>
                                    <a:rPr lang="en-AU" b="0" i="1" smtClean="0">
                                      <a:solidFill>
                                        <a:schemeClr val="tx1"/>
                                      </a:solidFill>
                                      <a:latin typeface="Cambria Math" panose="02040503050406030204" pitchFamily="18" charset="0"/>
                                    </a:rPr>
                                    <m:t>𝑈</m:t>
                                  </m:r>
                                </m:e>
                                <m:sub>
                                  <m:r>
                                    <a:rPr lang="en-AU" b="0" i="1" smtClean="0">
                                      <a:solidFill>
                                        <a:schemeClr val="tx1"/>
                                      </a:solidFill>
                                      <a:latin typeface="Cambria Math" panose="02040503050406030204" pitchFamily="18" charset="0"/>
                                    </a:rPr>
                                    <m:t>𝐿𝐹</m:t>
                                  </m:r>
                                </m:sub>
                              </m:sSub>
                            </m:oMath>
                          </a14:m>
                          <a:endParaRPr lang="en-AU" b="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b="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3277880"/>
                      </a:ext>
                    </a:extLst>
                  </a:tr>
                </a:tbl>
              </a:graphicData>
            </a:graphic>
          </p:graphicFrame>
        </mc:Choice>
        <mc:Fallback xmlns="">
          <p:graphicFrame>
            <p:nvGraphicFramePr>
              <p:cNvPr id="6" name="Table 5">
                <a:extLst>
                  <a:ext uri="{FF2B5EF4-FFF2-40B4-BE49-F238E27FC236}">
                    <a16:creationId xmlns:a16="http://schemas.microsoft.com/office/drawing/2014/main" id="{352AA809-E069-CBB9-F07E-B934E619DC79}"/>
                  </a:ext>
                </a:extLst>
              </p:cNvPr>
              <p:cNvGraphicFramePr>
                <a:graphicFrameLocks noGrp="1"/>
              </p:cNvGraphicFramePr>
              <p:nvPr>
                <p:extLst>
                  <p:ext uri="{D42A27DB-BD31-4B8C-83A1-F6EECF244321}">
                    <p14:modId xmlns:p14="http://schemas.microsoft.com/office/powerpoint/2010/main" val="3495939196"/>
                  </p:ext>
                </p:extLst>
              </p:nvPr>
            </p:nvGraphicFramePr>
            <p:xfrm>
              <a:off x="526211" y="4393311"/>
              <a:ext cx="4425351" cy="1865122"/>
            </p:xfrm>
            <a:graphic>
              <a:graphicData uri="http://schemas.openxmlformats.org/drawingml/2006/table">
                <a:tbl>
                  <a:tblPr firstRow="1" bandRow="1">
                    <a:tableStyleId>{5C22544A-7EE6-4342-B048-85BDC9FD1C3A}</a:tableStyleId>
                  </a:tblPr>
                  <a:tblGrid>
                    <a:gridCol w="2682815">
                      <a:extLst>
                        <a:ext uri="{9D8B030D-6E8A-4147-A177-3AD203B41FA5}">
                          <a16:colId xmlns:a16="http://schemas.microsoft.com/office/drawing/2014/main" val="802253933"/>
                        </a:ext>
                      </a:extLst>
                    </a:gridCol>
                    <a:gridCol w="1742536">
                      <a:extLst>
                        <a:ext uri="{9D8B030D-6E8A-4147-A177-3AD203B41FA5}">
                          <a16:colId xmlns:a16="http://schemas.microsoft.com/office/drawing/2014/main" val="469775205"/>
                        </a:ext>
                      </a:extLst>
                    </a:gridCol>
                  </a:tblGrid>
                  <a:tr h="365760">
                    <a:tc>
                      <a:txBody>
                        <a:bodyPr/>
                        <a:lstStyle/>
                        <a:p>
                          <a:r>
                            <a:rPr lang="en-AU" b="0" i="1">
                              <a:solidFill>
                                <a:schemeClr val="tx1"/>
                              </a:solidFill>
                            </a:rPr>
                            <a:t>Heat Transfer Coefficients</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AU" b="0" i="1">
                              <a:solidFill>
                                <a:schemeClr val="tx1"/>
                              </a:solidFill>
                            </a:rPr>
                            <a:t>Required Energy</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7528459"/>
                      </a:ext>
                    </a:extLst>
                  </a:tr>
                  <a:tr h="376174">
                    <a:tc>
                      <a:txBody>
                        <a:bodyPr/>
                        <a:lstStyle/>
                        <a:p>
                          <a:endParaRPr lang="en-US"/>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t="-104839" r="-65079" b="-32258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54196" t="-104839" r="-350" b="-322581"/>
                          </a:stretch>
                        </a:blipFill>
                      </a:tcPr>
                    </a:tc>
                    <a:extLst>
                      <a:ext uri="{0D108BD9-81ED-4DB2-BD59-A6C34878D82A}">
                        <a16:rowId xmlns:a16="http://schemas.microsoft.com/office/drawing/2014/main" val="2322477782"/>
                      </a:ext>
                    </a:extLst>
                  </a:tr>
                  <a:tr h="376174">
                    <a:tc>
                      <a:txBody>
                        <a:bodyPr/>
                        <a:lstStyle/>
                        <a:p>
                          <a:endParaRPr lang="en-US"/>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t="-204839" r="-65079" b="-22258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54196" t="-204839" r="-350" b="-222581"/>
                          </a:stretch>
                        </a:blipFill>
                      </a:tcPr>
                    </a:tc>
                    <a:extLst>
                      <a:ext uri="{0D108BD9-81ED-4DB2-BD59-A6C34878D82A}">
                        <a16:rowId xmlns:a16="http://schemas.microsoft.com/office/drawing/2014/main" val="2505933244"/>
                      </a:ext>
                    </a:extLst>
                  </a:tr>
                  <a:tr h="376174">
                    <a:tc>
                      <a:txBody>
                        <a:bodyPr/>
                        <a:lstStyle/>
                        <a:p>
                          <a:endParaRPr lang="en-US"/>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t="-304839" r="-65079" b="-12258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54196" t="-304839" r="-350" b="-122581"/>
                          </a:stretch>
                        </a:blipFill>
                      </a:tcPr>
                    </a:tc>
                    <a:extLst>
                      <a:ext uri="{0D108BD9-81ED-4DB2-BD59-A6C34878D82A}">
                        <a16:rowId xmlns:a16="http://schemas.microsoft.com/office/drawing/2014/main" val="4095419363"/>
                      </a:ext>
                    </a:extLst>
                  </a:tr>
                  <a:tr h="370840">
                    <a:tc>
                      <a:txBody>
                        <a:bodyPr/>
                        <a:lstStyle/>
                        <a:p>
                          <a:endParaRPr lang="en-US"/>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411475" r="-65079" b="-24590"/>
                          </a:stretch>
                        </a:blipFill>
                      </a:tcPr>
                    </a:tc>
                    <a:tc>
                      <a:txBody>
                        <a:bodyPr/>
                        <a:lstStyle/>
                        <a:p>
                          <a:endParaRPr lang="en-AU" b="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3277880"/>
                      </a:ext>
                    </a:extLst>
                  </a:tr>
                </a:tbl>
              </a:graphicData>
            </a:graphic>
          </p:graphicFrame>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A5045FD-C367-CF9F-9BBD-8522D05CB137}"/>
                  </a:ext>
                </a:extLst>
              </p:cNvPr>
              <p:cNvSpPr txBox="1"/>
              <p:nvPr/>
            </p:nvSpPr>
            <p:spPr>
              <a:xfrm>
                <a:off x="4822166" y="2026303"/>
                <a:ext cx="7276700" cy="3901324"/>
              </a:xfrm>
              <a:prstGeom prst="rect">
                <a:avLst/>
              </a:prstGeom>
              <a:noFill/>
            </p:spPr>
            <p:txBody>
              <a:bodyPr wrap="square" rtlCol="0">
                <a:spAutoFit/>
              </a:bodyPr>
              <a:lstStyle/>
              <a:p>
                <a:pPr/>
                <a14:m>
                  <m:oMathPara xmlns:m="http://schemas.openxmlformats.org/officeDocument/2006/math">
                    <m:oMath>
                      <m:r>
                        <a:rPr lang="en-AU" b="0" i="1" smtClean="0">
                          <a:latin typeface="Cambria Math" panose="02040503050406030204" pitchFamily="18" charset="0"/>
                        </a:rPr>
                        <m:t>𝑚</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𝑐</m:t>
                          </m:r>
                        </m:e>
                        <m:sub>
                          <m:r>
                            <a:rPr lang="en-AU" b="0" i="1" smtClean="0">
                              <a:latin typeface="Cambria Math" panose="02040503050406030204" pitchFamily="18" charset="0"/>
                            </a:rPr>
                            <m:t>𝑝</m:t>
                          </m:r>
                        </m:sub>
                      </m:sSub>
                      <m:f>
                        <m:fPr>
                          <m:ctrlPr>
                            <a:rPr lang="en-AU" b="0" i="1" smtClean="0">
                              <a:latin typeface="Cambria Math" panose="02040503050406030204" pitchFamily="18" charset="0"/>
                            </a:rPr>
                          </m:ctrlPr>
                        </m:fPr>
                        <m:num>
                          <m:r>
                            <a:rPr lang="en-AU" b="0" i="1" smtClean="0">
                              <a:latin typeface="Cambria Math" panose="02040503050406030204" pitchFamily="18" charset="0"/>
                            </a:rPr>
                            <m:t>𝑑𝑇</m:t>
                          </m:r>
                        </m:num>
                        <m:den>
                          <m:r>
                            <a:rPr lang="en-AU" b="0" i="1" smtClean="0">
                              <a:latin typeface="Cambria Math" panose="02040503050406030204" pitchFamily="18" charset="0"/>
                            </a:rPr>
                            <m:t>𝑑𝑡</m:t>
                          </m:r>
                        </m:den>
                      </m:f>
                      <m:r>
                        <a:rPr lang="en-AU" b="0" i="1" smtClean="0">
                          <a:latin typeface="Cambria Math" panose="02040503050406030204" pitchFamily="18" charset="0"/>
                        </a:rPr>
                        <m:t>=</m:t>
                      </m:r>
                      <m:nary>
                        <m:naryPr>
                          <m:chr m:val="∑"/>
                          <m:subHide m:val="on"/>
                          <m:supHide m:val="on"/>
                          <m:ctrlPr>
                            <a:rPr lang="en-AU" b="0" i="1" smtClean="0">
                              <a:latin typeface="Cambria Math" panose="02040503050406030204" pitchFamily="18" charset="0"/>
                            </a:rPr>
                          </m:ctrlPr>
                        </m:naryPr>
                        <m:sub/>
                        <m:sup/>
                        <m:e>
                          <m:acc>
                            <m:accPr>
                              <m:chr m:val="̇"/>
                              <m:ctrlPr>
                                <a:rPr lang="en-AU" b="0" i="1" smtClean="0">
                                  <a:latin typeface="Cambria Math" panose="02040503050406030204" pitchFamily="18" charset="0"/>
                                </a:rPr>
                              </m:ctrlPr>
                            </m:accPr>
                            <m:e>
                              <m:r>
                                <a:rPr lang="en-AU" b="0" i="1" smtClean="0">
                                  <a:latin typeface="Cambria Math" panose="02040503050406030204" pitchFamily="18" charset="0"/>
                                </a:rPr>
                                <m:t>𝑄</m:t>
                              </m:r>
                            </m:e>
                          </m:acc>
                        </m:e>
                      </m:nary>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𝑑𝑇</m:t>
                          </m:r>
                        </m:num>
                        <m:den>
                          <m:r>
                            <a:rPr lang="en-AU" b="0" i="1" smtClean="0">
                              <a:latin typeface="Cambria Math" panose="02040503050406030204" pitchFamily="18" charset="0"/>
                              <a:ea typeface="Cambria Math" panose="02040503050406030204" pitchFamily="18" charset="0"/>
                            </a:rPr>
                            <m:t>𝑑𝑡</m:t>
                          </m:r>
                        </m:den>
                      </m:f>
                      <m:r>
                        <a:rPr lang="en-AU" b="0" i="1" smtClean="0">
                          <a:latin typeface="Cambria Math" panose="02040503050406030204" pitchFamily="18" charset="0"/>
                          <a:ea typeface="Cambria Math" panose="02040503050406030204" pitchFamily="18" charset="0"/>
                        </a:rPr>
                        <m:t>=0→</m:t>
                      </m:r>
                      <m:nary>
                        <m:naryPr>
                          <m:chr m:val="∑"/>
                          <m:subHide m:val="on"/>
                          <m:supHide m:val="on"/>
                          <m:ctrlPr>
                            <a:rPr lang="en-AU" i="1">
                              <a:latin typeface="Cambria Math" panose="02040503050406030204" pitchFamily="18" charset="0"/>
                            </a:rPr>
                          </m:ctrlPr>
                        </m:naryPr>
                        <m:sub/>
                        <m:sup/>
                        <m:e>
                          <m:acc>
                            <m:accPr>
                              <m:chr m:val="̇"/>
                              <m:ctrlPr>
                                <a:rPr lang="en-AU" i="1">
                                  <a:latin typeface="Cambria Math" panose="02040503050406030204" pitchFamily="18" charset="0"/>
                                </a:rPr>
                              </m:ctrlPr>
                            </m:accPr>
                            <m:e>
                              <m:r>
                                <a:rPr lang="en-AU" i="1">
                                  <a:latin typeface="Cambria Math" panose="02040503050406030204" pitchFamily="18" charset="0"/>
                                </a:rPr>
                                <m:t>𝑄</m:t>
                              </m:r>
                            </m:e>
                          </m:acc>
                        </m:e>
                      </m:nary>
                      <m:r>
                        <a:rPr lang="en-AU" b="0" i="1" smtClean="0">
                          <a:latin typeface="Cambria Math" panose="02040503050406030204" pitchFamily="18" charset="0"/>
                        </a:rPr>
                        <m:t>=0</m:t>
                      </m:r>
                    </m:oMath>
                  </m:oMathPara>
                </a14:m>
                <a:endParaRPr lang="en-AU"/>
              </a:p>
              <a:p>
                <a:endParaRPr lang="en-AU"/>
              </a:p>
              <a:p>
                <a:pPr/>
                <a14:m>
                  <m:oMathPara xmlns:m="http://schemas.openxmlformats.org/officeDocument/2006/math">
                    <m:oMath>
                      <m:acc>
                        <m:accPr>
                          <m:chr m:val="̇"/>
                          <m:ctrlPr>
                            <a:rPr lang="en-AU" b="0" i="1" smtClean="0">
                              <a:latin typeface="Cambria Math" panose="02040503050406030204" pitchFamily="18" charset="0"/>
                            </a:rPr>
                          </m:ctrlPr>
                        </m:accPr>
                        <m:e>
                          <m:r>
                            <a:rPr lang="en-AU" b="0" i="1" smtClean="0">
                              <a:latin typeface="Cambria Math" panose="02040503050406030204" pitchFamily="18" charset="0"/>
                            </a:rPr>
                            <m:t>𝑄</m:t>
                          </m:r>
                        </m:e>
                      </m:acc>
                      <m:r>
                        <a:rPr lang="en-AU" b="0" i="1" smtClean="0">
                          <a:latin typeface="Cambria Math" panose="02040503050406030204" pitchFamily="18" charset="0"/>
                        </a:rPr>
                        <m:t>=</m:t>
                      </m:r>
                      <m:r>
                        <a:rPr lang="en-AU" b="0" i="1" smtClean="0">
                          <a:latin typeface="Cambria Math" panose="02040503050406030204" pitchFamily="18" charset="0"/>
                        </a:rPr>
                        <m:t>𝑈𝐴</m:t>
                      </m:r>
                      <m:r>
                        <m:rPr>
                          <m:sty m:val="p"/>
                        </m:rPr>
                        <a:rPr lang="en-AU" b="0" i="0" smtClean="0">
                          <a:latin typeface="Cambria Math" panose="02040503050406030204" pitchFamily="18" charset="0"/>
                        </a:rPr>
                        <m:t>Δ</m:t>
                      </m:r>
                      <m:r>
                        <a:rPr lang="en-AU" b="0" i="1" smtClean="0">
                          <a:latin typeface="Cambria Math" panose="02040503050406030204" pitchFamily="18" charset="0"/>
                        </a:rPr>
                        <m:t>𝑇</m:t>
                      </m:r>
                    </m:oMath>
                  </m:oMathPara>
                </a14:m>
                <a:endParaRPr lang="en-AU" b="0"/>
              </a:p>
              <a:p>
                <a:endParaRPr lang="en-AU"/>
              </a:p>
              <a:p>
                <a:pPr/>
                <a14:m>
                  <m:oMathPara xmlns:m="http://schemas.openxmlformats.org/officeDocument/2006/math">
                    <m:oMath>
                      <m:sSub>
                        <m:sSubPr>
                          <m:ctrlPr>
                            <a:rPr lang="en-AU" i="1">
                              <a:latin typeface="Cambria Math" panose="02040503050406030204" pitchFamily="18" charset="0"/>
                            </a:rPr>
                          </m:ctrlPr>
                        </m:sSubPr>
                        <m:e>
                          <m:r>
                            <a:rPr lang="en-AU" i="1">
                              <a:latin typeface="Cambria Math" panose="02040503050406030204" pitchFamily="18" charset="0"/>
                            </a:rPr>
                            <m:t>𝑇</m:t>
                          </m:r>
                        </m:e>
                        <m:sub>
                          <m:r>
                            <a:rPr lang="en-AU" i="1">
                              <a:latin typeface="Cambria Math" panose="02040503050406030204" pitchFamily="18" charset="0"/>
                            </a:rPr>
                            <m:t>𝐿</m:t>
                          </m:r>
                          <m:r>
                            <a:rPr lang="en-AU" i="1">
                              <a:latin typeface="Cambria Math" panose="02040503050406030204" pitchFamily="18" charset="0"/>
                            </a:rPr>
                            <m:t> </m:t>
                          </m:r>
                        </m:sub>
                      </m:sSub>
                      <m:r>
                        <a:rPr lang="en-AU" i="1">
                          <a:latin typeface="Cambria Math" panose="02040503050406030204" pitchFamily="18" charset="0"/>
                        </a:rPr>
                        <m:t>= </m:t>
                      </m:r>
                      <m:f>
                        <m:fPr>
                          <m:ctrlPr>
                            <a:rPr lang="en-AU" i="1">
                              <a:latin typeface="Cambria Math" panose="02040503050406030204" pitchFamily="18" charset="0"/>
                            </a:rPr>
                          </m:ctrlPr>
                        </m:fPr>
                        <m:num>
                          <m:sSub>
                            <m:sSubPr>
                              <m:ctrlPr>
                                <a:rPr lang="en-AU" i="1">
                                  <a:latin typeface="Cambria Math" panose="02040503050406030204" pitchFamily="18" charset="0"/>
                                </a:rPr>
                              </m:ctrlPr>
                            </m:sSubPr>
                            <m:e>
                              <m:r>
                                <a:rPr lang="en-AU" i="1">
                                  <a:latin typeface="Cambria Math" panose="02040503050406030204" pitchFamily="18" charset="0"/>
                                </a:rPr>
                                <m:t>𝑈</m:t>
                              </m:r>
                            </m:e>
                            <m:sub>
                              <m:r>
                                <a:rPr lang="en-AU" i="1">
                                  <a:latin typeface="Cambria Math" panose="02040503050406030204" pitchFamily="18" charset="0"/>
                                </a:rPr>
                                <m:t>𝑈𝐿</m:t>
                              </m:r>
                            </m:sub>
                          </m:sSub>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𝑈𝐿</m:t>
                              </m:r>
                            </m:sub>
                          </m:sSub>
                          <m:sSub>
                            <m:sSubPr>
                              <m:ctrlPr>
                                <a:rPr lang="en-AU" i="1">
                                  <a:latin typeface="Cambria Math" panose="02040503050406030204" pitchFamily="18" charset="0"/>
                                </a:rPr>
                              </m:ctrlPr>
                            </m:sSubPr>
                            <m:e>
                              <m:r>
                                <a:rPr lang="en-AU" i="1">
                                  <a:latin typeface="Cambria Math" panose="02040503050406030204" pitchFamily="18" charset="0"/>
                                </a:rPr>
                                <m:t>𝑇</m:t>
                              </m:r>
                            </m:e>
                            <m:sub>
                              <m:r>
                                <a:rPr lang="en-AU" i="1">
                                  <a:latin typeface="Cambria Math" panose="02040503050406030204" pitchFamily="18" charset="0"/>
                                </a:rPr>
                                <m:t>𝑈</m:t>
                              </m:r>
                            </m:sub>
                          </m:sSub>
                          <m:r>
                            <a:rPr lang="en-AU" i="1">
                              <a:latin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𝑈</m:t>
                              </m:r>
                            </m:e>
                            <m:sub>
                              <m:r>
                                <a:rPr lang="en-AU" i="1">
                                  <a:latin typeface="Cambria Math" panose="02040503050406030204" pitchFamily="18" charset="0"/>
                                </a:rPr>
                                <m:t>𝐿𝐼</m:t>
                              </m:r>
                            </m:sub>
                          </m:sSub>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𝑖𝑐𝑒</m:t>
                              </m:r>
                            </m:sub>
                          </m:sSub>
                          <m:sSub>
                            <m:sSubPr>
                              <m:ctrlPr>
                                <a:rPr lang="en-AU" i="1">
                                  <a:latin typeface="Cambria Math" panose="02040503050406030204" pitchFamily="18" charset="0"/>
                                </a:rPr>
                              </m:ctrlPr>
                            </m:sSubPr>
                            <m:e>
                              <m:r>
                                <a:rPr lang="en-AU" i="1">
                                  <a:latin typeface="Cambria Math" panose="02040503050406030204" pitchFamily="18" charset="0"/>
                                </a:rPr>
                                <m:t>𝑇</m:t>
                              </m:r>
                            </m:e>
                            <m:sub>
                              <m:r>
                                <a:rPr lang="en-AU" i="1">
                                  <a:latin typeface="Cambria Math" panose="02040503050406030204" pitchFamily="18" charset="0"/>
                                </a:rPr>
                                <m:t>𝑖𝑐𝑒</m:t>
                              </m:r>
                            </m:sub>
                          </m:sSub>
                          <m:r>
                            <a:rPr lang="en-AU" i="1">
                              <a:latin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𝑈</m:t>
                              </m:r>
                            </m:e>
                            <m:sub>
                              <m:r>
                                <a:rPr lang="en-AU" i="1">
                                  <a:latin typeface="Cambria Math" panose="02040503050406030204" pitchFamily="18" charset="0"/>
                                </a:rPr>
                                <m:t>𝐿𝐹</m:t>
                              </m:r>
                            </m:sub>
                          </m:sSub>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𝐹</m:t>
                              </m:r>
                            </m:sub>
                          </m:sSub>
                          <m:sSub>
                            <m:sSubPr>
                              <m:ctrlPr>
                                <a:rPr lang="en-AU" i="1">
                                  <a:latin typeface="Cambria Math" panose="02040503050406030204" pitchFamily="18" charset="0"/>
                                </a:rPr>
                              </m:ctrlPr>
                            </m:sSubPr>
                            <m:e>
                              <m:r>
                                <a:rPr lang="en-AU" i="1">
                                  <a:latin typeface="Cambria Math" panose="02040503050406030204" pitchFamily="18" charset="0"/>
                                </a:rPr>
                                <m:t>𝑇</m:t>
                              </m:r>
                            </m:e>
                            <m:sub>
                              <m:r>
                                <a:rPr lang="en-AU" i="1">
                                  <a:latin typeface="Cambria Math" panose="02040503050406030204" pitchFamily="18" charset="0"/>
                                </a:rPr>
                                <m:t>𝐹</m:t>
                              </m:r>
                            </m:sub>
                          </m:sSub>
                        </m:num>
                        <m:den>
                          <m:sSub>
                            <m:sSubPr>
                              <m:ctrlPr>
                                <a:rPr lang="en-AU" i="1">
                                  <a:latin typeface="Cambria Math" panose="02040503050406030204" pitchFamily="18" charset="0"/>
                                </a:rPr>
                              </m:ctrlPr>
                            </m:sSubPr>
                            <m:e>
                              <m:r>
                                <a:rPr lang="en-AU" i="1">
                                  <a:latin typeface="Cambria Math" panose="02040503050406030204" pitchFamily="18" charset="0"/>
                                </a:rPr>
                                <m:t>𝑈</m:t>
                              </m:r>
                            </m:e>
                            <m:sub>
                              <m:r>
                                <a:rPr lang="en-AU" i="1">
                                  <a:latin typeface="Cambria Math" panose="02040503050406030204" pitchFamily="18" charset="0"/>
                                </a:rPr>
                                <m:t>𝑈𝐿</m:t>
                              </m:r>
                            </m:sub>
                          </m:sSub>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𝑈𝐿</m:t>
                              </m:r>
                            </m:sub>
                          </m:sSub>
                          <m:r>
                            <a:rPr lang="en-AU" i="1">
                              <a:latin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𝑈</m:t>
                              </m:r>
                            </m:e>
                            <m:sub>
                              <m:r>
                                <a:rPr lang="en-AU" i="1">
                                  <a:latin typeface="Cambria Math" panose="02040503050406030204" pitchFamily="18" charset="0"/>
                                </a:rPr>
                                <m:t>𝐿𝐼</m:t>
                              </m:r>
                            </m:sub>
                          </m:sSub>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𝑖𝑐𝑒</m:t>
                              </m:r>
                            </m:sub>
                          </m:sSub>
                          <m:r>
                            <a:rPr lang="en-AU" i="1">
                              <a:latin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𝑈</m:t>
                              </m:r>
                            </m:e>
                            <m:sub>
                              <m:r>
                                <a:rPr lang="en-AU" i="1">
                                  <a:latin typeface="Cambria Math" panose="02040503050406030204" pitchFamily="18" charset="0"/>
                                </a:rPr>
                                <m:t>𝐿𝐹</m:t>
                              </m:r>
                            </m:sub>
                          </m:sSub>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𝐹</m:t>
                              </m:r>
                            </m:sub>
                          </m:sSub>
                        </m:den>
                      </m:f>
                    </m:oMath>
                  </m:oMathPara>
                </a14:m>
                <a:endParaRPr lang="en-AU"/>
              </a:p>
              <a:p>
                <a:endParaRPr lang="en-AU"/>
              </a:p>
              <a:p>
                <a:pPr/>
                <a14:m>
                  <m:oMathPara xmlns:m="http://schemas.openxmlformats.org/officeDocument/2006/math">
                    <m:oMath>
                      <m:sSub>
                        <m:sSubPr>
                          <m:ctrlPr>
                            <a:rPr lang="en-AU" i="1">
                              <a:latin typeface="Cambria Math" panose="02040503050406030204" pitchFamily="18" charset="0"/>
                            </a:rPr>
                          </m:ctrlPr>
                        </m:sSubPr>
                        <m:e>
                          <m:acc>
                            <m:accPr>
                              <m:chr m:val="̇"/>
                              <m:ctrlPr>
                                <a:rPr lang="en-AU" i="1">
                                  <a:latin typeface="Cambria Math" panose="02040503050406030204" pitchFamily="18" charset="0"/>
                                </a:rPr>
                              </m:ctrlPr>
                            </m:accPr>
                            <m:e>
                              <m:r>
                                <a:rPr lang="en-AU" i="1">
                                  <a:latin typeface="Cambria Math" panose="02040503050406030204" pitchFamily="18" charset="0"/>
                                </a:rPr>
                                <m:t>𝑄</m:t>
                              </m:r>
                            </m:e>
                          </m:acc>
                        </m:e>
                        <m:sub>
                          <m:r>
                            <a:rPr lang="en-AU" i="1">
                              <a:latin typeface="Cambria Math" panose="02040503050406030204" pitchFamily="18" charset="0"/>
                            </a:rPr>
                            <m:t>𝐶</m:t>
                          </m:r>
                        </m:sub>
                      </m:sSub>
                      <m:r>
                        <a:rPr lang="en-AU" i="1">
                          <a:latin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𝑈</m:t>
                          </m:r>
                        </m:e>
                        <m:sub>
                          <m:r>
                            <a:rPr lang="en-AU" i="1">
                              <a:latin typeface="Cambria Math" panose="02040503050406030204" pitchFamily="18" charset="0"/>
                            </a:rPr>
                            <m:t>𝐿𝐼</m:t>
                          </m:r>
                        </m:sub>
                      </m:sSub>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𝑖𝑐𝑒</m:t>
                          </m:r>
                        </m:sub>
                      </m:sSub>
                      <m:d>
                        <m:dPr>
                          <m:ctrlPr>
                            <a:rPr lang="en-AU" i="1">
                              <a:latin typeface="Cambria Math" panose="02040503050406030204" pitchFamily="18" charset="0"/>
                            </a:rPr>
                          </m:ctrlPr>
                        </m:dPr>
                        <m:e>
                          <m:f>
                            <m:fPr>
                              <m:ctrlPr>
                                <a:rPr lang="en-AU" i="1">
                                  <a:latin typeface="Cambria Math" panose="02040503050406030204" pitchFamily="18" charset="0"/>
                                </a:rPr>
                              </m:ctrlPr>
                            </m:fPr>
                            <m:num>
                              <m:sSub>
                                <m:sSubPr>
                                  <m:ctrlPr>
                                    <a:rPr lang="en-AU" i="1">
                                      <a:latin typeface="Cambria Math" panose="02040503050406030204" pitchFamily="18" charset="0"/>
                                    </a:rPr>
                                  </m:ctrlPr>
                                </m:sSubPr>
                                <m:e>
                                  <m:r>
                                    <a:rPr lang="en-AU" i="1">
                                      <a:latin typeface="Cambria Math" panose="02040503050406030204" pitchFamily="18" charset="0"/>
                                    </a:rPr>
                                    <m:t>𝑈</m:t>
                                  </m:r>
                                </m:e>
                                <m:sub>
                                  <m:r>
                                    <a:rPr lang="en-AU" i="1">
                                      <a:latin typeface="Cambria Math" panose="02040503050406030204" pitchFamily="18" charset="0"/>
                                    </a:rPr>
                                    <m:t>𝑈𝐿</m:t>
                                  </m:r>
                                </m:sub>
                              </m:sSub>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𝑈𝐿</m:t>
                                  </m:r>
                                </m:sub>
                              </m:sSub>
                              <m:sSub>
                                <m:sSubPr>
                                  <m:ctrlPr>
                                    <a:rPr lang="en-AU" i="1">
                                      <a:latin typeface="Cambria Math" panose="02040503050406030204" pitchFamily="18" charset="0"/>
                                    </a:rPr>
                                  </m:ctrlPr>
                                </m:sSubPr>
                                <m:e>
                                  <m:r>
                                    <a:rPr lang="en-AU" i="1">
                                      <a:latin typeface="Cambria Math" panose="02040503050406030204" pitchFamily="18" charset="0"/>
                                    </a:rPr>
                                    <m:t>𝑇</m:t>
                                  </m:r>
                                </m:e>
                                <m:sub>
                                  <m:r>
                                    <a:rPr lang="en-AU" i="1">
                                      <a:latin typeface="Cambria Math" panose="02040503050406030204" pitchFamily="18" charset="0"/>
                                    </a:rPr>
                                    <m:t>𝑈</m:t>
                                  </m:r>
                                </m:sub>
                              </m:sSub>
                              <m:r>
                                <a:rPr lang="en-AU" i="1">
                                  <a:latin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𝑈</m:t>
                                  </m:r>
                                </m:e>
                                <m:sub>
                                  <m:r>
                                    <a:rPr lang="en-AU" i="1">
                                      <a:latin typeface="Cambria Math" panose="02040503050406030204" pitchFamily="18" charset="0"/>
                                    </a:rPr>
                                    <m:t>𝐿𝐼</m:t>
                                  </m:r>
                                </m:sub>
                              </m:sSub>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𝑖𝑐𝑒</m:t>
                                  </m:r>
                                </m:sub>
                              </m:sSub>
                              <m:sSub>
                                <m:sSubPr>
                                  <m:ctrlPr>
                                    <a:rPr lang="en-AU" i="1">
                                      <a:latin typeface="Cambria Math" panose="02040503050406030204" pitchFamily="18" charset="0"/>
                                    </a:rPr>
                                  </m:ctrlPr>
                                </m:sSubPr>
                                <m:e>
                                  <m:r>
                                    <a:rPr lang="en-AU" i="1">
                                      <a:latin typeface="Cambria Math" panose="02040503050406030204" pitchFamily="18" charset="0"/>
                                    </a:rPr>
                                    <m:t>𝑇</m:t>
                                  </m:r>
                                </m:e>
                                <m:sub>
                                  <m:r>
                                    <a:rPr lang="en-AU" i="1">
                                      <a:latin typeface="Cambria Math" panose="02040503050406030204" pitchFamily="18" charset="0"/>
                                    </a:rPr>
                                    <m:t>𝑖𝑐𝑒</m:t>
                                  </m:r>
                                </m:sub>
                              </m:sSub>
                              <m:r>
                                <a:rPr lang="en-AU" i="1">
                                  <a:latin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𝑈</m:t>
                                  </m:r>
                                </m:e>
                                <m:sub>
                                  <m:r>
                                    <a:rPr lang="en-AU" i="1">
                                      <a:latin typeface="Cambria Math" panose="02040503050406030204" pitchFamily="18" charset="0"/>
                                    </a:rPr>
                                    <m:t>𝐿𝐹</m:t>
                                  </m:r>
                                </m:sub>
                              </m:sSub>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𝐹</m:t>
                                  </m:r>
                                </m:sub>
                              </m:sSub>
                              <m:sSub>
                                <m:sSubPr>
                                  <m:ctrlPr>
                                    <a:rPr lang="en-AU" i="1">
                                      <a:latin typeface="Cambria Math" panose="02040503050406030204" pitchFamily="18" charset="0"/>
                                    </a:rPr>
                                  </m:ctrlPr>
                                </m:sSubPr>
                                <m:e>
                                  <m:r>
                                    <a:rPr lang="en-AU" i="1">
                                      <a:latin typeface="Cambria Math" panose="02040503050406030204" pitchFamily="18" charset="0"/>
                                    </a:rPr>
                                    <m:t>𝑇</m:t>
                                  </m:r>
                                </m:e>
                                <m:sub>
                                  <m:r>
                                    <a:rPr lang="en-AU" i="1">
                                      <a:latin typeface="Cambria Math" panose="02040503050406030204" pitchFamily="18" charset="0"/>
                                    </a:rPr>
                                    <m:t>𝐹</m:t>
                                  </m:r>
                                </m:sub>
                              </m:sSub>
                            </m:num>
                            <m:den>
                              <m:sSub>
                                <m:sSubPr>
                                  <m:ctrlPr>
                                    <a:rPr lang="en-AU" i="1">
                                      <a:latin typeface="Cambria Math" panose="02040503050406030204" pitchFamily="18" charset="0"/>
                                    </a:rPr>
                                  </m:ctrlPr>
                                </m:sSubPr>
                                <m:e>
                                  <m:r>
                                    <a:rPr lang="en-AU" i="1">
                                      <a:latin typeface="Cambria Math" panose="02040503050406030204" pitchFamily="18" charset="0"/>
                                    </a:rPr>
                                    <m:t>𝑈</m:t>
                                  </m:r>
                                </m:e>
                                <m:sub>
                                  <m:r>
                                    <a:rPr lang="en-AU" i="1">
                                      <a:latin typeface="Cambria Math" panose="02040503050406030204" pitchFamily="18" charset="0"/>
                                    </a:rPr>
                                    <m:t>𝑈𝐿</m:t>
                                  </m:r>
                                </m:sub>
                              </m:sSub>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𝑈𝐿</m:t>
                                  </m:r>
                                </m:sub>
                              </m:sSub>
                              <m:r>
                                <a:rPr lang="en-AU" i="1">
                                  <a:latin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𝑈</m:t>
                                  </m:r>
                                </m:e>
                                <m:sub>
                                  <m:r>
                                    <a:rPr lang="en-AU" i="1">
                                      <a:latin typeface="Cambria Math" panose="02040503050406030204" pitchFamily="18" charset="0"/>
                                    </a:rPr>
                                    <m:t>𝐿𝐼</m:t>
                                  </m:r>
                                </m:sub>
                              </m:sSub>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𝑖𝑐𝑒</m:t>
                                  </m:r>
                                </m:sub>
                              </m:sSub>
                              <m:r>
                                <a:rPr lang="en-AU" i="1">
                                  <a:latin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𝑈</m:t>
                                  </m:r>
                                </m:e>
                                <m:sub>
                                  <m:r>
                                    <a:rPr lang="en-AU" i="1">
                                      <a:latin typeface="Cambria Math" panose="02040503050406030204" pitchFamily="18" charset="0"/>
                                    </a:rPr>
                                    <m:t>𝐿𝐹</m:t>
                                  </m:r>
                                </m:sub>
                              </m:sSub>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𝐹</m:t>
                                  </m:r>
                                </m:sub>
                              </m:sSub>
                            </m:den>
                          </m:f>
                          <m:r>
                            <a:rPr lang="en-AU" i="1">
                              <a:latin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𝑇</m:t>
                              </m:r>
                            </m:e>
                            <m:sub>
                              <m:r>
                                <a:rPr lang="en-AU" i="1">
                                  <a:latin typeface="Cambria Math" panose="02040503050406030204" pitchFamily="18" charset="0"/>
                                </a:rPr>
                                <m:t>𝑖𝑐𝑒</m:t>
                              </m:r>
                            </m:sub>
                          </m:sSub>
                        </m:e>
                      </m:d>
                    </m:oMath>
                  </m:oMathPara>
                </a14:m>
                <a:endParaRPr lang="en-AU"/>
              </a:p>
              <a:p>
                <a:endParaRPr lang="en-AU"/>
              </a:p>
              <a:p>
                <a:pPr/>
                <a14:m>
                  <m:oMathPara xmlns:m="http://schemas.openxmlformats.org/officeDocument/2006/math">
                    <m:oMath>
                      <m:sSub>
                        <m:sSubPr>
                          <m:ctrlPr>
                            <a:rPr lang="en-AU" sz="1600" i="1">
                              <a:latin typeface="Cambria Math" panose="02040503050406030204" pitchFamily="18" charset="0"/>
                            </a:rPr>
                          </m:ctrlPr>
                        </m:sSubPr>
                        <m:e>
                          <m:acc>
                            <m:accPr>
                              <m:chr m:val="̇"/>
                              <m:ctrlPr>
                                <a:rPr lang="en-AU" sz="1600" i="1">
                                  <a:latin typeface="Cambria Math" panose="02040503050406030204" pitchFamily="18" charset="0"/>
                                </a:rPr>
                              </m:ctrlPr>
                            </m:accPr>
                            <m:e>
                              <m:r>
                                <a:rPr lang="en-AU" sz="1600" i="1">
                                  <a:latin typeface="Cambria Math" panose="02040503050406030204" pitchFamily="18" charset="0"/>
                                </a:rPr>
                                <m:t>𝑄</m:t>
                              </m:r>
                            </m:e>
                          </m:acc>
                        </m:e>
                        <m:sub>
                          <m:r>
                            <a:rPr lang="en-AU" sz="1600" i="1">
                              <a:latin typeface="Cambria Math" panose="02040503050406030204" pitchFamily="18" charset="0"/>
                            </a:rPr>
                            <m:t>𝑈</m:t>
                          </m:r>
                        </m:sub>
                      </m:sSub>
                      <m:r>
                        <a:rPr lang="en-AU" sz="1600" i="1">
                          <a:latin typeface="Cambria Math" panose="02040503050406030204" pitchFamily="18" charset="0"/>
                        </a:rPr>
                        <m:t>=</m:t>
                      </m:r>
                      <m:sSub>
                        <m:sSubPr>
                          <m:ctrlPr>
                            <a:rPr lang="en-AU" sz="1600" i="1">
                              <a:latin typeface="Cambria Math" panose="02040503050406030204" pitchFamily="18" charset="0"/>
                            </a:rPr>
                          </m:ctrlPr>
                        </m:sSubPr>
                        <m:e>
                          <m:r>
                            <a:rPr lang="en-AU" sz="1600" i="1">
                              <a:latin typeface="Cambria Math" panose="02040503050406030204" pitchFamily="18" charset="0"/>
                            </a:rPr>
                            <m:t>𝑈</m:t>
                          </m:r>
                        </m:e>
                        <m:sub>
                          <m:r>
                            <a:rPr lang="en-AU" sz="1600" i="1">
                              <a:latin typeface="Cambria Math" panose="02040503050406030204" pitchFamily="18" charset="0"/>
                            </a:rPr>
                            <m:t>𝑈𝐿</m:t>
                          </m:r>
                        </m:sub>
                      </m:sSub>
                      <m:sSub>
                        <m:sSubPr>
                          <m:ctrlPr>
                            <a:rPr lang="en-AU" sz="1600" i="1">
                              <a:latin typeface="Cambria Math" panose="02040503050406030204" pitchFamily="18" charset="0"/>
                            </a:rPr>
                          </m:ctrlPr>
                        </m:sSubPr>
                        <m:e>
                          <m:r>
                            <a:rPr lang="en-AU" sz="1600" i="1">
                              <a:latin typeface="Cambria Math" panose="02040503050406030204" pitchFamily="18" charset="0"/>
                            </a:rPr>
                            <m:t>𝐴</m:t>
                          </m:r>
                        </m:e>
                        <m:sub>
                          <m:r>
                            <a:rPr lang="en-AU" sz="1600" i="1">
                              <a:latin typeface="Cambria Math" panose="02040503050406030204" pitchFamily="18" charset="0"/>
                            </a:rPr>
                            <m:t>𝑈𝐿</m:t>
                          </m:r>
                        </m:sub>
                      </m:sSub>
                      <m:d>
                        <m:dPr>
                          <m:ctrlPr>
                            <a:rPr lang="en-AU" sz="1600" i="1">
                              <a:latin typeface="Cambria Math" panose="02040503050406030204" pitchFamily="18" charset="0"/>
                            </a:rPr>
                          </m:ctrlPr>
                        </m:dPr>
                        <m:e>
                          <m:sSub>
                            <m:sSubPr>
                              <m:ctrlPr>
                                <a:rPr lang="en-AU" sz="1600" i="1">
                                  <a:latin typeface="Cambria Math" panose="02040503050406030204" pitchFamily="18" charset="0"/>
                                </a:rPr>
                              </m:ctrlPr>
                            </m:sSubPr>
                            <m:e>
                              <m:r>
                                <a:rPr lang="en-AU" sz="1600" i="1">
                                  <a:latin typeface="Cambria Math" panose="02040503050406030204" pitchFamily="18" charset="0"/>
                                </a:rPr>
                                <m:t>𝑇</m:t>
                              </m:r>
                            </m:e>
                            <m:sub>
                              <m:r>
                                <a:rPr lang="en-AU" sz="1600" i="1">
                                  <a:latin typeface="Cambria Math" panose="02040503050406030204" pitchFamily="18" charset="0"/>
                                </a:rPr>
                                <m:t>𝑈</m:t>
                              </m:r>
                            </m:sub>
                          </m:sSub>
                          <m:r>
                            <a:rPr lang="en-AU" sz="1600" i="1">
                              <a:latin typeface="Cambria Math" panose="02040503050406030204" pitchFamily="18" charset="0"/>
                            </a:rPr>
                            <m:t>−</m:t>
                          </m:r>
                          <m:f>
                            <m:fPr>
                              <m:ctrlPr>
                                <a:rPr lang="en-AU" sz="1600" i="1">
                                  <a:latin typeface="Cambria Math" panose="02040503050406030204" pitchFamily="18" charset="0"/>
                                </a:rPr>
                              </m:ctrlPr>
                            </m:fPr>
                            <m:num>
                              <m:sSub>
                                <m:sSubPr>
                                  <m:ctrlPr>
                                    <a:rPr lang="en-AU" sz="1600" i="1">
                                      <a:latin typeface="Cambria Math" panose="02040503050406030204" pitchFamily="18" charset="0"/>
                                    </a:rPr>
                                  </m:ctrlPr>
                                </m:sSubPr>
                                <m:e>
                                  <m:r>
                                    <a:rPr lang="en-AU" sz="1600" i="1">
                                      <a:latin typeface="Cambria Math" panose="02040503050406030204" pitchFamily="18" charset="0"/>
                                    </a:rPr>
                                    <m:t>𝑈</m:t>
                                  </m:r>
                                </m:e>
                                <m:sub>
                                  <m:r>
                                    <a:rPr lang="en-AU" sz="1600" i="1">
                                      <a:latin typeface="Cambria Math" panose="02040503050406030204" pitchFamily="18" charset="0"/>
                                    </a:rPr>
                                    <m:t>𝑈𝐿</m:t>
                                  </m:r>
                                </m:sub>
                              </m:sSub>
                              <m:sSub>
                                <m:sSubPr>
                                  <m:ctrlPr>
                                    <a:rPr lang="en-AU" sz="1600" i="1">
                                      <a:latin typeface="Cambria Math" panose="02040503050406030204" pitchFamily="18" charset="0"/>
                                    </a:rPr>
                                  </m:ctrlPr>
                                </m:sSubPr>
                                <m:e>
                                  <m:r>
                                    <a:rPr lang="en-AU" sz="1600" i="1">
                                      <a:latin typeface="Cambria Math" panose="02040503050406030204" pitchFamily="18" charset="0"/>
                                    </a:rPr>
                                    <m:t>𝐴</m:t>
                                  </m:r>
                                </m:e>
                                <m:sub>
                                  <m:r>
                                    <a:rPr lang="en-AU" sz="1600" i="1">
                                      <a:latin typeface="Cambria Math" panose="02040503050406030204" pitchFamily="18" charset="0"/>
                                    </a:rPr>
                                    <m:t>𝑈𝐿</m:t>
                                  </m:r>
                                </m:sub>
                              </m:sSub>
                              <m:sSub>
                                <m:sSubPr>
                                  <m:ctrlPr>
                                    <a:rPr lang="en-AU" sz="1600" i="1">
                                      <a:latin typeface="Cambria Math" panose="02040503050406030204" pitchFamily="18" charset="0"/>
                                    </a:rPr>
                                  </m:ctrlPr>
                                </m:sSubPr>
                                <m:e>
                                  <m:r>
                                    <a:rPr lang="en-AU" sz="1600" i="1">
                                      <a:latin typeface="Cambria Math" panose="02040503050406030204" pitchFamily="18" charset="0"/>
                                    </a:rPr>
                                    <m:t>𝑇</m:t>
                                  </m:r>
                                </m:e>
                                <m:sub>
                                  <m:r>
                                    <a:rPr lang="en-AU" sz="1600" i="1">
                                      <a:latin typeface="Cambria Math" panose="02040503050406030204" pitchFamily="18" charset="0"/>
                                    </a:rPr>
                                    <m:t>𝑈</m:t>
                                  </m:r>
                                </m:sub>
                              </m:sSub>
                              <m:r>
                                <a:rPr lang="en-AU" sz="1600" i="1">
                                  <a:latin typeface="Cambria Math" panose="02040503050406030204" pitchFamily="18" charset="0"/>
                                </a:rPr>
                                <m:t>+</m:t>
                              </m:r>
                              <m:sSub>
                                <m:sSubPr>
                                  <m:ctrlPr>
                                    <a:rPr lang="en-AU" sz="1600" i="1">
                                      <a:latin typeface="Cambria Math" panose="02040503050406030204" pitchFamily="18" charset="0"/>
                                    </a:rPr>
                                  </m:ctrlPr>
                                </m:sSubPr>
                                <m:e>
                                  <m:r>
                                    <a:rPr lang="en-AU" sz="1600" i="1">
                                      <a:latin typeface="Cambria Math" panose="02040503050406030204" pitchFamily="18" charset="0"/>
                                    </a:rPr>
                                    <m:t>𝑈</m:t>
                                  </m:r>
                                </m:e>
                                <m:sub>
                                  <m:r>
                                    <a:rPr lang="en-AU" sz="1600" i="1">
                                      <a:latin typeface="Cambria Math" panose="02040503050406030204" pitchFamily="18" charset="0"/>
                                    </a:rPr>
                                    <m:t>𝐿𝐼</m:t>
                                  </m:r>
                                </m:sub>
                              </m:sSub>
                              <m:sSub>
                                <m:sSubPr>
                                  <m:ctrlPr>
                                    <a:rPr lang="en-AU" sz="1600" i="1">
                                      <a:latin typeface="Cambria Math" panose="02040503050406030204" pitchFamily="18" charset="0"/>
                                    </a:rPr>
                                  </m:ctrlPr>
                                </m:sSubPr>
                                <m:e>
                                  <m:r>
                                    <a:rPr lang="en-AU" sz="1600" i="1">
                                      <a:latin typeface="Cambria Math" panose="02040503050406030204" pitchFamily="18" charset="0"/>
                                    </a:rPr>
                                    <m:t>𝐴</m:t>
                                  </m:r>
                                </m:e>
                                <m:sub>
                                  <m:r>
                                    <a:rPr lang="en-AU" sz="1600" i="1">
                                      <a:latin typeface="Cambria Math" panose="02040503050406030204" pitchFamily="18" charset="0"/>
                                    </a:rPr>
                                    <m:t>𝑖𝑐𝑒</m:t>
                                  </m:r>
                                </m:sub>
                              </m:sSub>
                              <m:sSub>
                                <m:sSubPr>
                                  <m:ctrlPr>
                                    <a:rPr lang="en-AU" sz="1600" i="1">
                                      <a:latin typeface="Cambria Math" panose="02040503050406030204" pitchFamily="18" charset="0"/>
                                    </a:rPr>
                                  </m:ctrlPr>
                                </m:sSubPr>
                                <m:e>
                                  <m:r>
                                    <a:rPr lang="en-AU" sz="1600" i="1">
                                      <a:latin typeface="Cambria Math" panose="02040503050406030204" pitchFamily="18" charset="0"/>
                                    </a:rPr>
                                    <m:t>𝑇</m:t>
                                  </m:r>
                                </m:e>
                                <m:sub>
                                  <m:r>
                                    <a:rPr lang="en-AU" sz="1600" i="1">
                                      <a:latin typeface="Cambria Math" panose="02040503050406030204" pitchFamily="18" charset="0"/>
                                    </a:rPr>
                                    <m:t>𝑖𝑐𝑒</m:t>
                                  </m:r>
                                </m:sub>
                              </m:sSub>
                              <m:r>
                                <a:rPr lang="en-AU" sz="1600" i="1">
                                  <a:latin typeface="Cambria Math" panose="02040503050406030204" pitchFamily="18" charset="0"/>
                                </a:rPr>
                                <m:t>+</m:t>
                              </m:r>
                              <m:sSub>
                                <m:sSubPr>
                                  <m:ctrlPr>
                                    <a:rPr lang="en-AU" sz="1600" i="1">
                                      <a:latin typeface="Cambria Math" panose="02040503050406030204" pitchFamily="18" charset="0"/>
                                    </a:rPr>
                                  </m:ctrlPr>
                                </m:sSubPr>
                                <m:e>
                                  <m:r>
                                    <a:rPr lang="en-AU" sz="1600" i="1">
                                      <a:latin typeface="Cambria Math" panose="02040503050406030204" pitchFamily="18" charset="0"/>
                                    </a:rPr>
                                    <m:t>𝑈</m:t>
                                  </m:r>
                                </m:e>
                                <m:sub>
                                  <m:r>
                                    <a:rPr lang="en-AU" sz="1600" i="1">
                                      <a:latin typeface="Cambria Math" panose="02040503050406030204" pitchFamily="18" charset="0"/>
                                    </a:rPr>
                                    <m:t>𝐿𝐹</m:t>
                                  </m:r>
                                </m:sub>
                              </m:sSub>
                              <m:sSub>
                                <m:sSubPr>
                                  <m:ctrlPr>
                                    <a:rPr lang="en-AU" sz="1600" i="1">
                                      <a:latin typeface="Cambria Math" panose="02040503050406030204" pitchFamily="18" charset="0"/>
                                    </a:rPr>
                                  </m:ctrlPr>
                                </m:sSubPr>
                                <m:e>
                                  <m:r>
                                    <a:rPr lang="en-AU" sz="1600" i="1">
                                      <a:latin typeface="Cambria Math" panose="02040503050406030204" pitchFamily="18" charset="0"/>
                                    </a:rPr>
                                    <m:t>𝐴</m:t>
                                  </m:r>
                                </m:e>
                                <m:sub>
                                  <m:r>
                                    <a:rPr lang="en-AU" sz="1600" i="1">
                                      <a:latin typeface="Cambria Math" panose="02040503050406030204" pitchFamily="18" charset="0"/>
                                    </a:rPr>
                                    <m:t>𝐹</m:t>
                                  </m:r>
                                </m:sub>
                              </m:sSub>
                              <m:sSub>
                                <m:sSubPr>
                                  <m:ctrlPr>
                                    <a:rPr lang="en-AU" sz="1600" i="1">
                                      <a:latin typeface="Cambria Math" panose="02040503050406030204" pitchFamily="18" charset="0"/>
                                    </a:rPr>
                                  </m:ctrlPr>
                                </m:sSubPr>
                                <m:e>
                                  <m:r>
                                    <a:rPr lang="en-AU" sz="1600" i="1">
                                      <a:latin typeface="Cambria Math" panose="02040503050406030204" pitchFamily="18" charset="0"/>
                                    </a:rPr>
                                    <m:t>𝑇</m:t>
                                  </m:r>
                                </m:e>
                                <m:sub>
                                  <m:r>
                                    <a:rPr lang="en-AU" sz="1600" i="1">
                                      <a:latin typeface="Cambria Math" panose="02040503050406030204" pitchFamily="18" charset="0"/>
                                    </a:rPr>
                                    <m:t>𝐹</m:t>
                                  </m:r>
                                </m:sub>
                              </m:sSub>
                            </m:num>
                            <m:den>
                              <m:sSub>
                                <m:sSubPr>
                                  <m:ctrlPr>
                                    <a:rPr lang="en-AU" sz="1600" i="1">
                                      <a:latin typeface="Cambria Math" panose="02040503050406030204" pitchFamily="18" charset="0"/>
                                    </a:rPr>
                                  </m:ctrlPr>
                                </m:sSubPr>
                                <m:e>
                                  <m:r>
                                    <a:rPr lang="en-AU" sz="1600" i="1">
                                      <a:latin typeface="Cambria Math" panose="02040503050406030204" pitchFamily="18" charset="0"/>
                                    </a:rPr>
                                    <m:t>𝑈</m:t>
                                  </m:r>
                                </m:e>
                                <m:sub>
                                  <m:r>
                                    <a:rPr lang="en-AU" sz="1600" i="1">
                                      <a:latin typeface="Cambria Math" panose="02040503050406030204" pitchFamily="18" charset="0"/>
                                    </a:rPr>
                                    <m:t>𝑈𝐿</m:t>
                                  </m:r>
                                </m:sub>
                              </m:sSub>
                              <m:sSub>
                                <m:sSubPr>
                                  <m:ctrlPr>
                                    <a:rPr lang="en-AU" sz="1600" i="1">
                                      <a:latin typeface="Cambria Math" panose="02040503050406030204" pitchFamily="18" charset="0"/>
                                    </a:rPr>
                                  </m:ctrlPr>
                                </m:sSubPr>
                                <m:e>
                                  <m:r>
                                    <a:rPr lang="en-AU" sz="1600" i="1">
                                      <a:latin typeface="Cambria Math" panose="02040503050406030204" pitchFamily="18" charset="0"/>
                                    </a:rPr>
                                    <m:t>𝐴</m:t>
                                  </m:r>
                                </m:e>
                                <m:sub>
                                  <m:r>
                                    <a:rPr lang="en-AU" sz="1600" i="1">
                                      <a:latin typeface="Cambria Math" panose="02040503050406030204" pitchFamily="18" charset="0"/>
                                    </a:rPr>
                                    <m:t>𝑈𝐿</m:t>
                                  </m:r>
                                </m:sub>
                              </m:sSub>
                              <m:r>
                                <a:rPr lang="en-AU" sz="1600" i="1">
                                  <a:latin typeface="Cambria Math" panose="02040503050406030204" pitchFamily="18" charset="0"/>
                                </a:rPr>
                                <m:t>+</m:t>
                              </m:r>
                              <m:sSub>
                                <m:sSubPr>
                                  <m:ctrlPr>
                                    <a:rPr lang="en-AU" sz="1600" i="1">
                                      <a:latin typeface="Cambria Math" panose="02040503050406030204" pitchFamily="18" charset="0"/>
                                    </a:rPr>
                                  </m:ctrlPr>
                                </m:sSubPr>
                                <m:e>
                                  <m:r>
                                    <a:rPr lang="en-AU" sz="1600" i="1">
                                      <a:latin typeface="Cambria Math" panose="02040503050406030204" pitchFamily="18" charset="0"/>
                                    </a:rPr>
                                    <m:t>𝑈</m:t>
                                  </m:r>
                                </m:e>
                                <m:sub>
                                  <m:r>
                                    <a:rPr lang="en-AU" sz="1600" i="1">
                                      <a:latin typeface="Cambria Math" panose="02040503050406030204" pitchFamily="18" charset="0"/>
                                    </a:rPr>
                                    <m:t>𝐿𝐼</m:t>
                                  </m:r>
                                </m:sub>
                              </m:sSub>
                              <m:sSub>
                                <m:sSubPr>
                                  <m:ctrlPr>
                                    <a:rPr lang="en-AU" sz="1600" i="1">
                                      <a:latin typeface="Cambria Math" panose="02040503050406030204" pitchFamily="18" charset="0"/>
                                    </a:rPr>
                                  </m:ctrlPr>
                                </m:sSubPr>
                                <m:e>
                                  <m:r>
                                    <a:rPr lang="en-AU" sz="1600" i="1">
                                      <a:latin typeface="Cambria Math" panose="02040503050406030204" pitchFamily="18" charset="0"/>
                                    </a:rPr>
                                    <m:t>𝐴</m:t>
                                  </m:r>
                                </m:e>
                                <m:sub>
                                  <m:r>
                                    <a:rPr lang="en-AU" sz="1600" i="1">
                                      <a:latin typeface="Cambria Math" panose="02040503050406030204" pitchFamily="18" charset="0"/>
                                    </a:rPr>
                                    <m:t>𝑖𝑐𝑒</m:t>
                                  </m:r>
                                </m:sub>
                              </m:sSub>
                              <m:r>
                                <a:rPr lang="en-AU" sz="1600" i="1">
                                  <a:latin typeface="Cambria Math" panose="02040503050406030204" pitchFamily="18" charset="0"/>
                                </a:rPr>
                                <m:t>+</m:t>
                              </m:r>
                              <m:sSub>
                                <m:sSubPr>
                                  <m:ctrlPr>
                                    <a:rPr lang="en-AU" sz="1600" i="1">
                                      <a:latin typeface="Cambria Math" panose="02040503050406030204" pitchFamily="18" charset="0"/>
                                    </a:rPr>
                                  </m:ctrlPr>
                                </m:sSubPr>
                                <m:e>
                                  <m:r>
                                    <a:rPr lang="en-AU" sz="1600" i="1">
                                      <a:latin typeface="Cambria Math" panose="02040503050406030204" pitchFamily="18" charset="0"/>
                                    </a:rPr>
                                    <m:t>𝑈</m:t>
                                  </m:r>
                                </m:e>
                                <m:sub>
                                  <m:r>
                                    <a:rPr lang="en-AU" sz="1600" i="1">
                                      <a:latin typeface="Cambria Math" panose="02040503050406030204" pitchFamily="18" charset="0"/>
                                    </a:rPr>
                                    <m:t>𝐿𝐹</m:t>
                                  </m:r>
                                </m:sub>
                              </m:sSub>
                              <m:sSub>
                                <m:sSubPr>
                                  <m:ctrlPr>
                                    <a:rPr lang="en-AU" sz="1600" i="1">
                                      <a:latin typeface="Cambria Math" panose="02040503050406030204" pitchFamily="18" charset="0"/>
                                    </a:rPr>
                                  </m:ctrlPr>
                                </m:sSubPr>
                                <m:e>
                                  <m:r>
                                    <a:rPr lang="en-AU" sz="1600" i="1">
                                      <a:latin typeface="Cambria Math" panose="02040503050406030204" pitchFamily="18" charset="0"/>
                                    </a:rPr>
                                    <m:t>𝐴</m:t>
                                  </m:r>
                                </m:e>
                                <m:sub>
                                  <m:r>
                                    <a:rPr lang="en-AU" sz="1600" i="1">
                                      <a:latin typeface="Cambria Math" panose="02040503050406030204" pitchFamily="18" charset="0"/>
                                    </a:rPr>
                                    <m:t>𝐹</m:t>
                                  </m:r>
                                </m:sub>
                              </m:sSub>
                            </m:den>
                          </m:f>
                        </m:e>
                      </m:d>
                      <m:r>
                        <a:rPr lang="en-AU" sz="1600" i="1">
                          <a:latin typeface="Cambria Math" panose="02040503050406030204" pitchFamily="18" charset="0"/>
                        </a:rPr>
                        <m:t>−</m:t>
                      </m:r>
                      <m:sSub>
                        <m:sSubPr>
                          <m:ctrlPr>
                            <a:rPr lang="en-AU" sz="1600" i="1">
                              <a:latin typeface="Cambria Math" panose="02040503050406030204" pitchFamily="18" charset="0"/>
                            </a:rPr>
                          </m:ctrlPr>
                        </m:sSubPr>
                        <m:e>
                          <m:r>
                            <a:rPr lang="en-AU" sz="1600" i="1">
                              <a:latin typeface="Cambria Math" panose="02040503050406030204" pitchFamily="18" charset="0"/>
                            </a:rPr>
                            <m:t>𝑈</m:t>
                          </m:r>
                        </m:e>
                        <m:sub>
                          <m:r>
                            <a:rPr lang="en-AU" sz="1600" i="1">
                              <a:latin typeface="Cambria Math" panose="02040503050406030204" pitchFamily="18" charset="0"/>
                            </a:rPr>
                            <m:t>𝑒𝑛𝑣</m:t>
                          </m:r>
                        </m:sub>
                      </m:sSub>
                      <m:sSub>
                        <m:sSubPr>
                          <m:ctrlPr>
                            <a:rPr lang="en-AU" sz="1600" i="1">
                              <a:latin typeface="Cambria Math" panose="02040503050406030204" pitchFamily="18" charset="0"/>
                            </a:rPr>
                          </m:ctrlPr>
                        </m:sSubPr>
                        <m:e>
                          <m:r>
                            <a:rPr lang="en-AU" sz="1600" i="1">
                              <a:latin typeface="Cambria Math" panose="02040503050406030204" pitchFamily="18" charset="0"/>
                            </a:rPr>
                            <m:t>𝐴</m:t>
                          </m:r>
                        </m:e>
                        <m:sub>
                          <m:r>
                            <a:rPr lang="en-AU" sz="1600" i="1">
                              <a:latin typeface="Cambria Math" panose="02040503050406030204" pitchFamily="18" charset="0"/>
                            </a:rPr>
                            <m:t>𝑒𝑛𝑣</m:t>
                          </m:r>
                        </m:sub>
                      </m:sSub>
                      <m:d>
                        <m:dPr>
                          <m:ctrlPr>
                            <a:rPr lang="en-AU" sz="1600" i="1">
                              <a:latin typeface="Cambria Math" panose="02040503050406030204" pitchFamily="18" charset="0"/>
                            </a:rPr>
                          </m:ctrlPr>
                        </m:dPr>
                        <m:e>
                          <m:sSub>
                            <m:sSubPr>
                              <m:ctrlPr>
                                <a:rPr lang="en-AU" sz="1600" i="1">
                                  <a:latin typeface="Cambria Math" panose="02040503050406030204" pitchFamily="18" charset="0"/>
                                </a:rPr>
                              </m:ctrlPr>
                            </m:sSubPr>
                            <m:e>
                              <m:r>
                                <a:rPr lang="en-AU" sz="1600" i="1">
                                  <a:latin typeface="Cambria Math" panose="02040503050406030204" pitchFamily="18" charset="0"/>
                                </a:rPr>
                                <m:t>𝑇</m:t>
                              </m:r>
                            </m:e>
                            <m:sub>
                              <m:r>
                                <a:rPr lang="en-AU" sz="1600" i="1">
                                  <a:latin typeface="Cambria Math" panose="02040503050406030204" pitchFamily="18" charset="0"/>
                                </a:rPr>
                                <m:t>𝑒𝑛𝑣</m:t>
                              </m:r>
                            </m:sub>
                          </m:sSub>
                          <m:r>
                            <a:rPr lang="en-AU" sz="1600" i="1">
                              <a:latin typeface="Cambria Math" panose="02040503050406030204" pitchFamily="18" charset="0"/>
                            </a:rPr>
                            <m:t>−</m:t>
                          </m:r>
                          <m:sSub>
                            <m:sSubPr>
                              <m:ctrlPr>
                                <a:rPr lang="en-AU" sz="1600" i="1">
                                  <a:latin typeface="Cambria Math" panose="02040503050406030204" pitchFamily="18" charset="0"/>
                                </a:rPr>
                              </m:ctrlPr>
                            </m:sSubPr>
                            <m:e>
                              <m:r>
                                <a:rPr lang="en-AU" sz="1600" i="1">
                                  <a:latin typeface="Cambria Math" panose="02040503050406030204" pitchFamily="18" charset="0"/>
                                </a:rPr>
                                <m:t>𝑇</m:t>
                              </m:r>
                            </m:e>
                            <m:sub>
                              <m:r>
                                <a:rPr lang="en-AU" sz="1600" i="1">
                                  <a:latin typeface="Cambria Math" panose="02040503050406030204" pitchFamily="18" charset="0"/>
                                </a:rPr>
                                <m:t>𝑈</m:t>
                              </m:r>
                            </m:sub>
                          </m:sSub>
                        </m:e>
                      </m:d>
                    </m:oMath>
                  </m:oMathPara>
                </a14:m>
                <a:endParaRPr lang="en-AU" sz="1100"/>
              </a:p>
            </p:txBody>
          </p:sp>
        </mc:Choice>
        <mc:Fallback xmlns="">
          <p:sp>
            <p:nvSpPr>
              <p:cNvPr id="10" name="TextBox 9">
                <a:extLst>
                  <a:ext uri="{FF2B5EF4-FFF2-40B4-BE49-F238E27FC236}">
                    <a16:creationId xmlns:a16="http://schemas.microsoft.com/office/drawing/2014/main" id="{EA5045FD-C367-CF9F-9BBD-8522D05CB137}"/>
                  </a:ext>
                </a:extLst>
              </p:cNvPr>
              <p:cNvSpPr txBox="1">
                <a:spLocks noRot="1" noChangeAspect="1" noMove="1" noResize="1" noEditPoints="1" noAdjustHandles="1" noChangeArrowheads="1" noChangeShapeType="1" noTextEdit="1"/>
              </p:cNvSpPr>
              <p:nvPr/>
            </p:nvSpPr>
            <p:spPr>
              <a:xfrm>
                <a:off x="4822166" y="2026303"/>
                <a:ext cx="7276700" cy="3901324"/>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28907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B8AA9-DEC0-2DE2-9450-849B8DD2C19C}"/>
              </a:ext>
            </a:extLst>
          </p:cNvPr>
          <p:cNvSpPr>
            <a:spLocks noGrp="1"/>
          </p:cNvSpPr>
          <p:nvPr>
            <p:ph type="title"/>
          </p:nvPr>
        </p:nvSpPr>
        <p:spPr/>
        <p:txBody>
          <a:bodyPr/>
          <a:lstStyle/>
          <a:p>
            <a:r>
              <a:rPr lang="en-US">
                <a:latin typeface="Aptos Display"/>
                <a:ea typeface="+mj-lt"/>
                <a:cs typeface="+mj-lt"/>
              </a:rPr>
              <a:t>Solution Methodology: Model Input</a:t>
            </a:r>
            <a:endParaRPr lang="en-US"/>
          </a:p>
        </p:txBody>
      </p:sp>
      <p:sp>
        <p:nvSpPr>
          <p:cNvPr id="3" name="Content Placeholder 2">
            <a:extLst>
              <a:ext uri="{FF2B5EF4-FFF2-40B4-BE49-F238E27FC236}">
                <a16:creationId xmlns:a16="http://schemas.microsoft.com/office/drawing/2014/main" id="{F3AE0EA1-2791-F0CF-530C-E294BCA1F133}"/>
              </a:ext>
            </a:extLst>
          </p:cNvPr>
          <p:cNvSpPr>
            <a:spLocks noGrp="1"/>
          </p:cNvSpPr>
          <p:nvPr>
            <p:ph idx="1"/>
          </p:nvPr>
        </p:nvSpPr>
        <p:spPr>
          <a:xfrm>
            <a:off x="838200" y="2061469"/>
            <a:ext cx="11238186" cy="396768"/>
          </a:xfrm>
        </p:spPr>
        <p:txBody>
          <a:bodyPr vert="horz" lIns="91440" tIns="45720" rIns="91440" bIns="45720" rtlCol="0" anchor="t">
            <a:normAutofit/>
          </a:bodyPr>
          <a:lstStyle/>
          <a:p>
            <a:r>
              <a:rPr lang="en-AU">
                <a:ea typeface="Calibri"/>
                <a:cs typeface="Calibri"/>
              </a:rPr>
              <a:t>We evaluate the closed form solution with these input: The geometry, Set points, and Published coefficients </a:t>
            </a:r>
          </a:p>
        </p:txBody>
      </p:sp>
      <p:graphicFrame>
        <p:nvGraphicFramePr>
          <p:cNvPr id="9" name="Inputs table: geometry and temperatures">
            <a:extLst>
              <a:ext uri="{FF2B5EF4-FFF2-40B4-BE49-F238E27FC236}">
                <a16:creationId xmlns:a16="http://schemas.microsoft.com/office/drawing/2014/main" id="{D4C872A1-D594-F951-0952-2BFB5420CA73}"/>
              </a:ext>
            </a:extLst>
          </p:cNvPr>
          <p:cNvGraphicFramePr>
            <a:graphicFrameLocks noGrp="1"/>
          </p:cNvGraphicFramePr>
          <p:nvPr>
            <p:extLst>
              <p:ext uri="{D42A27DB-BD31-4B8C-83A1-F6EECF244321}">
                <p14:modId xmlns:p14="http://schemas.microsoft.com/office/powerpoint/2010/main" val="1634813992"/>
              </p:ext>
            </p:extLst>
          </p:nvPr>
        </p:nvGraphicFramePr>
        <p:xfrm>
          <a:off x="838200" y="2458237"/>
          <a:ext cx="4892040" cy="3621024"/>
        </p:xfrm>
        <a:graphic>
          <a:graphicData uri="http://schemas.openxmlformats.org/drawingml/2006/table">
            <a:tbl>
              <a:tblPr firstRow="1" bandRow="1">
                <a:tableStyleId>{5C22544A-7EE6-4342-B048-85BDC9FD1C3A}</a:tableStyleId>
              </a:tblPr>
              <a:tblGrid>
                <a:gridCol w="868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29184">
                <a:tc>
                  <a:txBody>
                    <a:bodyPr/>
                    <a:lstStyle/>
                    <a:p>
                      <a:r>
                        <a:rPr lang="en-AU" sz="1600"/>
                        <a:t>Symbol</a:t>
                      </a:r>
                    </a:p>
                  </a:txBody>
                  <a:tcPr marL="73152" marR="73152" marT="36576" marB="36576" anchor="ctr"/>
                </a:tc>
                <a:tc>
                  <a:txBody>
                    <a:bodyPr/>
                    <a:lstStyle/>
                    <a:p>
                      <a:r>
                        <a:rPr lang="en-AU" sz="1600"/>
                        <a:t>Meaning</a:t>
                      </a:r>
                    </a:p>
                  </a:txBody>
                  <a:tcPr marL="73152" marR="73152" marT="36576" marB="36576" anchor="ctr"/>
                </a:tc>
                <a:tc>
                  <a:txBody>
                    <a:bodyPr/>
                    <a:lstStyle/>
                    <a:p>
                      <a:r>
                        <a:rPr lang="en-AU" sz="1600"/>
                        <a:t>Baseline (range)</a:t>
                      </a:r>
                    </a:p>
                  </a:txBody>
                  <a:tcPr marL="73152" marR="73152" marT="36576" marB="36576" anchor="ctr"/>
                </a:tc>
                <a:extLst>
                  <a:ext uri="{0D108BD9-81ED-4DB2-BD59-A6C34878D82A}">
                    <a16:rowId xmlns:a16="http://schemas.microsoft.com/office/drawing/2014/main" val="10000"/>
                  </a:ext>
                </a:extLst>
              </a:tr>
              <a:tr h="329184">
                <a:tc gridSpan="3">
                  <a:txBody>
                    <a:bodyPr/>
                    <a:lstStyle/>
                    <a:p>
                      <a:r>
                        <a:rPr lang="en-AU" sz="1600" b="1"/>
                        <a:t>Areas (m²)</a:t>
                      </a:r>
                    </a:p>
                  </a:txBody>
                  <a:tcPr marL="73152" marR="73152" marT="36576" marB="36576" anchor="ctr">
                    <a:solidFill>
                      <a:schemeClr val="accent1">
                        <a:lumMod val="20000"/>
                        <a:lumOff val="80000"/>
                      </a:schemeClr>
                    </a:solidFill>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10001"/>
                  </a:ext>
                </a:extLst>
              </a:tr>
              <a:tr h="329184">
                <a:tc>
                  <a:txBody>
                    <a:bodyPr/>
                    <a:lstStyle/>
                    <a:p>
                      <a:r>
                        <a:rPr lang="en-AU" sz="1600" i="1"/>
                        <a:t>A</a:t>
                      </a:r>
                      <a:r>
                        <a:rPr lang="en-AU" sz="1600" baseline="-25000"/>
                        <a:t>ice</a:t>
                      </a:r>
                    </a:p>
                  </a:txBody>
                  <a:tcPr marL="73152" marR="73152" marT="36576" marB="36576" anchor="ctr"/>
                </a:tc>
                <a:tc>
                  <a:txBody>
                    <a:bodyPr/>
                    <a:lstStyle/>
                    <a:p>
                      <a:r>
                        <a:rPr lang="en-AU" sz="1600"/>
                        <a:t>Ice surface</a:t>
                      </a:r>
                    </a:p>
                  </a:txBody>
                  <a:tcPr marL="73152" marR="73152" marT="36576" marB="36576" anchor="ctr"/>
                </a:tc>
                <a:tc>
                  <a:txBody>
                    <a:bodyPr/>
                    <a:lstStyle/>
                    <a:p>
                      <a:r>
                        <a:rPr lang="en-AU" sz="1600"/>
                        <a:t>1800</a:t>
                      </a:r>
                    </a:p>
                  </a:txBody>
                  <a:tcPr marL="73152" marR="73152" marT="36576" marB="36576" anchor="ctr"/>
                </a:tc>
                <a:extLst>
                  <a:ext uri="{0D108BD9-81ED-4DB2-BD59-A6C34878D82A}">
                    <a16:rowId xmlns:a16="http://schemas.microsoft.com/office/drawing/2014/main" val="10002"/>
                  </a:ext>
                </a:extLst>
              </a:tr>
              <a:tr h="329184">
                <a:tc>
                  <a:txBody>
                    <a:bodyPr/>
                    <a:lstStyle/>
                    <a:p>
                      <a:r>
                        <a:rPr lang="en-AU" sz="1600" i="1"/>
                        <a:t>A</a:t>
                      </a:r>
                      <a:r>
                        <a:rPr lang="en-AU" sz="1600" baseline="-25000"/>
                        <a:t>F</a:t>
                      </a:r>
                    </a:p>
                  </a:txBody>
                  <a:tcPr marL="73152" marR="73152" marT="36576" marB="36576" anchor="ctr"/>
                </a:tc>
                <a:tc>
                  <a:txBody>
                    <a:bodyPr/>
                    <a:lstStyle/>
                    <a:p>
                      <a:r>
                        <a:rPr lang="en-AU" sz="1600"/>
                        <a:t>Non-ice floor</a:t>
                      </a:r>
                    </a:p>
                  </a:txBody>
                  <a:tcPr marL="73152" marR="73152" marT="36576" marB="36576" anchor="ctr"/>
                </a:tc>
                <a:tc>
                  <a:txBody>
                    <a:bodyPr/>
                    <a:lstStyle/>
                    <a:p>
                      <a:r>
                        <a:rPr lang="en-AU" sz="1600"/>
                        <a:t>2200</a:t>
                      </a:r>
                    </a:p>
                  </a:txBody>
                  <a:tcPr marL="73152" marR="73152" marT="36576" marB="36576" anchor="ctr"/>
                </a:tc>
                <a:extLst>
                  <a:ext uri="{0D108BD9-81ED-4DB2-BD59-A6C34878D82A}">
                    <a16:rowId xmlns:a16="http://schemas.microsoft.com/office/drawing/2014/main" val="10003"/>
                  </a:ext>
                </a:extLst>
              </a:tr>
              <a:tr h="329184">
                <a:tc>
                  <a:txBody>
                    <a:bodyPr/>
                    <a:lstStyle/>
                    <a:p>
                      <a:r>
                        <a:rPr lang="en-AU" sz="1600" i="1"/>
                        <a:t>A</a:t>
                      </a:r>
                      <a:r>
                        <a:rPr lang="en-AU" sz="1600" baseline="-25000"/>
                        <a:t>UL</a:t>
                      </a:r>
                    </a:p>
                  </a:txBody>
                  <a:tcPr marL="73152" marR="73152" marT="36576" marB="36576" anchor="ctr"/>
                </a:tc>
                <a:tc>
                  <a:txBody>
                    <a:bodyPr/>
                    <a:lstStyle/>
                    <a:p>
                      <a:r>
                        <a:rPr lang="en-AU" sz="1600"/>
                        <a:t>Zone interface</a:t>
                      </a:r>
                    </a:p>
                  </a:txBody>
                  <a:tcPr marL="73152" marR="73152" marT="36576" marB="36576" anchor="ctr"/>
                </a:tc>
                <a:tc>
                  <a:txBody>
                    <a:bodyPr/>
                    <a:lstStyle/>
                    <a:p>
                      <a:r>
                        <a:rPr lang="en-AU" sz="1600"/>
                        <a:t>4000</a:t>
                      </a:r>
                    </a:p>
                  </a:txBody>
                  <a:tcPr marL="73152" marR="73152" marT="36576" marB="36576" anchor="ctr"/>
                </a:tc>
                <a:extLst>
                  <a:ext uri="{0D108BD9-81ED-4DB2-BD59-A6C34878D82A}">
                    <a16:rowId xmlns:a16="http://schemas.microsoft.com/office/drawing/2014/main" val="10004"/>
                  </a:ext>
                </a:extLst>
              </a:tr>
              <a:tr h="329184">
                <a:tc>
                  <a:txBody>
                    <a:bodyPr/>
                    <a:lstStyle/>
                    <a:p>
                      <a:r>
                        <a:rPr lang="en-AU" sz="1600" i="1"/>
                        <a:t>A</a:t>
                      </a:r>
                      <a:r>
                        <a:rPr lang="en-AU" sz="1600" baseline="-25000"/>
                        <a:t>env</a:t>
                      </a:r>
                    </a:p>
                  </a:txBody>
                  <a:tcPr marL="73152" marR="73152" marT="36576" marB="36576" anchor="ctr"/>
                </a:tc>
                <a:tc>
                  <a:txBody>
                    <a:bodyPr/>
                    <a:lstStyle/>
                    <a:p>
                      <a:r>
                        <a:rPr lang="en-AU" sz="1600"/>
                        <a:t>Roof + upper walls</a:t>
                      </a:r>
                    </a:p>
                  </a:txBody>
                  <a:tcPr marL="73152" marR="73152" marT="36576" marB="36576" anchor="ctr"/>
                </a:tc>
                <a:tc>
                  <a:txBody>
                    <a:bodyPr/>
                    <a:lstStyle/>
                    <a:p>
                      <a:r>
                        <a:rPr lang="en-AU" sz="1600"/>
                        <a:t>6340</a:t>
                      </a:r>
                    </a:p>
                  </a:txBody>
                  <a:tcPr marL="73152" marR="73152" marT="36576" marB="36576" anchor="ctr"/>
                </a:tc>
                <a:extLst>
                  <a:ext uri="{0D108BD9-81ED-4DB2-BD59-A6C34878D82A}">
                    <a16:rowId xmlns:a16="http://schemas.microsoft.com/office/drawing/2014/main" val="10005"/>
                  </a:ext>
                </a:extLst>
              </a:tr>
              <a:tr h="329184">
                <a:tc gridSpan="3">
                  <a:txBody>
                    <a:bodyPr/>
                    <a:lstStyle/>
                    <a:p>
                      <a:r>
                        <a:rPr lang="en-AU" sz="1600" b="1"/>
                        <a:t>Temperatures (°C)</a:t>
                      </a:r>
                    </a:p>
                  </a:txBody>
                  <a:tcPr marL="73152" marR="73152" marT="36576" marB="36576" anchor="ctr">
                    <a:solidFill>
                      <a:schemeClr val="accent1">
                        <a:lumMod val="20000"/>
                        <a:lumOff val="80000"/>
                      </a:schemeClr>
                    </a:solidFill>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10006"/>
                  </a:ext>
                </a:extLst>
              </a:tr>
              <a:tr h="329184">
                <a:tc>
                  <a:txBody>
                    <a:bodyPr/>
                    <a:lstStyle/>
                    <a:p>
                      <a:r>
                        <a:rPr lang="en-AU" sz="1600" i="1"/>
                        <a:t>T</a:t>
                      </a:r>
                      <a:r>
                        <a:rPr lang="en-AU" sz="1600" baseline="-25000"/>
                        <a:t>U</a:t>
                      </a:r>
                    </a:p>
                  </a:txBody>
                  <a:tcPr marL="73152" marR="73152" marT="36576" marB="36576" anchor="ctr"/>
                </a:tc>
                <a:tc>
                  <a:txBody>
                    <a:bodyPr/>
                    <a:lstStyle/>
                    <a:p>
                      <a:r>
                        <a:rPr lang="en-AU" sz="1600"/>
                        <a:t>Upper-zone air</a:t>
                      </a:r>
                    </a:p>
                  </a:txBody>
                  <a:tcPr marL="73152" marR="73152" marT="36576" marB="36576" anchor="ctr"/>
                </a:tc>
                <a:tc>
                  <a:txBody>
                    <a:bodyPr/>
                    <a:lstStyle/>
                    <a:p>
                      <a:r>
                        <a:rPr lang="en-AU" sz="1600"/>
                        <a:t>10 (8.7–15)</a:t>
                      </a:r>
                    </a:p>
                  </a:txBody>
                  <a:tcPr marL="73152" marR="73152" marT="36576" marB="36576" anchor="ctr"/>
                </a:tc>
                <a:extLst>
                  <a:ext uri="{0D108BD9-81ED-4DB2-BD59-A6C34878D82A}">
                    <a16:rowId xmlns:a16="http://schemas.microsoft.com/office/drawing/2014/main" val="10007"/>
                  </a:ext>
                </a:extLst>
              </a:tr>
              <a:tr h="329184">
                <a:tc>
                  <a:txBody>
                    <a:bodyPr/>
                    <a:lstStyle/>
                    <a:p>
                      <a:r>
                        <a:rPr lang="en-AU" sz="1600" i="1"/>
                        <a:t>T</a:t>
                      </a:r>
                      <a:r>
                        <a:rPr lang="en-AU" sz="1600" baseline="-25000"/>
                        <a:t>ice</a:t>
                      </a:r>
                    </a:p>
                  </a:txBody>
                  <a:tcPr marL="73152" marR="73152" marT="36576" marB="36576" anchor="ctr"/>
                </a:tc>
                <a:tc>
                  <a:txBody>
                    <a:bodyPr/>
                    <a:lstStyle/>
                    <a:p>
                      <a:r>
                        <a:rPr lang="en-AU" sz="1600"/>
                        <a:t>Ice surface</a:t>
                      </a:r>
                    </a:p>
                  </a:txBody>
                  <a:tcPr marL="73152" marR="73152" marT="36576" marB="36576" anchor="ctr"/>
                </a:tc>
                <a:tc>
                  <a:txBody>
                    <a:bodyPr/>
                    <a:lstStyle/>
                    <a:p>
                      <a:r>
                        <a:rPr lang="en-AU" sz="1600"/>
                        <a:t>−4 (−5 to −3)</a:t>
                      </a:r>
                    </a:p>
                  </a:txBody>
                  <a:tcPr marL="73152" marR="73152" marT="36576" marB="36576" anchor="ctr"/>
                </a:tc>
                <a:extLst>
                  <a:ext uri="{0D108BD9-81ED-4DB2-BD59-A6C34878D82A}">
                    <a16:rowId xmlns:a16="http://schemas.microsoft.com/office/drawing/2014/main" val="10008"/>
                  </a:ext>
                </a:extLst>
              </a:tr>
              <a:tr h="329184">
                <a:tc>
                  <a:txBody>
                    <a:bodyPr/>
                    <a:lstStyle/>
                    <a:p>
                      <a:r>
                        <a:rPr lang="en-AU" sz="1600" i="1"/>
                        <a:t>T</a:t>
                      </a:r>
                      <a:r>
                        <a:rPr lang="en-AU" sz="1600" baseline="-25000"/>
                        <a:t>F</a:t>
                      </a:r>
                    </a:p>
                  </a:txBody>
                  <a:tcPr marL="73152" marR="73152" marT="36576" marB="36576" anchor="ctr"/>
                </a:tc>
                <a:tc>
                  <a:txBody>
                    <a:bodyPr/>
                    <a:lstStyle/>
                    <a:p>
                      <a:r>
                        <a:rPr lang="en-AU" sz="1600"/>
                        <a:t>Non-ice floor</a:t>
                      </a:r>
                    </a:p>
                  </a:txBody>
                  <a:tcPr marL="73152" marR="73152" marT="36576" marB="36576" anchor="ctr"/>
                </a:tc>
                <a:tc>
                  <a:txBody>
                    <a:bodyPr/>
                    <a:lstStyle/>
                    <a:p>
                      <a:r>
                        <a:rPr lang="en-AU" sz="1600"/>
                        <a:t>10 (8–18), assumed</a:t>
                      </a:r>
                    </a:p>
                  </a:txBody>
                  <a:tcPr marL="73152" marR="73152" marT="36576" marB="36576" anchor="ctr"/>
                </a:tc>
                <a:extLst>
                  <a:ext uri="{0D108BD9-81ED-4DB2-BD59-A6C34878D82A}">
                    <a16:rowId xmlns:a16="http://schemas.microsoft.com/office/drawing/2014/main" val="10009"/>
                  </a:ext>
                </a:extLst>
              </a:tr>
              <a:tr h="329184">
                <a:tc>
                  <a:txBody>
                    <a:bodyPr/>
                    <a:lstStyle/>
                    <a:p>
                      <a:r>
                        <a:rPr lang="en-AU" sz="1600" i="1"/>
                        <a:t>T</a:t>
                      </a:r>
                      <a:r>
                        <a:rPr lang="en-AU" sz="1600" baseline="-25000"/>
                        <a:t>env</a:t>
                      </a:r>
                    </a:p>
                  </a:txBody>
                  <a:tcPr marL="73152" marR="73152" marT="36576" marB="36576" anchor="ctr"/>
                </a:tc>
                <a:tc>
                  <a:txBody>
                    <a:bodyPr/>
                    <a:lstStyle/>
                    <a:p>
                      <a:r>
                        <a:rPr lang="en-AU" sz="1600"/>
                        <a:t>Outdoor air</a:t>
                      </a:r>
                    </a:p>
                  </a:txBody>
                  <a:tcPr marL="73152" marR="73152" marT="36576" marB="36576" anchor="ctr"/>
                </a:tc>
                <a:tc>
                  <a:txBody>
                    <a:bodyPr/>
                    <a:lstStyle/>
                    <a:p>
                      <a:r>
                        <a:rPr lang="en-AU" sz="1600"/>
                        <a:t>32.1 / 18.0 / 8.1</a:t>
                      </a:r>
                    </a:p>
                  </a:txBody>
                  <a:tcPr marL="73152" marR="73152" marT="36576" marB="36576" anchor="ctr"/>
                </a:tc>
                <a:extLst>
                  <a:ext uri="{0D108BD9-81ED-4DB2-BD59-A6C34878D82A}">
                    <a16:rowId xmlns:a16="http://schemas.microsoft.com/office/drawing/2014/main" val="10010"/>
                  </a:ext>
                </a:extLst>
              </a:tr>
            </a:tbl>
          </a:graphicData>
        </a:graphic>
      </p:graphicFrame>
      <p:graphicFrame>
        <p:nvGraphicFramePr>
          <p:cNvPr id="11" name="Inputs table: coefficients and unknowns">
            <a:extLst>
              <a:ext uri="{FF2B5EF4-FFF2-40B4-BE49-F238E27FC236}">
                <a16:creationId xmlns:a16="http://schemas.microsoft.com/office/drawing/2014/main" id="{C1FB16EF-2C73-4D00-CBB6-0044B1B95702}"/>
              </a:ext>
            </a:extLst>
          </p:cNvPr>
          <p:cNvGraphicFramePr>
            <a:graphicFrameLocks noGrp="1"/>
          </p:cNvGraphicFramePr>
          <p:nvPr>
            <p:extLst>
              <p:ext uri="{D42A27DB-BD31-4B8C-83A1-F6EECF244321}">
                <p14:modId xmlns:p14="http://schemas.microsoft.com/office/powerpoint/2010/main" val="4247404671"/>
              </p:ext>
            </p:extLst>
          </p:nvPr>
        </p:nvGraphicFramePr>
        <p:xfrm>
          <a:off x="6096000" y="2458237"/>
          <a:ext cx="4892040" cy="3291840"/>
        </p:xfrm>
        <a:graphic>
          <a:graphicData uri="http://schemas.openxmlformats.org/drawingml/2006/table">
            <a:tbl>
              <a:tblPr firstRow="1" bandRow="1">
                <a:tableStyleId>{5C22544A-7EE6-4342-B048-85BDC9FD1C3A}</a:tableStyleId>
              </a:tblPr>
              <a:tblGrid>
                <a:gridCol w="868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29184">
                <a:tc>
                  <a:txBody>
                    <a:bodyPr/>
                    <a:lstStyle/>
                    <a:p>
                      <a:r>
                        <a:rPr lang="en-AU" sz="1600"/>
                        <a:t>Symbol</a:t>
                      </a:r>
                    </a:p>
                  </a:txBody>
                  <a:tcPr marL="73152" marR="73152" marT="36576" marB="36576" anchor="ctr"/>
                </a:tc>
                <a:tc>
                  <a:txBody>
                    <a:bodyPr/>
                    <a:lstStyle/>
                    <a:p>
                      <a:r>
                        <a:rPr lang="en-AU" sz="1600"/>
                        <a:t>Meaning</a:t>
                      </a:r>
                    </a:p>
                  </a:txBody>
                  <a:tcPr marL="73152" marR="73152" marT="36576" marB="36576" anchor="ctr"/>
                </a:tc>
                <a:tc>
                  <a:txBody>
                    <a:bodyPr/>
                    <a:lstStyle/>
                    <a:p>
                      <a:r>
                        <a:rPr lang="en-AU" sz="1600"/>
                        <a:t>Baseline (range)</a:t>
                      </a:r>
                    </a:p>
                  </a:txBody>
                  <a:tcPr marL="73152" marR="73152" marT="36576" marB="36576" anchor="ctr"/>
                </a:tc>
                <a:extLst>
                  <a:ext uri="{0D108BD9-81ED-4DB2-BD59-A6C34878D82A}">
                    <a16:rowId xmlns:a16="http://schemas.microsoft.com/office/drawing/2014/main" val="10000"/>
                  </a:ext>
                </a:extLst>
              </a:tr>
              <a:tr h="329184">
                <a:tc gridSpan="3">
                  <a:txBody>
                    <a:bodyPr/>
                    <a:lstStyle/>
                    <a:p>
                      <a:r>
                        <a:rPr lang="en-AU" sz="1600" b="1"/>
                        <a:t>Coefficients (W m</a:t>
                      </a:r>
                      <a:r>
                        <a:rPr lang="en-AU" sz="1600" b="1" baseline="30000"/>
                        <a:t>−2</a:t>
                      </a:r>
                      <a:r>
                        <a:rPr lang="en-AU" sz="1600" b="1"/>
                        <a:t> K</a:t>
                      </a:r>
                      <a:r>
                        <a:rPr lang="en-AU" sz="1600" b="1" baseline="30000"/>
                        <a:t>−1</a:t>
                      </a:r>
                      <a:r>
                        <a:rPr lang="en-AU" sz="1600" b="1"/>
                        <a:t>)</a:t>
                      </a:r>
                    </a:p>
                  </a:txBody>
                  <a:tcPr marL="73152" marR="73152" marT="36576" marB="36576" anchor="ctr">
                    <a:solidFill>
                      <a:schemeClr val="accent1">
                        <a:lumMod val="20000"/>
                        <a:lumOff val="80000"/>
                      </a:schemeClr>
                    </a:solidFill>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10001"/>
                  </a:ext>
                </a:extLst>
              </a:tr>
              <a:tr h="329184">
                <a:tc>
                  <a:txBody>
                    <a:bodyPr/>
                    <a:lstStyle/>
                    <a:p>
                      <a:r>
                        <a:rPr lang="en-AU" sz="1600" i="1"/>
                        <a:t>U</a:t>
                      </a:r>
                      <a:r>
                        <a:rPr lang="en-AU" sz="1600" baseline="-25000"/>
                        <a:t>UL</a:t>
                      </a:r>
                    </a:p>
                  </a:txBody>
                  <a:tcPr marL="73152" marR="73152" marT="36576" marB="36576" anchor="ctr"/>
                </a:tc>
                <a:tc>
                  <a:txBody>
                    <a:bodyPr/>
                    <a:lstStyle/>
                    <a:p>
                      <a:r>
                        <a:rPr lang="en-AU" sz="1600"/>
                        <a:t>Upper ↔ lower air</a:t>
                      </a:r>
                    </a:p>
                  </a:txBody>
                  <a:tcPr marL="73152" marR="73152" marT="36576" marB="36576" anchor="ctr"/>
                </a:tc>
                <a:tc>
                  <a:txBody>
                    <a:bodyPr/>
                    <a:lstStyle/>
                    <a:p>
                      <a:r>
                        <a:rPr lang="en-AU" sz="1600"/>
                        <a:t>4 (2–8)</a:t>
                      </a:r>
                    </a:p>
                  </a:txBody>
                  <a:tcPr marL="73152" marR="73152" marT="36576" marB="36576" anchor="ctr"/>
                </a:tc>
                <a:extLst>
                  <a:ext uri="{0D108BD9-81ED-4DB2-BD59-A6C34878D82A}">
                    <a16:rowId xmlns:a16="http://schemas.microsoft.com/office/drawing/2014/main" val="10002"/>
                  </a:ext>
                </a:extLst>
              </a:tr>
              <a:tr h="329184">
                <a:tc>
                  <a:txBody>
                    <a:bodyPr/>
                    <a:lstStyle/>
                    <a:p>
                      <a:r>
                        <a:rPr lang="en-AU" sz="1600" i="1"/>
                        <a:t>U</a:t>
                      </a:r>
                      <a:r>
                        <a:rPr lang="en-AU" sz="1600" baseline="-25000"/>
                        <a:t>LI</a:t>
                      </a:r>
                    </a:p>
                  </a:txBody>
                  <a:tcPr marL="73152" marR="73152" marT="36576" marB="36576" anchor="ctr"/>
                </a:tc>
                <a:tc>
                  <a:txBody>
                    <a:bodyPr/>
                    <a:lstStyle/>
                    <a:p>
                      <a:r>
                        <a:rPr lang="en-AU" sz="1600"/>
                        <a:t>Lower air ↔ ice</a:t>
                      </a:r>
                    </a:p>
                  </a:txBody>
                  <a:tcPr marL="73152" marR="73152" marT="36576" marB="36576" anchor="ctr"/>
                </a:tc>
                <a:tc>
                  <a:txBody>
                    <a:bodyPr/>
                    <a:lstStyle/>
                    <a:p>
                      <a:r>
                        <a:rPr lang="en-AU" sz="1600"/>
                        <a:t>5 (4–6)</a:t>
                      </a:r>
                    </a:p>
                  </a:txBody>
                  <a:tcPr marL="73152" marR="73152" marT="36576" marB="36576" anchor="ctr"/>
                </a:tc>
                <a:extLst>
                  <a:ext uri="{0D108BD9-81ED-4DB2-BD59-A6C34878D82A}">
                    <a16:rowId xmlns:a16="http://schemas.microsoft.com/office/drawing/2014/main" val="10003"/>
                  </a:ext>
                </a:extLst>
              </a:tr>
              <a:tr h="329184">
                <a:tc>
                  <a:txBody>
                    <a:bodyPr/>
                    <a:lstStyle/>
                    <a:p>
                      <a:r>
                        <a:rPr lang="en-AU" sz="1600" i="1"/>
                        <a:t>U</a:t>
                      </a:r>
                      <a:r>
                        <a:rPr lang="en-AU" sz="1600" baseline="-25000"/>
                        <a:t>LF</a:t>
                      </a:r>
                    </a:p>
                  </a:txBody>
                  <a:tcPr marL="73152" marR="73152" marT="36576" marB="36576" anchor="ctr"/>
                </a:tc>
                <a:tc>
                  <a:txBody>
                    <a:bodyPr/>
                    <a:lstStyle/>
                    <a:p>
                      <a:r>
                        <a:rPr lang="en-AU" sz="1600"/>
                        <a:t>Lower air ↔ floor</a:t>
                      </a:r>
                    </a:p>
                  </a:txBody>
                  <a:tcPr marL="73152" marR="73152" marT="36576" marB="36576" anchor="ctr"/>
                </a:tc>
                <a:tc>
                  <a:txBody>
                    <a:bodyPr/>
                    <a:lstStyle/>
                    <a:p>
                      <a:r>
                        <a:rPr lang="en-AU" sz="1600"/>
                        <a:t>6.4 (5–8)</a:t>
                      </a:r>
                    </a:p>
                  </a:txBody>
                  <a:tcPr marL="73152" marR="73152" marT="36576" marB="36576" anchor="ctr"/>
                </a:tc>
                <a:extLst>
                  <a:ext uri="{0D108BD9-81ED-4DB2-BD59-A6C34878D82A}">
                    <a16:rowId xmlns:a16="http://schemas.microsoft.com/office/drawing/2014/main" val="10004"/>
                  </a:ext>
                </a:extLst>
              </a:tr>
              <a:tr h="329184">
                <a:tc>
                  <a:txBody>
                    <a:bodyPr/>
                    <a:lstStyle/>
                    <a:p>
                      <a:r>
                        <a:rPr lang="en-AU" sz="1600" i="1"/>
                        <a:t>U</a:t>
                      </a:r>
                      <a:r>
                        <a:rPr lang="en-AU" sz="1600" baseline="-25000"/>
                        <a:t>env</a:t>
                      </a:r>
                    </a:p>
                  </a:txBody>
                  <a:tcPr marL="73152" marR="73152" marT="36576" marB="36576" anchor="ctr"/>
                </a:tc>
                <a:tc>
                  <a:txBody>
                    <a:bodyPr/>
                    <a:lstStyle/>
                    <a:p>
                      <a:r>
                        <a:rPr lang="en-AU" sz="1600"/>
                        <a:t>Building envelope</a:t>
                      </a:r>
                    </a:p>
                  </a:txBody>
                  <a:tcPr marL="73152" marR="73152" marT="36576" marB="36576" anchor="ctr"/>
                </a:tc>
                <a:tc>
                  <a:txBody>
                    <a:bodyPr/>
                    <a:lstStyle/>
                    <a:p>
                      <a:r>
                        <a:rPr lang="en-AU" sz="1600"/>
                        <a:t>0.45 (0.27–0.91)</a:t>
                      </a:r>
                    </a:p>
                  </a:txBody>
                  <a:tcPr marL="73152" marR="73152" marT="36576" marB="36576" anchor="ctr"/>
                </a:tc>
                <a:extLst>
                  <a:ext uri="{0D108BD9-81ED-4DB2-BD59-A6C34878D82A}">
                    <a16:rowId xmlns:a16="http://schemas.microsoft.com/office/drawing/2014/main" val="10005"/>
                  </a:ext>
                </a:extLst>
              </a:tr>
              <a:tr h="329184">
                <a:tc gridSpan="3">
                  <a:txBody>
                    <a:bodyPr/>
                    <a:lstStyle/>
                    <a:p>
                      <a:r>
                        <a:rPr lang="en-AU" sz="1600" b="1"/>
                        <a:t>Unknowns, solved by the model</a:t>
                      </a:r>
                    </a:p>
                  </a:txBody>
                  <a:tcPr marL="73152" marR="73152" marT="36576" marB="36576" anchor="ctr">
                    <a:solidFill>
                      <a:schemeClr val="accent1">
                        <a:lumMod val="20000"/>
                        <a:lumOff val="80000"/>
                      </a:schemeClr>
                    </a:solidFill>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10006"/>
                  </a:ext>
                </a:extLst>
              </a:tr>
              <a:tr h="329184">
                <a:tc>
                  <a:txBody>
                    <a:bodyPr/>
                    <a:lstStyle/>
                    <a:p>
                      <a:r>
                        <a:rPr lang="en-AU" sz="1600" i="1"/>
                        <a:t>T</a:t>
                      </a:r>
                      <a:r>
                        <a:rPr lang="en-AU" sz="1600" baseline="-25000"/>
                        <a:t>L</a:t>
                      </a:r>
                    </a:p>
                  </a:txBody>
                  <a:tcPr marL="73152" marR="73152" marT="36576" marB="36576" anchor="ctr"/>
                </a:tc>
                <a:tc>
                  <a:txBody>
                    <a:bodyPr/>
                    <a:lstStyle/>
                    <a:p>
                      <a:r>
                        <a:rPr lang="en-AU" sz="1600"/>
                        <a:t>Lower-zone air</a:t>
                      </a:r>
                    </a:p>
                  </a:txBody>
                  <a:tcPr marL="73152" marR="73152" marT="36576" marB="36576" anchor="ctr"/>
                </a:tc>
                <a:tc>
                  <a:txBody>
                    <a:bodyPr/>
                    <a:lstStyle/>
                    <a:p>
                      <a:r>
                        <a:rPr lang="en-AU" sz="1600"/>
                        <a:t>output (°C)</a:t>
                      </a:r>
                    </a:p>
                  </a:txBody>
                  <a:tcPr marL="73152" marR="73152" marT="36576" marB="36576" anchor="ctr"/>
                </a:tc>
                <a:extLst>
                  <a:ext uri="{0D108BD9-81ED-4DB2-BD59-A6C34878D82A}">
                    <a16:rowId xmlns:a16="http://schemas.microsoft.com/office/drawing/2014/main" val="10007"/>
                  </a:ext>
                </a:extLst>
              </a:tr>
              <a:tr h="329184">
                <a:tc>
                  <a:txBody>
                    <a:bodyPr/>
                    <a:lstStyle/>
                    <a:p>
                      <a:r>
                        <a:rPr lang="en-AU" sz="1600" i="1"/>
                        <a:t>Q̇</a:t>
                      </a:r>
                      <a:r>
                        <a:rPr lang="en-AU" sz="1600" baseline="-25000"/>
                        <a:t>U</a:t>
                      </a:r>
                    </a:p>
                  </a:txBody>
                  <a:tcPr marL="73152" marR="73152" marT="36576" marB="36576" anchor="ctr"/>
                </a:tc>
                <a:tc>
                  <a:txBody>
                    <a:bodyPr/>
                    <a:lstStyle/>
                    <a:p>
                      <a:r>
                        <a:rPr lang="en-AU" sz="1600"/>
                        <a:t>Upper-unit power</a:t>
                      </a:r>
                    </a:p>
                  </a:txBody>
                  <a:tcPr marL="73152" marR="73152" marT="36576" marB="36576" anchor="ctr"/>
                </a:tc>
                <a:tc>
                  <a:txBody>
                    <a:bodyPr/>
                    <a:lstStyle/>
                    <a:p>
                      <a:r>
                        <a:rPr lang="en-AU" sz="1600"/>
                        <a:t>output (kW)</a:t>
                      </a:r>
                    </a:p>
                  </a:txBody>
                  <a:tcPr marL="73152" marR="73152" marT="36576" marB="36576" anchor="ctr"/>
                </a:tc>
                <a:extLst>
                  <a:ext uri="{0D108BD9-81ED-4DB2-BD59-A6C34878D82A}">
                    <a16:rowId xmlns:a16="http://schemas.microsoft.com/office/drawing/2014/main" val="10008"/>
                  </a:ext>
                </a:extLst>
              </a:tr>
              <a:tr h="329184">
                <a:tc>
                  <a:txBody>
                    <a:bodyPr/>
                    <a:lstStyle/>
                    <a:p>
                      <a:r>
                        <a:rPr lang="en-AU" sz="1600" i="1"/>
                        <a:t>Q̇</a:t>
                      </a:r>
                      <a:r>
                        <a:rPr lang="en-AU" sz="1600" baseline="-25000"/>
                        <a:t>C</a:t>
                      </a:r>
                    </a:p>
                  </a:txBody>
                  <a:tcPr marL="73152" marR="73152" marT="36576" marB="36576" anchor="ctr"/>
                </a:tc>
                <a:tc>
                  <a:txBody>
                    <a:bodyPr/>
                    <a:lstStyle/>
                    <a:p>
                      <a:r>
                        <a:rPr lang="en-AU" sz="1600"/>
                        <a:t>Ice cooling power</a:t>
                      </a:r>
                    </a:p>
                  </a:txBody>
                  <a:tcPr marL="73152" marR="73152" marT="36576" marB="36576" anchor="ctr"/>
                </a:tc>
                <a:tc>
                  <a:txBody>
                    <a:bodyPr/>
                    <a:lstStyle/>
                    <a:p>
                      <a:r>
                        <a:rPr lang="en-AU" sz="1600"/>
                        <a:t>output (kW)</a:t>
                      </a:r>
                    </a:p>
                  </a:txBody>
                  <a:tcPr marL="73152" marR="73152" marT="36576" marB="36576" anchor="ctr"/>
                </a:tc>
                <a:extLst>
                  <a:ext uri="{0D108BD9-81ED-4DB2-BD59-A6C34878D82A}">
                    <a16:rowId xmlns:a16="http://schemas.microsoft.com/office/drawing/2014/main" val="10009"/>
                  </a:ext>
                </a:extLst>
              </a:tr>
            </a:tbl>
          </a:graphicData>
        </a:graphic>
      </p:graphicFrame>
      <p:sp>
        <p:nvSpPr>
          <p:cNvPr id="14" name="TextBox 13">
            <a:extLst>
              <a:ext uri="{FF2B5EF4-FFF2-40B4-BE49-F238E27FC236}">
                <a16:creationId xmlns:a16="http://schemas.microsoft.com/office/drawing/2014/main" id="{84373BF7-8EDD-C2F6-4666-4BB3F361649C}"/>
              </a:ext>
            </a:extLst>
          </p:cNvPr>
          <p:cNvSpPr txBox="1"/>
          <p:nvPr/>
        </p:nvSpPr>
        <p:spPr>
          <a:xfrm>
            <a:off x="838200" y="6079261"/>
            <a:ext cx="10515600" cy="518091"/>
          </a:xfrm>
          <a:prstGeom prst="rect">
            <a:avLst/>
          </a:prstGeom>
          <a:noFill/>
        </p:spPr>
        <p:txBody>
          <a:bodyPr wrap="square">
            <a:spAutoFit/>
          </a:bodyPr>
          <a:lstStyle/>
          <a:p>
            <a:pPr marL="0" indent="0">
              <a:spcBef>
                <a:spcPts val="0"/>
              </a:spcBef>
              <a:buNone/>
            </a:pPr>
            <a:r>
              <a:rPr lang="en-AU" sz="1400">
                <a:solidFill>
                  <a:srgbClr val="3F4650"/>
                </a:solidFill>
              </a:rPr>
              <a:t>Table 3. Model inputs, with the ranges used in the sensitivity analysis, and the three unknowns.</a:t>
            </a:r>
          </a:p>
          <a:p>
            <a:pPr marL="0" indent="0">
              <a:spcBef>
                <a:spcPts val="200"/>
              </a:spcBef>
              <a:buNone/>
            </a:pPr>
            <a:r>
              <a:rPr lang="en-AU" sz="1200">
                <a:solidFill>
                  <a:srgbClr val="3F4650"/>
                </a:solidFill>
              </a:rPr>
              <a:t>Sources: IIHF (2025); Lin et al. (2022, 2023); Ferrantelli et al. (2021); Bureau of Meteorology (2026); </a:t>
            </a:r>
            <a:r>
              <a:rPr lang="en-AU" sz="1200" err="1">
                <a:solidFill>
                  <a:srgbClr val="3F4650"/>
                </a:solidFill>
              </a:rPr>
              <a:t>Karampour</a:t>
            </a:r>
            <a:r>
              <a:rPr lang="en-AU" sz="1200">
                <a:solidFill>
                  <a:srgbClr val="3F4650"/>
                </a:solidFill>
              </a:rPr>
              <a:t> and </a:t>
            </a:r>
            <a:r>
              <a:rPr lang="en-AU" sz="1200" err="1">
                <a:solidFill>
                  <a:srgbClr val="3F4650"/>
                </a:solidFill>
              </a:rPr>
              <a:t>Rogstam</a:t>
            </a:r>
            <a:r>
              <a:rPr lang="en-AU" sz="1200">
                <a:solidFill>
                  <a:srgbClr val="3F4650"/>
                </a:solidFill>
              </a:rPr>
              <a:t> (2012); Zeng et al. (2022); ABCB (2022).</a:t>
            </a:r>
          </a:p>
        </p:txBody>
      </p:sp>
    </p:spTree>
    <p:extLst>
      <p:ext uri="{BB962C8B-B14F-4D97-AF65-F5344CB8AC3E}">
        <p14:creationId xmlns:p14="http://schemas.microsoft.com/office/powerpoint/2010/main" val="1190987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0522F-BCC9-65F9-3F8D-302A5ABD8810}"/>
              </a:ext>
            </a:extLst>
          </p:cNvPr>
          <p:cNvSpPr>
            <a:spLocks noGrp="1"/>
          </p:cNvSpPr>
          <p:nvPr>
            <p:ph type="title"/>
          </p:nvPr>
        </p:nvSpPr>
        <p:spPr/>
        <p:txBody>
          <a:bodyPr/>
          <a:lstStyle/>
          <a:p>
            <a:r>
              <a:rPr lang="en-US">
                <a:latin typeface="Aptos Display"/>
                <a:ea typeface="+mj-lt"/>
                <a:cs typeface="+mj-lt"/>
              </a:rPr>
              <a:t>Solution Methodology (cont.)</a:t>
            </a:r>
            <a:endParaRPr lang="en-AU"/>
          </a:p>
        </p:txBody>
      </p:sp>
      <p:sp>
        <p:nvSpPr>
          <p:cNvPr id="4" name="Date Placeholder 3">
            <a:extLst>
              <a:ext uri="{FF2B5EF4-FFF2-40B4-BE49-F238E27FC236}">
                <a16:creationId xmlns:a16="http://schemas.microsoft.com/office/drawing/2014/main" id="{61897D0E-A97C-2555-503B-3E845F7ADBDC}"/>
              </a:ext>
            </a:extLst>
          </p:cNvPr>
          <p:cNvSpPr>
            <a:spLocks noGrp="1"/>
          </p:cNvSpPr>
          <p:nvPr>
            <p:ph type="dt" sz="half" idx="10"/>
          </p:nvPr>
        </p:nvSpPr>
        <p:spPr/>
        <p:txBody>
          <a:bodyPr/>
          <a:lstStyle/>
          <a:p>
            <a:fld id="{8ECA81D0-8F2E-4361-B11B-01DCCBCE9AB1}" type="datetime1">
              <a:rPr lang="en-US" smtClean="0"/>
              <a:t>10/22/2026</a:t>
            </a:fld>
            <a:endParaRPr lang="en-US"/>
          </a:p>
        </p:txBody>
      </p:sp>
      <p:sp>
        <p:nvSpPr>
          <p:cNvPr id="6" name="Slide Number Placeholder 5">
            <a:extLst>
              <a:ext uri="{FF2B5EF4-FFF2-40B4-BE49-F238E27FC236}">
                <a16:creationId xmlns:a16="http://schemas.microsoft.com/office/drawing/2014/main" id="{D6EC8FED-930B-CEB3-4988-6387CD49FB76}"/>
              </a:ext>
            </a:extLst>
          </p:cNvPr>
          <p:cNvSpPr>
            <a:spLocks noGrp="1"/>
          </p:cNvSpPr>
          <p:nvPr>
            <p:ph type="sldNum" sz="quarter" idx="12"/>
          </p:nvPr>
        </p:nvSpPr>
        <p:spPr/>
        <p:txBody>
          <a:bodyPr/>
          <a:lstStyle/>
          <a:p>
            <a:fld id="{4FAB73BC-B049-4115-A692-8D63A059BFB8}" type="slidenum">
              <a:rPr lang="en-US" smtClean="0"/>
              <a:t>8</a:t>
            </a:fld>
            <a:endParaRPr lang="en-US"/>
          </a:p>
        </p:txBody>
      </p:sp>
      <p:sp>
        <p:nvSpPr>
          <p:cNvPr id="8" name="Step 1">
            <a:extLst>
              <a:ext uri="{FF2B5EF4-FFF2-40B4-BE49-F238E27FC236}">
                <a16:creationId xmlns:a16="http://schemas.microsoft.com/office/drawing/2014/main" id="{54296C68-C2BE-B75F-7791-CA883C0F8F81}"/>
              </a:ext>
            </a:extLst>
          </p:cNvPr>
          <p:cNvSpPr>
            <a:spLocks noGrp="1"/>
          </p:cNvSpPr>
          <p:nvPr>
            <p:ph idx="1"/>
          </p:nvPr>
        </p:nvSpPr>
        <p:spPr>
          <a:xfrm>
            <a:off x="838200" y="2061469"/>
            <a:ext cx="1682750" cy="1116811"/>
          </a:xfrm>
          <a:prstGeom prst="roundRect">
            <a:avLst>
              <a:gd name="adj" fmla="val 12000"/>
            </a:avLst>
          </a:prstGeom>
          <a:solidFill>
            <a:schemeClr val="accent1">
              <a:lumMod val="20000"/>
              <a:lumOff val="80000"/>
            </a:schemeClr>
          </a:solidFill>
          <a:ln w="12700">
            <a:solidFill>
              <a:schemeClr val="accent1"/>
            </a:solidFill>
          </a:ln>
        </p:spPr>
        <p:txBody>
          <a:bodyPr wrap="square" lIns="91440" tIns="91440" rIns="91440" bIns="91440" rtlCol="0" anchor="t">
            <a:normAutofit fontScale="92500" lnSpcReduction="10000"/>
          </a:bodyPr>
          <a:lstStyle/>
          <a:p>
            <a:pPr algn="l">
              <a:spcBef>
                <a:spcPts val="0"/>
              </a:spcBef>
              <a:buNone/>
            </a:pPr>
            <a:r>
              <a:rPr lang="en-AU" sz="1600" b="1">
                <a:solidFill>
                  <a:schemeClr val="tx2"/>
                </a:solidFill>
              </a:rPr>
              <a:t>1  Formulate</a:t>
            </a:r>
          </a:p>
          <a:p>
            <a:pPr algn="l">
              <a:spcBef>
                <a:spcPts val="200"/>
              </a:spcBef>
              <a:buNone/>
            </a:pPr>
            <a:r>
              <a:rPr lang="en-AU" sz="1400">
                <a:solidFill>
                  <a:schemeClr val="tx1"/>
                </a:solidFill>
              </a:rPr>
              <a:t>Three linear balances at steady state</a:t>
            </a:r>
          </a:p>
        </p:txBody>
      </p:sp>
      <p:sp>
        <p:nvSpPr>
          <p:cNvPr id="10" name="Arrow 1">
            <a:extLst>
              <a:ext uri="{FF2B5EF4-FFF2-40B4-BE49-F238E27FC236}">
                <a16:creationId xmlns:a16="http://schemas.microsoft.com/office/drawing/2014/main" id="{38D72E08-81AD-12EA-26A8-7A52ED76EE1B}"/>
              </a:ext>
            </a:extLst>
          </p:cNvPr>
          <p:cNvSpPr/>
          <p:nvPr/>
        </p:nvSpPr>
        <p:spPr>
          <a:xfrm>
            <a:off x="2665146" y="2457958"/>
            <a:ext cx="274320" cy="237744"/>
          </a:xfrm>
          <a:prstGeom prst="rightArrow">
            <a:avLst/>
          </a:prstGeom>
          <a:solidFill>
            <a:schemeClr val="accent1"/>
          </a:solidFill>
          <a:ln>
            <a:noFill/>
          </a:ln>
        </p:spPr>
        <p:txBody>
          <a:bodyPr wrap="square" lIns="73152" tIns="73152" rIns="73152" bIns="73152" rtlCol="0" anchor="ctr">
            <a:normAutofit fontScale="25000" lnSpcReduction="20000"/>
          </a:bodyPr>
          <a:lstStyle/>
          <a:p>
            <a:pPr algn="l">
              <a:spcBef>
                <a:spcPts val="0"/>
              </a:spcBef>
              <a:buNone/>
            </a:pPr>
            <a:endParaRPr/>
          </a:p>
        </p:txBody>
      </p:sp>
      <p:sp>
        <p:nvSpPr>
          <p:cNvPr id="13" name="Step 1">
            <a:extLst>
              <a:ext uri="{FF2B5EF4-FFF2-40B4-BE49-F238E27FC236}">
                <a16:creationId xmlns:a16="http://schemas.microsoft.com/office/drawing/2014/main" id="{7378C615-A12E-D3CA-A0A1-2257FC7186C9}"/>
              </a:ext>
            </a:extLst>
          </p:cNvPr>
          <p:cNvSpPr txBox="1">
            <a:spLocks/>
          </p:cNvSpPr>
          <p:nvPr/>
        </p:nvSpPr>
        <p:spPr>
          <a:xfrm>
            <a:off x="3072334" y="2061469"/>
            <a:ext cx="1682750" cy="1116811"/>
          </a:xfrm>
          <a:prstGeom prst="roundRect">
            <a:avLst>
              <a:gd name="adj" fmla="val 12000"/>
            </a:avLst>
          </a:prstGeom>
          <a:solidFill>
            <a:schemeClr val="accent1">
              <a:lumMod val="20000"/>
              <a:lumOff val="80000"/>
            </a:schemeClr>
          </a:solidFill>
          <a:ln w="12700">
            <a:solidFill>
              <a:schemeClr val="accent1"/>
            </a:solidFill>
          </a:ln>
        </p:spPr>
        <p:txBody>
          <a:bodyPr vert="horz" wrap="square" lIns="91440" tIns="91440" rIns="91440" bIns="91440" rtlCol="0" anchor="t">
            <a:normAutofit fontScale="92500"/>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AU" sz="1600" b="1">
                <a:solidFill>
                  <a:schemeClr val="tx2"/>
                </a:solidFill>
              </a:rPr>
              <a:t>2 Solve</a:t>
            </a:r>
          </a:p>
          <a:p>
            <a:pPr>
              <a:spcBef>
                <a:spcPts val="200"/>
              </a:spcBef>
            </a:pPr>
            <a:r>
              <a:rPr lang="en-AU" sz="1400"/>
              <a:t>One balance at a time, in closed form </a:t>
            </a:r>
          </a:p>
        </p:txBody>
      </p:sp>
      <p:sp>
        <p:nvSpPr>
          <p:cNvPr id="15" name="Step 1">
            <a:extLst>
              <a:ext uri="{FF2B5EF4-FFF2-40B4-BE49-F238E27FC236}">
                <a16:creationId xmlns:a16="http://schemas.microsoft.com/office/drawing/2014/main" id="{EA547FB6-DA51-B0EE-339B-CFEB83D369D6}"/>
              </a:ext>
            </a:extLst>
          </p:cNvPr>
          <p:cNvSpPr txBox="1">
            <a:spLocks/>
          </p:cNvSpPr>
          <p:nvPr/>
        </p:nvSpPr>
        <p:spPr>
          <a:xfrm>
            <a:off x="5223612" y="2063257"/>
            <a:ext cx="1524000" cy="1116811"/>
          </a:xfrm>
          <a:prstGeom prst="roundRect">
            <a:avLst>
              <a:gd name="adj" fmla="val 12000"/>
            </a:avLst>
          </a:prstGeom>
          <a:solidFill>
            <a:schemeClr val="accent1">
              <a:lumMod val="20000"/>
              <a:lumOff val="80000"/>
            </a:schemeClr>
          </a:solidFill>
          <a:ln w="12700">
            <a:solidFill>
              <a:schemeClr val="accent1"/>
            </a:solidFill>
          </a:ln>
        </p:spPr>
        <p:txBody>
          <a:bodyPr vert="horz" wrap="square" lIns="91440" tIns="91440" rIns="91440" bIns="91440" rtlCol="0" anchor="t">
            <a:norm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AU" sz="1600" b="1">
                <a:solidFill>
                  <a:schemeClr val="tx2"/>
                </a:solidFill>
              </a:rPr>
              <a:t>3 Implement</a:t>
            </a:r>
          </a:p>
          <a:p>
            <a:pPr>
              <a:spcBef>
                <a:spcPts val="200"/>
              </a:spcBef>
            </a:pPr>
            <a:r>
              <a:rPr lang="en-AU" sz="1400"/>
              <a:t>Python sens.py runs every case  </a:t>
            </a:r>
          </a:p>
        </p:txBody>
      </p:sp>
      <p:sp>
        <p:nvSpPr>
          <p:cNvPr id="17" name="Arrow 1">
            <a:extLst>
              <a:ext uri="{FF2B5EF4-FFF2-40B4-BE49-F238E27FC236}">
                <a16:creationId xmlns:a16="http://schemas.microsoft.com/office/drawing/2014/main" id="{8B6949C1-7C72-CADB-6E29-B8E3F8B78F28}"/>
              </a:ext>
            </a:extLst>
          </p:cNvPr>
          <p:cNvSpPr/>
          <p:nvPr/>
        </p:nvSpPr>
        <p:spPr>
          <a:xfrm>
            <a:off x="4855108" y="2457958"/>
            <a:ext cx="274320" cy="237744"/>
          </a:xfrm>
          <a:prstGeom prst="rightArrow">
            <a:avLst/>
          </a:prstGeom>
          <a:solidFill>
            <a:schemeClr val="accent1"/>
          </a:solidFill>
          <a:ln>
            <a:noFill/>
          </a:ln>
        </p:spPr>
        <p:txBody>
          <a:bodyPr wrap="square" lIns="73152" tIns="73152" rIns="73152" bIns="73152" rtlCol="0" anchor="ctr">
            <a:normAutofit fontScale="25000" lnSpcReduction="20000"/>
          </a:bodyPr>
          <a:lstStyle/>
          <a:p>
            <a:pPr algn="l">
              <a:spcBef>
                <a:spcPts val="0"/>
              </a:spcBef>
              <a:buNone/>
            </a:pPr>
            <a:endParaRPr/>
          </a:p>
        </p:txBody>
      </p:sp>
      <p:sp>
        <p:nvSpPr>
          <p:cNvPr id="19" name="Arrow 1">
            <a:extLst>
              <a:ext uri="{FF2B5EF4-FFF2-40B4-BE49-F238E27FC236}">
                <a16:creationId xmlns:a16="http://schemas.microsoft.com/office/drawing/2014/main" id="{FC3246F8-8D6C-D2D7-21D3-0D9EFEEA0B07}"/>
              </a:ext>
            </a:extLst>
          </p:cNvPr>
          <p:cNvSpPr/>
          <p:nvPr/>
        </p:nvSpPr>
        <p:spPr>
          <a:xfrm>
            <a:off x="6918427" y="2457958"/>
            <a:ext cx="274320" cy="237744"/>
          </a:xfrm>
          <a:prstGeom prst="rightArrow">
            <a:avLst/>
          </a:prstGeom>
          <a:solidFill>
            <a:schemeClr val="accent1"/>
          </a:solidFill>
          <a:ln>
            <a:noFill/>
          </a:ln>
        </p:spPr>
        <p:txBody>
          <a:bodyPr wrap="square" lIns="73152" tIns="73152" rIns="73152" bIns="73152" rtlCol="0" anchor="ctr">
            <a:normAutofit fontScale="25000" lnSpcReduction="20000"/>
          </a:bodyPr>
          <a:lstStyle/>
          <a:p>
            <a:pPr algn="l">
              <a:spcBef>
                <a:spcPts val="0"/>
              </a:spcBef>
              <a:buNone/>
            </a:pPr>
            <a:endParaRPr/>
          </a:p>
        </p:txBody>
      </p:sp>
      <p:sp>
        <p:nvSpPr>
          <p:cNvPr id="21" name="Step 1">
            <a:extLst>
              <a:ext uri="{FF2B5EF4-FFF2-40B4-BE49-F238E27FC236}">
                <a16:creationId xmlns:a16="http://schemas.microsoft.com/office/drawing/2014/main" id="{79640ED8-97DD-42E0-774A-1D265ADF13A7}"/>
              </a:ext>
            </a:extLst>
          </p:cNvPr>
          <p:cNvSpPr txBox="1">
            <a:spLocks/>
          </p:cNvSpPr>
          <p:nvPr/>
        </p:nvSpPr>
        <p:spPr>
          <a:xfrm>
            <a:off x="7363562" y="2061469"/>
            <a:ext cx="1740227" cy="1116811"/>
          </a:xfrm>
          <a:prstGeom prst="roundRect">
            <a:avLst>
              <a:gd name="adj" fmla="val 12000"/>
            </a:avLst>
          </a:prstGeom>
          <a:solidFill>
            <a:schemeClr val="accent1">
              <a:lumMod val="20000"/>
              <a:lumOff val="80000"/>
            </a:schemeClr>
          </a:solidFill>
          <a:ln w="12700">
            <a:solidFill>
              <a:schemeClr val="accent1"/>
            </a:solidFill>
          </a:ln>
        </p:spPr>
        <p:txBody>
          <a:bodyPr vert="horz" wrap="square" lIns="91440" tIns="91440" rIns="91440" bIns="91440" rtlCol="0" anchor="t">
            <a:norm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AU" sz="1600" b="1">
                <a:solidFill>
                  <a:schemeClr val="tx2"/>
                </a:solidFill>
              </a:rPr>
              <a:t>4 Verify</a:t>
            </a:r>
          </a:p>
          <a:p>
            <a:pPr>
              <a:spcBef>
                <a:spcPts val="200"/>
              </a:spcBef>
            </a:pPr>
            <a:r>
              <a:rPr lang="en-AU" sz="1400"/>
              <a:t>Hand and Excel checks agrees  </a:t>
            </a:r>
          </a:p>
        </p:txBody>
      </p:sp>
      <p:sp>
        <p:nvSpPr>
          <p:cNvPr id="23" name="Step 1">
            <a:extLst>
              <a:ext uri="{FF2B5EF4-FFF2-40B4-BE49-F238E27FC236}">
                <a16:creationId xmlns:a16="http://schemas.microsoft.com/office/drawing/2014/main" id="{8A80069D-BA88-40B7-2B17-9D7153CC01BC}"/>
              </a:ext>
            </a:extLst>
          </p:cNvPr>
          <p:cNvSpPr txBox="1">
            <a:spLocks/>
          </p:cNvSpPr>
          <p:nvPr/>
        </p:nvSpPr>
        <p:spPr>
          <a:xfrm>
            <a:off x="9801225" y="2018424"/>
            <a:ext cx="1795538" cy="1116811"/>
          </a:xfrm>
          <a:prstGeom prst="roundRect">
            <a:avLst>
              <a:gd name="adj" fmla="val 12000"/>
            </a:avLst>
          </a:prstGeom>
          <a:solidFill>
            <a:schemeClr val="accent1">
              <a:lumMod val="20000"/>
              <a:lumOff val="80000"/>
            </a:schemeClr>
          </a:solidFill>
          <a:ln w="12700">
            <a:solidFill>
              <a:schemeClr val="accent1"/>
            </a:solidFill>
          </a:ln>
        </p:spPr>
        <p:txBody>
          <a:bodyPr vert="horz" wrap="square" lIns="91440" tIns="91440" rIns="91440" bIns="91440" rtlCol="0" anchor="t">
            <a:norm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AU" sz="1600" b="1">
                <a:solidFill>
                  <a:schemeClr val="tx2"/>
                </a:solidFill>
              </a:rPr>
              <a:t>5 Analyse </a:t>
            </a:r>
          </a:p>
          <a:p>
            <a:pPr>
              <a:spcBef>
                <a:spcPts val="200"/>
              </a:spcBef>
            </a:pPr>
            <a:r>
              <a:rPr lang="en-AU" sz="1400"/>
              <a:t>Sensitivity and combined sectors  </a:t>
            </a:r>
          </a:p>
        </p:txBody>
      </p:sp>
      <p:sp>
        <p:nvSpPr>
          <p:cNvPr id="25" name="Arrow 1">
            <a:extLst>
              <a:ext uri="{FF2B5EF4-FFF2-40B4-BE49-F238E27FC236}">
                <a16:creationId xmlns:a16="http://schemas.microsoft.com/office/drawing/2014/main" id="{831DCD25-0038-ACEE-1576-AA6C6286B1FF}"/>
              </a:ext>
            </a:extLst>
          </p:cNvPr>
          <p:cNvSpPr/>
          <p:nvPr/>
        </p:nvSpPr>
        <p:spPr>
          <a:xfrm>
            <a:off x="9313114" y="2457957"/>
            <a:ext cx="274320" cy="237744"/>
          </a:xfrm>
          <a:prstGeom prst="rightArrow">
            <a:avLst/>
          </a:prstGeom>
          <a:solidFill>
            <a:schemeClr val="accent1"/>
          </a:solidFill>
          <a:ln>
            <a:noFill/>
          </a:ln>
        </p:spPr>
        <p:txBody>
          <a:bodyPr wrap="square" lIns="73152" tIns="73152" rIns="73152" bIns="73152" rtlCol="0" anchor="ctr">
            <a:normAutofit fontScale="25000" lnSpcReduction="20000"/>
          </a:bodyPr>
          <a:lstStyle/>
          <a:p>
            <a:pPr algn="l">
              <a:spcBef>
                <a:spcPts val="0"/>
              </a:spcBef>
              <a:buNone/>
            </a:pPr>
            <a:endParaRPr/>
          </a:p>
        </p:txBody>
      </p:sp>
      <mc:AlternateContent xmlns:mc="http://schemas.openxmlformats.org/markup-compatibility/2006" xmlns:a14="http://schemas.microsoft.com/office/drawing/2010/main">
        <mc:Choice Requires="a14">
          <p:sp>
            <p:nvSpPr>
              <p:cNvPr id="27" name="Equations 6 to 8">
                <a:extLst>
                  <a:ext uri="{FF2B5EF4-FFF2-40B4-BE49-F238E27FC236}">
                    <a16:creationId xmlns:a16="http://schemas.microsoft.com/office/drawing/2014/main" id="{386897B8-2266-4207-744E-B9EF7DCA364F}"/>
                  </a:ext>
                </a:extLst>
              </p:cNvPr>
              <p:cNvSpPr txBox="1"/>
              <p:nvPr/>
            </p:nvSpPr>
            <p:spPr>
              <a:xfrm>
                <a:off x="838200" y="3388363"/>
                <a:ext cx="6492240" cy="2834640"/>
              </a:xfrm>
              <a:prstGeom prst="rect">
                <a:avLst/>
              </a:prstGeom>
              <a:noFill/>
            </p:spPr>
            <p:txBody>
              <a:bodyPr wrap="square" rtlCol="0">
                <a:spAutoFit/>
              </a:bodyPr>
              <a:lstStyle/>
              <a:p>
                <a:pPr>
                  <a:spcBef>
                    <a:spcPts val="1000"/>
                  </a:spcBef>
                  <a:buNone/>
                </a:pPr>
                <a:r>
                  <a:rPr lang="en-AU" sz="1400" b="1">
                    <a:solidFill>
                      <a:schemeClr val="tx2"/>
                    </a:solidFill>
                  </a:rPr>
                  <a:t>(6)  </a:t>
                </a:r>
                <a:r>
                  <a:rPr lang="en-AU" sz="1400">
                    <a:solidFill>
                      <a:srgbClr val="3F4650"/>
                    </a:solidFill>
                  </a:rPr>
                  <a:t>Ice load in temperature differences from the ice:  </a:t>
                </a:r>
                <a14:m>
                  <m:oMath xmlns:m="http://schemas.openxmlformats.org/officeDocument/2006/math">
                    <m:sSub>
                      <m:sSubPr>
                        <m:ctrlPr>
                          <a:rPr lang="en-AU" sz="1400" b="0" i="1">
                            <a:latin typeface="Cambria Math" panose="02040503050406030204" pitchFamily="18" charset="0"/>
                          </a:rPr>
                        </m:ctrlPr>
                      </m:sSubPr>
                      <m:e>
                        <m:r>
                          <a:rPr lang="en-AU" sz="1400" b="0" i="1">
                            <a:latin typeface="Cambria Math" panose="02040503050406030204" pitchFamily="18" charset="0"/>
                          </a:rPr>
                          <m:t>𝜃</m:t>
                        </m:r>
                      </m:e>
                      <m:sub>
                        <m:r>
                          <a:rPr lang="en-AU" sz="1400" b="0" i="1">
                            <a:latin typeface="Cambria Math" panose="02040503050406030204" pitchFamily="18" charset="0"/>
                          </a:rPr>
                          <m:t>𝑈</m:t>
                        </m:r>
                      </m:sub>
                    </m:sSub>
                    <m:r>
                      <a:rPr lang="en-AU" sz="1400" b="0" i="1">
                        <a:latin typeface="Cambria Math" panose="02040503050406030204" pitchFamily="18" charset="0"/>
                      </a:rPr>
                      <m:t>=</m:t>
                    </m:r>
                    <m:sSub>
                      <m:sSubPr>
                        <m:ctrlPr>
                          <a:rPr lang="en-AU" sz="1400" b="0" i="1">
                            <a:latin typeface="Cambria Math" panose="02040503050406030204" pitchFamily="18" charset="0"/>
                          </a:rPr>
                        </m:ctrlPr>
                      </m:sSubPr>
                      <m:e>
                        <m:r>
                          <a:rPr lang="en-AU" sz="1400" b="0" i="1">
                            <a:latin typeface="Cambria Math" panose="02040503050406030204" pitchFamily="18" charset="0"/>
                          </a:rPr>
                          <m:t>𝑇</m:t>
                        </m:r>
                      </m:e>
                      <m:sub>
                        <m:r>
                          <a:rPr lang="en-AU" sz="1400" b="0" i="1">
                            <a:latin typeface="Cambria Math" panose="02040503050406030204" pitchFamily="18" charset="0"/>
                          </a:rPr>
                          <m:t>𝑈</m:t>
                        </m:r>
                      </m:sub>
                    </m:sSub>
                    <m:r>
                      <a:rPr lang="en-AU" sz="1400" b="0" i="1">
                        <a:latin typeface="Cambria Math" panose="02040503050406030204" pitchFamily="18" charset="0"/>
                      </a:rPr>
                      <m:t>−</m:t>
                    </m:r>
                    <m:sSub>
                      <m:sSubPr>
                        <m:ctrlPr>
                          <a:rPr lang="en-AU" sz="1400" b="0" i="1">
                            <a:latin typeface="Cambria Math" panose="02040503050406030204" pitchFamily="18" charset="0"/>
                          </a:rPr>
                        </m:ctrlPr>
                      </m:sSubPr>
                      <m:e>
                        <m:r>
                          <a:rPr lang="en-AU" sz="1400" b="0" i="1">
                            <a:latin typeface="Cambria Math" panose="02040503050406030204" pitchFamily="18" charset="0"/>
                          </a:rPr>
                          <m:t>𝑇</m:t>
                        </m:r>
                      </m:e>
                      <m:sub>
                        <m:r>
                          <a:rPr lang="en-AU" sz="1400" b="0" i="1">
                            <a:latin typeface="Cambria Math" panose="02040503050406030204" pitchFamily="18" charset="0"/>
                          </a:rPr>
                          <m:t>𝑖𝑐𝑒</m:t>
                        </m:r>
                      </m:sub>
                    </m:sSub>
                    <m:r>
                      <a:rPr lang="en-AU" sz="1400" b="0" i="1">
                        <a:latin typeface="Cambria Math" panose="02040503050406030204" pitchFamily="18" charset="0"/>
                      </a:rPr>
                      <m:t>, </m:t>
                    </m:r>
                    <m:sSub>
                      <m:sSubPr>
                        <m:ctrlPr>
                          <a:rPr lang="en-AU" sz="1400" b="0" i="1">
                            <a:latin typeface="Cambria Math" panose="02040503050406030204" pitchFamily="18" charset="0"/>
                          </a:rPr>
                        </m:ctrlPr>
                      </m:sSubPr>
                      <m:e>
                        <m:r>
                          <a:rPr lang="en-AU" sz="1400" b="0" i="1">
                            <a:latin typeface="Cambria Math" panose="02040503050406030204" pitchFamily="18" charset="0"/>
                          </a:rPr>
                          <m:t>𝜃</m:t>
                        </m:r>
                      </m:e>
                      <m:sub>
                        <m:r>
                          <a:rPr lang="en-AU" sz="1400" b="0" i="1">
                            <a:latin typeface="Cambria Math" panose="02040503050406030204" pitchFamily="18" charset="0"/>
                          </a:rPr>
                          <m:t>𝐹</m:t>
                        </m:r>
                      </m:sub>
                    </m:sSub>
                    <m:r>
                      <a:rPr lang="en-AU" sz="1400" b="0" i="1">
                        <a:latin typeface="Cambria Math" panose="02040503050406030204" pitchFamily="18" charset="0"/>
                      </a:rPr>
                      <m:t>=</m:t>
                    </m:r>
                    <m:sSub>
                      <m:sSubPr>
                        <m:ctrlPr>
                          <a:rPr lang="en-AU" sz="1400" b="0" i="1">
                            <a:latin typeface="Cambria Math" panose="02040503050406030204" pitchFamily="18" charset="0"/>
                          </a:rPr>
                        </m:ctrlPr>
                      </m:sSubPr>
                      <m:e>
                        <m:r>
                          <a:rPr lang="en-AU" sz="1400" b="0" i="1">
                            <a:latin typeface="Cambria Math" panose="02040503050406030204" pitchFamily="18" charset="0"/>
                          </a:rPr>
                          <m:t>𝑇</m:t>
                        </m:r>
                      </m:e>
                      <m:sub>
                        <m:r>
                          <a:rPr lang="en-AU" sz="1400" b="0" i="1">
                            <a:latin typeface="Cambria Math" panose="02040503050406030204" pitchFamily="18" charset="0"/>
                          </a:rPr>
                          <m:t>𝐹</m:t>
                        </m:r>
                      </m:sub>
                    </m:sSub>
                    <m:r>
                      <a:rPr lang="en-AU" sz="1400" b="0" i="1">
                        <a:latin typeface="Cambria Math" panose="02040503050406030204" pitchFamily="18" charset="0"/>
                      </a:rPr>
                      <m:t>−</m:t>
                    </m:r>
                    <m:sSub>
                      <m:sSubPr>
                        <m:ctrlPr>
                          <a:rPr lang="en-AU" sz="1400" b="0" i="1">
                            <a:latin typeface="Cambria Math" panose="02040503050406030204" pitchFamily="18" charset="0"/>
                          </a:rPr>
                        </m:ctrlPr>
                      </m:sSubPr>
                      <m:e>
                        <m:r>
                          <a:rPr lang="en-AU" sz="1400" b="0" i="1">
                            <a:latin typeface="Cambria Math" panose="02040503050406030204" pitchFamily="18" charset="0"/>
                          </a:rPr>
                          <m:t>𝑇</m:t>
                        </m:r>
                      </m:e>
                      <m:sub>
                        <m:r>
                          <a:rPr lang="en-AU" sz="1400" b="0" i="1">
                            <a:latin typeface="Cambria Math" panose="02040503050406030204" pitchFamily="18" charset="0"/>
                          </a:rPr>
                          <m:t>𝑖𝑐𝑒</m:t>
                        </m:r>
                      </m:sub>
                    </m:sSub>
                  </m:oMath>
                </a14:m>
                <a:endParaRPr lang="en-AU" sz="1400">
                  <a:solidFill>
                    <a:srgbClr val="3F4650"/>
                  </a:solidFill>
                </a:endParaRPr>
              </a:p>
              <a:p>
                <a:pPr>
                  <a:spcBef>
                    <a:spcPts val="200"/>
                  </a:spcBef>
                </a:pPr>
                <a14:m>
                  <m:oMathPara xmlns:m="http://schemas.openxmlformats.org/officeDocument/2006/math">
                    <m:oMathParaPr>
                      <m:jc m:val="left"/>
                    </m:oMathParaPr>
                    <m:oMath>
                      <m:sSub>
                        <m:sSubPr>
                          <m:ctrlPr>
                            <a:rPr lang="en-AU" sz="2000" b="0" i="1">
                              <a:latin typeface="Cambria Math" panose="02040503050406030204" pitchFamily="18" charset="0"/>
                            </a:rPr>
                          </m:ctrlPr>
                        </m:sSubPr>
                        <m:e>
                          <m:acc>
                            <m:accPr>
                              <m:chr m:val="̇"/>
                              <m:ctrlPr>
                                <a:rPr lang="en-AU" sz="2000" b="0" i="1">
                                  <a:latin typeface="Cambria Math" panose="02040503050406030204" pitchFamily="18" charset="0"/>
                                </a:rPr>
                              </m:ctrlPr>
                            </m:accPr>
                            <m:e>
                              <m:r>
                                <a:rPr lang="en-AU" sz="2000" b="0" i="1">
                                  <a:latin typeface="Cambria Math" panose="02040503050406030204" pitchFamily="18" charset="0"/>
                                </a:rPr>
                                <m:t>𝑄</m:t>
                              </m:r>
                            </m:e>
                          </m:acc>
                        </m:e>
                        <m:sub>
                          <m:r>
                            <a:rPr lang="en-AU" sz="2000" b="0" i="1">
                              <a:latin typeface="Cambria Math" panose="02040503050406030204" pitchFamily="18" charset="0"/>
                            </a:rPr>
                            <m:t>𝐶</m:t>
                          </m:r>
                        </m:sub>
                      </m:sSub>
                      <m:r>
                        <a:rPr lang="en-AU" sz="2000" b="0" i="1">
                          <a:latin typeface="Cambria Math" panose="02040503050406030204" pitchFamily="18" charset="0"/>
                        </a:rPr>
                        <m:t>=</m:t>
                      </m:r>
                      <m:sSub>
                        <m:sSubPr>
                          <m:ctrlPr>
                            <a:rPr lang="en-AU" sz="2000" b="0" i="1">
                              <a:latin typeface="Cambria Math" panose="02040503050406030204" pitchFamily="18" charset="0"/>
                            </a:rPr>
                          </m:ctrlPr>
                        </m:sSubPr>
                        <m:e>
                          <m:r>
                            <a:rPr lang="en-AU" sz="2000" b="0" i="1">
                              <a:latin typeface="Cambria Math" panose="02040503050406030204" pitchFamily="18" charset="0"/>
                            </a:rPr>
                            <m:t>𝑈</m:t>
                          </m:r>
                        </m:e>
                        <m:sub>
                          <m:r>
                            <a:rPr lang="en-AU" sz="2000" b="0" i="1">
                              <a:latin typeface="Cambria Math" panose="02040503050406030204" pitchFamily="18" charset="0"/>
                            </a:rPr>
                            <m:t>𝐿𝐼</m:t>
                          </m:r>
                        </m:sub>
                      </m:sSub>
                      <m:sSub>
                        <m:sSubPr>
                          <m:ctrlPr>
                            <a:rPr lang="en-AU" sz="2000" b="0" i="1">
                              <a:latin typeface="Cambria Math" panose="02040503050406030204" pitchFamily="18" charset="0"/>
                            </a:rPr>
                          </m:ctrlPr>
                        </m:sSubPr>
                        <m:e>
                          <m:r>
                            <a:rPr lang="en-AU" sz="2000" b="0" i="1">
                              <a:latin typeface="Cambria Math" panose="02040503050406030204" pitchFamily="18" charset="0"/>
                            </a:rPr>
                            <m:t>𝐴</m:t>
                          </m:r>
                        </m:e>
                        <m:sub>
                          <m:r>
                            <a:rPr lang="en-AU" sz="2000" b="0" i="1">
                              <a:latin typeface="Cambria Math" panose="02040503050406030204" pitchFamily="18" charset="0"/>
                            </a:rPr>
                            <m:t>𝑖𝑐𝑒</m:t>
                          </m:r>
                        </m:sub>
                      </m:sSub>
                      <m:f>
                        <m:fPr>
                          <m:ctrlPr>
                            <a:rPr lang="en-AU" sz="2000" b="0" i="1">
                              <a:latin typeface="Cambria Math" panose="02040503050406030204" pitchFamily="18" charset="0"/>
                            </a:rPr>
                          </m:ctrlPr>
                        </m:fPr>
                        <m:num>
                          <m:sSub>
                            <m:sSubPr>
                              <m:ctrlPr>
                                <a:rPr lang="en-AU" sz="2000" b="0" i="1">
                                  <a:latin typeface="Cambria Math" panose="02040503050406030204" pitchFamily="18" charset="0"/>
                                </a:rPr>
                              </m:ctrlPr>
                            </m:sSubPr>
                            <m:e>
                              <m:r>
                                <a:rPr lang="en-AU" sz="2000" b="0" i="1">
                                  <a:latin typeface="Cambria Math" panose="02040503050406030204" pitchFamily="18" charset="0"/>
                                </a:rPr>
                                <m:t>𝑈</m:t>
                              </m:r>
                            </m:e>
                            <m:sub>
                              <m:r>
                                <a:rPr lang="en-AU" sz="2000" b="0" i="1">
                                  <a:latin typeface="Cambria Math" panose="02040503050406030204" pitchFamily="18" charset="0"/>
                                </a:rPr>
                                <m:t>𝑈𝐿</m:t>
                              </m:r>
                            </m:sub>
                          </m:sSub>
                          <m:sSub>
                            <m:sSubPr>
                              <m:ctrlPr>
                                <a:rPr lang="en-AU" sz="2000" b="0" i="1">
                                  <a:latin typeface="Cambria Math" panose="02040503050406030204" pitchFamily="18" charset="0"/>
                                </a:rPr>
                              </m:ctrlPr>
                            </m:sSubPr>
                            <m:e>
                              <m:r>
                                <a:rPr lang="en-AU" sz="2000" b="0" i="1">
                                  <a:latin typeface="Cambria Math" panose="02040503050406030204" pitchFamily="18" charset="0"/>
                                </a:rPr>
                                <m:t>𝐴</m:t>
                              </m:r>
                            </m:e>
                            <m:sub>
                              <m:r>
                                <a:rPr lang="en-AU" sz="2000" b="0" i="1">
                                  <a:latin typeface="Cambria Math" panose="02040503050406030204" pitchFamily="18" charset="0"/>
                                </a:rPr>
                                <m:t>𝑈𝐿</m:t>
                              </m:r>
                            </m:sub>
                          </m:sSub>
                          <m:sSub>
                            <m:sSubPr>
                              <m:ctrlPr>
                                <a:rPr lang="en-AU" sz="2000" b="0" i="1">
                                  <a:latin typeface="Cambria Math" panose="02040503050406030204" pitchFamily="18" charset="0"/>
                                </a:rPr>
                              </m:ctrlPr>
                            </m:sSubPr>
                            <m:e>
                              <m:r>
                                <a:rPr lang="en-AU" sz="2000" b="0" i="1">
                                  <a:latin typeface="Cambria Math" panose="02040503050406030204" pitchFamily="18" charset="0"/>
                                </a:rPr>
                                <m:t>𝜃</m:t>
                              </m:r>
                            </m:e>
                            <m:sub>
                              <m:r>
                                <a:rPr lang="en-AU" sz="2000" b="0" i="1">
                                  <a:latin typeface="Cambria Math" panose="02040503050406030204" pitchFamily="18" charset="0"/>
                                </a:rPr>
                                <m:t>𝑈</m:t>
                              </m:r>
                            </m:sub>
                          </m:sSub>
                          <m:r>
                            <a:rPr lang="en-AU" sz="2000" b="0" i="1">
                              <a:latin typeface="Cambria Math" panose="02040503050406030204" pitchFamily="18" charset="0"/>
                            </a:rPr>
                            <m:t>+</m:t>
                          </m:r>
                          <m:sSub>
                            <m:sSubPr>
                              <m:ctrlPr>
                                <a:rPr lang="en-AU" sz="2000" b="0" i="1">
                                  <a:latin typeface="Cambria Math" panose="02040503050406030204" pitchFamily="18" charset="0"/>
                                </a:rPr>
                              </m:ctrlPr>
                            </m:sSubPr>
                            <m:e>
                              <m:r>
                                <a:rPr lang="en-AU" sz="2000" b="0" i="1">
                                  <a:latin typeface="Cambria Math" panose="02040503050406030204" pitchFamily="18" charset="0"/>
                                </a:rPr>
                                <m:t>𝑈</m:t>
                              </m:r>
                            </m:e>
                            <m:sub>
                              <m:r>
                                <a:rPr lang="en-AU" sz="2000" b="0" i="1">
                                  <a:latin typeface="Cambria Math" panose="02040503050406030204" pitchFamily="18" charset="0"/>
                                </a:rPr>
                                <m:t>𝐿𝐹</m:t>
                              </m:r>
                            </m:sub>
                          </m:sSub>
                          <m:sSub>
                            <m:sSubPr>
                              <m:ctrlPr>
                                <a:rPr lang="en-AU" sz="2000" b="0" i="1">
                                  <a:latin typeface="Cambria Math" panose="02040503050406030204" pitchFamily="18" charset="0"/>
                                </a:rPr>
                              </m:ctrlPr>
                            </m:sSubPr>
                            <m:e>
                              <m:r>
                                <a:rPr lang="en-AU" sz="2000" b="0" i="1">
                                  <a:latin typeface="Cambria Math" panose="02040503050406030204" pitchFamily="18" charset="0"/>
                                </a:rPr>
                                <m:t>𝐴</m:t>
                              </m:r>
                            </m:e>
                            <m:sub>
                              <m:r>
                                <a:rPr lang="en-AU" sz="2000" b="0" i="1">
                                  <a:latin typeface="Cambria Math" panose="02040503050406030204" pitchFamily="18" charset="0"/>
                                </a:rPr>
                                <m:t>𝐹</m:t>
                              </m:r>
                            </m:sub>
                          </m:sSub>
                          <m:sSub>
                            <m:sSubPr>
                              <m:ctrlPr>
                                <a:rPr lang="en-AU" sz="2000" b="0" i="1">
                                  <a:latin typeface="Cambria Math" panose="02040503050406030204" pitchFamily="18" charset="0"/>
                                </a:rPr>
                              </m:ctrlPr>
                            </m:sSubPr>
                            <m:e>
                              <m:r>
                                <a:rPr lang="en-AU" sz="2000" b="0" i="1">
                                  <a:latin typeface="Cambria Math" panose="02040503050406030204" pitchFamily="18" charset="0"/>
                                </a:rPr>
                                <m:t>𝜃</m:t>
                              </m:r>
                            </m:e>
                            <m:sub>
                              <m:r>
                                <a:rPr lang="en-AU" sz="2000" b="0" i="1">
                                  <a:latin typeface="Cambria Math" panose="02040503050406030204" pitchFamily="18" charset="0"/>
                                </a:rPr>
                                <m:t>𝐹</m:t>
                              </m:r>
                            </m:sub>
                          </m:sSub>
                        </m:num>
                        <m:den>
                          <m:sSub>
                            <m:sSubPr>
                              <m:ctrlPr>
                                <a:rPr lang="en-AU" sz="2000" b="0" i="1">
                                  <a:latin typeface="Cambria Math" panose="02040503050406030204" pitchFamily="18" charset="0"/>
                                </a:rPr>
                              </m:ctrlPr>
                            </m:sSubPr>
                            <m:e>
                              <m:r>
                                <a:rPr lang="en-AU" sz="2000" b="0" i="1">
                                  <a:latin typeface="Cambria Math" panose="02040503050406030204" pitchFamily="18" charset="0"/>
                                </a:rPr>
                                <m:t>𝑈</m:t>
                              </m:r>
                            </m:e>
                            <m:sub>
                              <m:r>
                                <a:rPr lang="en-AU" sz="2000" b="0" i="1">
                                  <a:latin typeface="Cambria Math" panose="02040503050406030204" pitchFamily="18" charset="0"/>
                                </a:rPr>
                                <m:t>𝑈𝐿</m:t>
                              </m:r>
                            </m:sub>
                          </m:sSub>
                          <m:sSub>
                            <m:sSubPr>
                              <m:ctrlPr>
                                <a:rPr lang="en-AU" sz="2000" b="0" i="1">
                                  <a:latin typeface="Cambria Math" panose="02040503050406030204" pitchFamily="18" charset="0"/>
                                </a:rPr>
                              </m:ctrlPr>
                            </m:sSubPr>
                            <m:e>
                              <m:r>
                                <a:rPr lang="en-AU" sz="2000" b="0" i="1">
                                  <a:latin typeface="Cambria Math" panose="02040503050406030204" pitchFamily="18" charset="0"/>
                                </a:rPr>
                                <m:t>𝐴</m:t>
                              </m:r>
                            </m:e>
                            <m:sub>
                              <m:r>
                                <a:rPr lang="en-AU" sz="2000" b="0" i="1">
                                  <a:latin typeface="Cambria Math" panose="02040503050406030204" pitchFamily="18" charset="0"/>
                                </a:rPr>
                                <m:t>𝑈𝐿</m:t>
                              </m:r>
                            </m:sub>
                          </m:sSub>
                          <m:r>
                            <a:rPr lang="en-AU" sz="2000" b="0" i="1">
                              <a:latin typeface="Cambria Math" panose="02040503050406030204" pitchFamily="18" charset="0"/>
                            </a:rPr>
                            <m:t>+</m:t>
                          </m:r>
                          <m:sSub>
                            <m:sSubPr>
                              <m:ctrlPr>
                                <a:rPr lang="en-AU" sz="2000" b="0" i="1">
                                  <a:latin typeface="Cambria Math" panose="02040503050406030204" pitchFamily="18" charset="0"/>
                                </a:rPr>
                              </m:ctrlPr>
                            </m:sSubPr>
                            <m:e>
                              <m:r>
                                <a:rPr lang="en-AU" sz="2000" b="0" i="1">
                                  <a:latin typeface="Cambria Math" panose="02040503050406030204" pitchFamily="18" charset="0"/>
                                </a:rPr>
                                <m:t>𝑈</m:t>
                              </m:r>
                            </m:e>
                            <m:sub>
                              <m:r>
                                <a:rPr lang="en-AU" sz="2000" b="0" i="1">
                                  <a:latin typeface="Cambria Math" panose="02040503050406030204" pitchFamily="18" charset="0"/>
                                </a:rPr>
                                <m:t>𝐿𝐼</m:t>
                              </m:r>
                            </m:sub>
                          </m:sSub>
                          <m:sSub>
                            <m:sSubPr>
                              <m:ctrlPr>
                                <a:rPr lang="en-AU" sz="2000" b="0" i="1">
                                  <a:latin typeface="Cambria Math" panose="02040503050406030204" pitchFamily="18" charset="0"/>
                                </a:rPr>
                              </m:ctrlPr>
                            </m:sSubPr>
                            <m:e>
                              <m:r>
                                <a:rPr lang="en-AU" sz="2000" b="0" i="1">
                                  <a:latin typeface="Cambria Math" panose="02040503050406030204" pitchFamily="18" charset="0"/>
                                </a:rPr>
                                <m:t>𝐴</m:t>
                              </m:r>
                            </m:e>
                            <m:sub>
                              <m:r>
                                <a:rPr lang="en-AU" sz="2000" b="0" i="1">
                                  <a:latin typeface="Cambria Math" panose="02040503050406030204" pitchFamily="18" charset="0"/>
                                </a:rPr>
                                <m:t>𝑖𝑐𝑒</m:t>
                              </m:r>
                            </m:sub>
                          </m:sSub>
                          <m:r>
                            <a:rPr lang="en-AU" sz="2000" b="0" i="1">
                              <a:latin typeface="Cambria Math" panose="02040503050406030204" pitchFamily="18" charset="0"/>
                            </a:rPr>
                            <m:t>+</m:t>
                          </m:r>
                          <m:sSub>
                            <m:sSubPr>
                              <m:ctrlPr>
                                <a:rPr lang="en-AU" sz="2000" b="0" i="1">
                                  <a:latin typeface="Cambria Math" panose="02040503050406030204" pitchFamily="18" charset="0"/>
                                </a:rPr>
                              </m:ctrlPr>
                            </m:sSubPr>
                            <m:e>
                              <m:r>
                                <a:rPr lang="en-AU" sz="2000" b="0" i="1">
                                  <a:latin typeface="Cambria Math" panose="02040503050406030204" pitchFamily="18" charset="0"/>
                                </a:rPr>
                                <m:t>𝑈</m:t>
                              </m:r>
                            </m:e>
                            <m:sub>
                              <m:r>
                                <a:rPr lang="en-AU" sz="2000" b="0" i="1">
                                  <a:latin typeface="Cambria Math" panose="02040503050406030204" pitchFamily="18" charset="0"/>
                                </a:rPr>
                                <m:t>𝐿𝐹</m:t>
                              </m:r>
                            </m:sub>
                          </m:sSub>
                          <m:sSub>
                            <m:sSubPr>
                              <m:ctrlPr>
                                <a:rPr lang="en-AU" sz="2000" b="0" i="1">
                                  <a:latin typeface="Cambria Math" panose="02040503050406030204" pitchFamily="18" charset="0"/>
                                </a:rPr>
                              </m:ctrlPr>
                            </m:sSubPr>
                            <m:e>
                              <m:r>
                                <a:rPr lang="en-AU" sz="2000" b="0" i="1">
                                  <a:latin typeface="Cambria Math" panose="02040503050406030204" pitchFamily="18" charset="0"/>
                                </a:rPr>
                                <m:t>𝐴</m:t>
                              </m:r>
                            </m:e>
                            <m:sub>
                              <m:r>
                                <a:rPr lang="en-AU" sz="2000" b="0" i="1">
                                  <a:latin typeface="Cambria Math" panose="02040503050406030204" pitchFamily="18" charset="0"/>
                                </a:rPr>
                                <m:t>𝐹</m:t>
                              </m:r>
                            </m:sub>
                          </m:sSub>
                        </m:den>
                      </m:f>
                    </m:oMath>
                  </m:oMathPara>
                </a14:m>
                <a:endParaRPr lang="en-AU" sz="2000"/>
              </a:p>
              <a:p>
                <a:pPr>
                  <a:spcBef>
                    <a:spcPts val="1000"/>
                  </a:spcBef>
                  <a:buNone/>
                </a:pPr>
                <a:r>
                  <a:rPr lang="en-AU" sz="1400" b="1">
                    <a:solidFill>
                      <a:schemeClr val="tx2"/>
                    </a:solidFill>
                  </a:rPr>
                  <a:t>(7)  </a:t>
                </a:r>
                <a:r>
                  <a:rPr lang="en-AU" sz="1400">
                    <a:solidFill>
                      <a:srgbClr val="3F4650"/>
                    </a:solidFill>
                  </a:rPr>
                  <a:t>Upper unit split into heating and cooling, so they never cancel</a:t>
                </a:r>
              </a:p>
              <a:p>
                <a:pPr>
                  <a:spcBef>
                    <a:spcPts val="200"/>
                  </a:spcBef>
                </a:pPr>
                <a14:m>
                  <m:oMathPara xmlns:m="http://schemas.openxmlformats.org/officeDocument/2006/math">
                    <m:oMathParaPr>
                      <m:jc m:val="left"/>
                    </m:oMathParaPr>
                    <m:oMath>
                      <m:sSub>
                        <m:sSubPr>
                          <m:ctrlPr>
                            <a:rPr lang="en-AU" sz="2000" b="0" i="1">
                              <a:latin typeface="Cambria Math" panose="02040503050406030204" pitchFamily="18" charset="0"/>
                            </a:rPr>
                          </m:ctrlPr>
                        </m:sSubPr>
                        <m:e>
                          <m:acc>
                            <m:accPr>
                              <m:chr m:val="̇"/>
                              <m:ctrlPr>
                                <a:rPr lang="en-AU" sz="2000" b="0" i="1">
                                  <a:latin typeface="Cambria Math" panose="02040503050406030204" pitchFamily="18" charset="0"/>
                                </a:rPr>
                              </m:ctrlPr>
                            </m:accPr>
                            <m:e>
                              <m:r>
                                <a:rPr lang="en-AU" sz="2000" b="0" i="1">
                                  <a:latin typeface="Cambria Math" panose="02040503050406030204" pitchFamily="18" charset="0"/>
                                </a:rPr>
                                <m:t>𝑄</m:t>
                              </m:r>
                            </m:e>
                          </m:acc>
                        </m:e>
                        <m:sub>
                          <m:r>
                            <a:rPr lang="en-AU" sz="2000" b="0" i="1">
                              <a:latin typeface="Cambria Math" panose="02040503050406030204" pitchFamily="18" charset="0"/>
                            </a:rPr>
                            <m:t>𝐻</m:t>
                          </m:r>
                        </m:sub>
                      </m:sSub>
                      <m:r>
                        <a:rPr lang="en-AU" sz="2000" b="0" i="1">
                          <a:latin typeface="Cambria Math" panose="02040503050406030204" pitchFamily="18" charset="0"/>
                        </a:rPr>
                        <m:t>=</m:t>
                      </m:r>
                      <m:r>
                        <m:rPr>
                          <m:sty m:val="p"/>
                        </m:rPr>
                        <a:rPr lang="en-AU" sz="2000" b="0" i="0">
                          <a:latin typeface="Cambria Math" panose="02040503050406030204" pitchFamily="18" charset="0"/>
                        </a:rPr>
                        <m:t>max</m:t>
                      </m:r>
                      <m:r>
                        <a:rPr lang="en-AU" sz="2000" b="0" i="1">
                          <a:latin typeface="Cambria Math" panose="02040503050406030204" pitchFamily="18" charset="0"/>
                        </a:rPr>
                        <m:t>(</m:t>
                      </m:r>
                      <m:sSub>
                        <m:sSubPr>
                          <m:ctrlPr>
                            <a:rPr lang="en-AU" sz="2000" b="0" i="1">
                              <a:latin typeface="Cambria Math" panose="02040503050406030204" pitchFamily="18" charset="0"/>
                            </a:rPr>
                          </m:ctrlPr>
                        </m:sSubPr>
                        <m:e>
                          <m:acc>
                            <m:accPr>
                              <m:chr m:val="̇"/>
                              <m:ctrlPr>
                                <a:rPr lang="en-AU" sz="2000" b="0" i="1">
                                  <a:latin typeface="Cambria Math" panose="02040503050406030204" pitchFamily="18" charset="0"/>
                                </a:rPr>
                              </m:ctrlPr>
                            </m:accPr>
                            <m:e>
                              <m:r>
                                <a:rPr lang="en-AU" sz="2000" b="0" i="1">
                                  <a:latin typeface="Cambria Math" panose="02040503050406030204" pitchFamily="18" charset="0"/>
                                </a:rPr>
                                <m:t>𝑄</m:t>
                              </m:r>
                            </m:e>
                          </m:acc>
                        </m:e>
                        <m:sub>
                          <m:r>
                            <a:rPr lang="en-AU" sz="2000" b="0" i="1">
                              <a:latin typeface="Cambria Math" panose="02040503050406030204" pitchFamily="18" charset="0"/>
                            </a:rPr>
                            <m:t>𝑈</m:t>
                          </m:r>
                        </m:sub>
                      </m:sSub>
                      <m:r>
                        <a:rPr lang="en-AU" sz="2000" b="0" i="1">
                          <a:latin typeface="Cambria Math" panose="02040503050406030204" pitchFamily="18" charset="0"/>
                        </a:rPr>
                        <m:t>,</m:t>
                      </m:r>
                      <m:r>
                        <a:rPr lang="en-AU" sz="2000" b="0" i="0">
                          <a:latin typeface="Cambria Math" panose="02040503050406030204" pitchFamily="18" charset="0"/>
                        </a:rPr>
                        <m:t>0</m:t>
                      </m:r>
                      <m:r>
                        <a:rPr lang="en-AU" sz="2000" b="0" i="1">
                          <a:latin typeface="Cambria Math" panose="02040503050406030204" pitchFamily="18" charset="0"/>
                        </a:rPr>
                        <m:t>), </m:t>
                      </m:r>
                      <m:sSub>
                        <m:sSubPr>
                          <m:ctrlPr>
                            <a:rPr lang="en-AU" sz="2000" b="0" i="1">
                              <a:latin typeface="Cambria Math" panose="02040503050406030204" pitchFamily="18" charset="0"/>
                            </a:rPr>
                          </m:ctrlPr>
                        </m:sSubPr>
                        <m:e>
                          <m:acc>
                            <m:accPr>
                              <m:chr m:val="̇"/>
                              <m:ctrlPr>
                                <a:rPr lang="en-AU" sz="2000" b="0" i="1">
                                  <a:latin typeface="Cambria Math" panose="02040503050406030204" pitchFamily="18" charset="0"/>
                                </a:rPr>
                              </m:ctrlPr>
                            </m:accPr>
                            <m:e>
                              <m:r>
                                <a:rPr lang="en-AU" sz="2000" b="0" i="1">
                                  <a:latin typeface="Cambria Math" panose="02040503050406030204" pitchFamily="18" charset="0"/>
                                </a:rPr>
                                <m:t>𝑄</m:t>
                              </m:r>
                            </m:e>
                          </m:acc>
                        </m:e>
                        <m:sub>
                          <m:r>
                            <a:rPr lang="en-AU" sz="2000" b="0" i="1">
                              <a:latin typeface="Cambria Math" panose="02040503050406030204" pitchFamily="18" charset="0"/>
                            </a:rPr>
                            <m:t>𝑈𝐶</m:t>
                          </m:r>
                        </m:sub>
                      </m:sSub>
                      <m:r>
                        <a:rPr lang="en-AU" sz="2000" b="0" i="1">
                          <a:latin typeface="Cambria Math" panose="02040503050406030204" pitchFamily="18" charset="0"/>
                        </a:rPr>
                        <m:t>=</m:t>
                      </m:r>
                      <m:r>
                        <m:rPr>
                          <m:sty m:val="p"/>
                        </m:rPr>
                        <a:rPr lang="en-AU" sz="2000" b="0" i="0">
                          <a:latin typeface="Cambria Math" panose="02040503050406030204" pitchFamily="18" charset="0"/>
                        </a:rPr>
                        <m:t>max</m:t>
                      </m:r>
                      <m:r>
                        <a:rPr lang="en-AU" sz="2000" b="0" i="1">
                          <a:latin typeface="Cambria Math" panose="02040503050406030204" pitchFamily="18" charset="0"/>
                        </a:rPr>
                        <m:t>(−</m:t>
                      </m:r>
                      <m:sSub>
                        <m:sSubPr>
                          <m:ctrlPr>
                            <a:rPr lang="en-AU" sz="2000" b="0" i="1">
                              <a:latin typeface="Cambria Math" panose="02040503050406030204" pitchFamily="18" charset="0"/>
                            </a:rPr>
                          </m:ctrlPr>
                        </m:sSubPr>
                        <m:e>
                          <m:acc>
                            <m:accPr>
                              <m:chr m:val="̇"/>
                              <m:ctrlPr>
                                <a:rPr lang="en-AU" sz="2000" b="0" i="1">
                                  <a:latin typeface="Cambria Math" panose="02040503050406030204" pitchFamily="18" charset="0"/>
                                </a:rPr>
                              </m:ctrlPr>
                            </m:accPr>
                            <m:e>
                              <m:r>
                                <a:rPr lang="en-AU" sz="2000" b="0" i="1">
                                  <a:latin typeface="Cambria Math" panose="02040503050406030204" pitchFamily="18" charset="0"/>
                                </a:rPr>
                                <m:t>𝑄</m:t>
                              </m:r>
                            </m:e>
                          </m:acc>
                        </m:e>
                        <m:sub>
                          <m:r>
                            <a:rPr lang="en-AU" sz="2000" b="0" i="1">
                              <a:latin typeface="Cambria Math" panose="02040503050406030204" pitchFamily="18" charset="0"/>
                            </a:rPr>
                            <m:t>𝑈</m:t>
                          </m:r>
                        </m:sub>
                      </m:sSub>
                      <m:r>
                        <a:rPr lang="en-AU" sz="2000" b="0" i="1">
                          <a:latin typeface="Cambria Math" panose="02040503050406030204" pitchFamily="18" charset="0"/>
                        </a:rPr>
                        <m:t>,</m:t>
                      </m:r>
                      <m:r>
                        <a:rPr lang="en-AU" sz="2000" b="0" i="0">
                          <a:latin typeface="Cambria Math" panose="02040503050406030204" pitchFamily="18" charset="0"/>
                        </a:rPr>
                        <m:t>0</m:t>
                      </m:r>
                      <m:r>
                        <a:rPr lang="en-AU" sz="2000" b="0" i="1">
                          <a:latin typeface="Cambria Math" panose="02040503050406030204" pitchFamily="18" charset="0"/>
                        </a:rPr>
                        <m:t>)</m:t>
                      </m:r>
                    </m:oMath>
                  </m:oMathPara>
                </a14:m>
                <a:endParaRPr lang="en-AU" sz="2000"/>
              </a:p>
              <a:p>
                <a:pPr>
                  <a:spcBef>
                    <a:spcPts val="1000"/>
                  </a:spcBef>
                  <a:buNone/>
                </a:pPr>
                <a:r>
                  <a:rPr lang="en-AU" sz="1400" b="1">
                    <a:solidFill>
                      <a:schemeClr val="tx2"/>
                    </a:solidFill>
                  </a:rPr>
                  <a:t>(8)  </a:t>
                </a:r>
                <a:r>
                  <a:rPr lang="en-AU" sz="1400">
                    <a:solidFill>
                      <a:srgbClr val="3F4650"/>
                    </a:solidFill>
                  </a:rPr>
                  <a:t>Energy over a period t, with constant loads at steady state</a:t>
                </a:r>
              </a:p>
              <a:p>
                <a:pPr>
                  <a:spcBef>
                    <a:spcPts val="200"/>
                  </a:spcBef>
                </a:pPr>
                <a14:m>
                  <m:oMathPara xmlns:m="http://schemas.openxmlformats.org/officeDocument/2006/math">
                    <m:oMathParaPr>
                      <m:jc m:val="left"/>
                    </m:oMathParaPr>
                    <m:oMath>
                      <m:r>
                        <a:rPr lang="en-AU" sz="2000" b="0" i="1">
                          <a:latin typeface="Cambria Math" panose="02040503050406030204" pitchFamily="18" charset="0"/>
                        </a:rPr>
                        <m:t>𝐸</m:t>
                      </m:r>
                      <m:r>
                        <a:rPr lang="en-AU" sz="2000" b="0" i="1">
                          <a:latin typeface="Cambria Math" panose="02040503050406030204" pitchFamily="18" charset="0"/>
                        </a:rPr>
                        <m:t>=</m:t>
                      </m:r>
                      <m:nary>
                        <m:naryPr>
                          <m:limLoc m:val="subSup"/>
                          <m:ctrlPr>
                            <a:rPr lang="en-AU" sz="2000" b="0" i="1">
                              <a:latin typeface="Cambria Math" panose="02040503050406030204" pitchFamily="18" charset="0"/>
                            </a:rPr>
                          </m:ctrlPr>
                        </m:naryPr>
                        <m:sub>
                          <m:sSub>
                            <m:sSubPr>
                              <m:ctrlPr>
                                <a:rPr lang="en-AU" sz="2000" b="0" i="1">
                                  <a:latin typeface="Cambria Math" panose="02040503050406030204" pitchFamily="18" charset="0"/>
                                </a:rPr>
                              </m:ctrlPr>
                            </m:sSubPr>
                            <m:e>
                              <m:r>
                                <a:rPr lang="en-AU" sz="2000" b="0" i="1">
                                  <a:latin typeface="Cambria Math" panose="02040503050406030204" pitchFamily="18" charset="0"/>
                                </a:rPr>
                                <m:t>𝑡</m:t>
                              </m:r>
                            </m:e>
                            <m:sub>
                              <m:r>
                                <a:rPr lang="en-AU" sz="2000" b="0" i="0">
                                  <a:latin typeface="Cambria Math" panose="02040503050406030204" pitchFamily="18" charset="0"/>
                                </a:rPr>
                                <m:t>1</m:t>
                              </m:r>
                            </m:sub>
                          </m:sSub>
                        </m:sub>
                        <m:sup>
                          <m:sSub>
                            <m:sSubPr>
                              <m:ctrlPr>
                                <a:rPr lang="en-AU" sz="2000" b="0" i="1">
                                  <a:latin typeface="Cambria Math" panose="02040503050406030204" pitchFamily="18" charset="0"/>
                                </a:rPr>
                              </m:ctrlPr>
                            </m:sSubPr>
                            <m:e>
                              <m:r>
                                <a:rPr lang="en-AU" sz="2000" b="0" i="1">
                                  <a:latin typeface="Cambria Math" panose="02040503050406030204" pitchFamily="18" charset="0"/>
                                </a:rPr>
                                <m:t>𝑡</m:t>
                              </m:r>
                            </m:e>
                            <m:sub>
                              <m:r>
                                <a:rPr lang="en-AU" sz="2000" b="0" i="0">
                                  <a:latin typeface="Cambria Math" panose="02040503050406030204" pitchFamily="18" charset="0"/>
                                </a:rPr>
                                <m:t>2</m:t>
                              </m:r>
                            </m:sub>
                          </m:sSub>
                        </m:sup>
                        <m:e>
                          <m:acc>
                            <m:accPr>
                              <m:chr m:val="̇"/>
                              <m:ctrlPr>
                                <a:rPr lang="en-AU" sz="2000" b="0" i="1">
                                  <a:latin typeface="Cambria Math" panose="02040503050406030204" pitchFamily="18" charset="0"/>
                                </a:rPr>
                              </m:ctrlPr>
                            </m:accPr>
                            <m:e>
                              <m:r>
                                <a:rPr lang="en-AU" sz="2000" b="0" i="1">
                                  <a:latin typeface="Cambria Math" panose="02040503050406030204" pitchFamily="18" charset="0"/>
                                </a:rPr>
                                <m:t>𝑄</m:t>
                              </m:r>
                            </m:e>
                          </m:acc>
                          <m:r>
                            <a:rPr lang="en-AU" sz="2000" b="0" i="1">
                              <a:latin typeface="Cambria Math" panose="02040503050406030204" pitchFamily="18" charset="0"/>
                            </a:rPr>
                            <m:t>𝑑𝑡</m:t>
                          </m:r>
                        </m:e>
                      </m:nary>
                      <m:r>
                        <a:rPr lang="en-AU" sz="2000" b="0" i="1">
                          <a:latin typeface="Cambria Math" panose="02040503050406030204" pitchFamily="18" charset="0"/>
                        </a:rPr>
                        <m:t>=</m:t>
                      </m:r>
                      <m:acc>
                        <m:accPr>
                          <m:chr m:val="̇"/>
                          <m:ctrlPr>
                            <a:rPr lang="en-AU" sz="2000" b="0" i="1">
                              <a:latin typeface="Cambria Math" panose="02040503050406030204" pitchFamily="18" charset="0"/>
                            </a:rPr>
                          </m:ctrlPr>
                        </m:accPr>
                        <m:e>
                          <m:r>
                            <a:rPr lang="en-AU" sz="2000" b="0" i="1">
                              <a:latin typeface="Cambria Math" panose="02040503050406030204" pitchFamily="18" charset="0"/>
                            </a:rPr>
                            <m:t>𝑄</m:t>
                          </m:r>
                        </m:e>
                      </m:acc>
                      <m:r>
                        <a:rPr lang="en-AU" sz="2000" b="0" i="1">
                          <a:latin typeface="Cambria Math" panose="02040503050406030204" pitchFamily="18" charset="0"/>
                        </a:rPr>
                        <m:t>𝑡</m:t>
                      </m:r>
                    </m:oMath>
                  </m:oMathPara>
                </a14:m>
                <a:endParaRPr lang="en-AU" sz="2000"/>
              </a:p>
            </p:txBody>
          </p:sp>
        </mc:Choice>
        <mc:Fallback xmlns="">
          <p:sp>
            <p:nvSpPr>
              <p:cNvPr id="27" name="Equations 6 to 8">
                <a:extLst>
                  <a:ext uri="{FF2B5EF4-FFF2-40B4-BE49-F238E27FC236}">
                    <a16:creationId xmlns:a16="http://schemas.microsoft.com/office/drawing/2014/main" id="{386897B8-2266-4207-744E-B9EF7DCA364F}"/>
                  </a:ext>
                </a:extLst>
              </p:cNvPr>
              <p:cNvSpPr txBox="1">
                <a:spLocks noRot="1" noChangeAspect="1" noMove="1" noResize="1" noEditPoints="1" noAdjustHandles="1" noChangeArrowheads="1" noChangeShapeType="1" noTextEdit="1"/>
              </p:cNvSpPr>
              <p:nvPr/>
            </p:nvSpPr>
            <p:spPr>
              <a:xfrm>
                <a:off x="838200" y="3388363"/>
                <a:ext cx="6492240" cy="2834640"/>
              </a:xfrm>
              <a:prstGeom prst="rect">
                <a:avLst/>
              </a:prstGeom>
              <a:blipFill>
                <a:blip r:embed="rId3"/>
                <a:stretch>
                  <a:fillRect l="-282"/>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4C94197A-0FA4-102C-6E40-79C32444DDA8}"/>
              </a:ext>
            </a:extLst>
          </p:cNvPr>
          <p:cNvSpPr txBox="1"/>
          <p:nvPr/>
        </p:nvSpPr>
        <p:spPr>
          <a:xfrm>
            <a:off x="7473950" y="3429000"/>
            <a:ext cx="4038346" cy="1384995"/>
          </a:xfrm>
          <a:prstGeom prst="rect">
            <a:avLst/>
          </a:prstGeom>
          <a:noFill/>
        </p:spPr>
        <p:txBody>
          <a:bodyPr wrap="square" rtlCol="0">
            <a:spAutoFit/>
          </a:bodyPr>
          <a:lstStyle/>
          <a:p>
            <a:r>
              <a:rPr lang="en-US" sz="1400">
                <a:solidFill>
                  <a:schemeClr val="tx2"/>
                </a:solidFill>
              </a:rPr>
              <a:t>The lower zone air is a weighted average, so it must lie between </a:t>
            </a:r>
            <a:r>
              <a:rPr lang="en-AU" sz="1400">
                <a:solidFill>
                  <a:schemeClr val="tx2"/>
                </a:solidFill>
              </a:rPr>
              <a:t>−4 °C and 10 °C.</a:t>
            </a:r>
          </a:p>
          <a:p>
            <a:endParaRPr lang="en-AU" sz="1400">
              <a:solidFill>
                <a:schemeClr val="tx2"/>
              </a:solidFill>
            </a:endParaRPr>
          </a:p>
          <a:p>
            <a:r>
              <a:rPr lang="en-AU" sz="1400">
                <a:solidFill>
                  <a:schemeClr val="tx2"/>
                </a:solidFill>
              </a:rPr>
              <a:t>In (6), the ice load depends only on temperature differences from the ice, so the outdoor condition never reach it. </a:t>
            </a:r>
          </a:p>
        </p:txBody>
      </p:sp>
    </p:spTree>
    <p:extLst>
      <p:ext uri="{BB962C8B-B14F-4D97-AF65-F5344CB8AC3E}">
        <p14:creationId xmlns:p14="http://schemas.microsoft.com/office/powerpoint/2010/main" val="3189560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0C5D0-0428-9C8C-73E7-EAA0A5FDED65}"/>
              </a:ext>
            </a:extLst>
          </p:cNvPr>
          <p:cNvSpPr>
            <a:spLocks noGrp="1"/>
          </p:cNvSpPr>
          <p:nvPr>
            <p:ph type="title"/>
          </p:nvPr>
        </p:nvSpPr>
        <p:spPr/>
        <p:txBody>
          <a:bodyPr/>
          <a:lstStyle/>
          <a:p>
            <a:r>
              <a:rPr lang="en-US">
                <a:ea typeface="+mj-lt"/>
                <a:cs typeface="+mj-lt"/>
              </a:rPr>
              <a:t>Results: Baseline loads</a:t>
            </a:r>
            <a:endParaRPr lang="en-US"/>
          </a:p>
        </p:txBody>
      </p:sp>
      <p:graphicFrame>
        <p:nvGraphicFramePr>
          <p:cNvPr id="7" name="Content Placeholder 6">
            <a:extLst>
              <a:ext uri="{FF2B5EF4-FFF2-40B4-BE49-F238E27FC236}">
                <a16:creationId xmlns:a16="http://schemas.microsoft.com/office/drawing/2014/main" id="{1AAD265E-B884-6246-5A66-058DAADD3282}"/>
              </a:ext>
            </a:extLst>
          </p:cNvPr>
          <p:cNvGraphicFramePr>
            <a:graphicFrameLocks noGrp="1"/>
          </p:cNvGraphicFramePr>
          <p:nvPr>
            <p:ph idx="1"/>
            <p:extLst>
              <p:ext uri="{D42A27DB-BD31-4B8C-83A1-F6EECF244321}">
                <p14:modId xmlns:p14="http://schemas.microsoft.com/office/powerpoint/2010/main" val="3859414111"/>
              </p:ext>
            </p:extLst>
          </p:nvPr>
        </p:nvGraphicFramePr>
        <p:xfrm>
          <a:off x="979552" y="2125958"/>
          <a:ext cx="6927850" cy="3933848"/>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a:extLst>
              <a:ext uri="{FF2B5EF4-FFF2-40B4-BE49-F238E27FC236}">
                <a16:creationId xmlns:a16="http://schemas.microsoft.com/office/drawing/2014/main" id="{EB371481-E1A9-2891-5184-594CC459FECC}"/>
              </a:ext>
            </a:extLst>
          </p:cNvPr>
          <p:cNvSpPr txBox="1"/>
          <p:nvPr/>
        </p:nvSpPr>
        <p:spPr>
          <a:xfrm>
            <a:off x="712788" y="5996011"/>
            <a:ext cx="6099174" cy="276999"/>
          </a:xfrm>
          <a:prstGeom prst="rect">
            <a:avLst/>
          </a:prstGeom>
          <a:noFill/>
        </p:spPr>
        <p:txBody>
          <a:bodyPr wrap="square">
            <a:spAutoFit/>
          </a:bodyPr>
          <a:lstStyle/>
          <a:p>
            <a:pPr algn="l"/>
            <a:r>
              <a:rPr lang="en-US" sz="1200" b="0" i="0">
                <a:solidFill>
                  <a:srgbClr val="3F4650"/>
                </a:solidFill>
              </a:rPr>
              <a:t>Figure 2. Thermal power against outdoor temperature, baseline inputs.</a:t>
            </a:r>
          </a:p>
        </p:txBody>
      </p:sp>
      <p:graphicFrame>
        <p:nvGraphicFramePr>
          <p:cNvPr id="14" name="Table 13">
            <a:extLst>
              <a:ext uri="{FF2B5EF4-FFF2-40B4-BE49-F238E27FC236}">
                <a16:creationId xmlns:a16="http://schemas.microsoft.com/office/drawing/2014/main" id="{E88168C8-084E-246F-0033-E7CC8F8942C1}"/>
              </a:ext>
            </a:extLst>
          </p:cNvPr>
          <p:cNvGraphicFramePr>
            <a:graphicFrameLocks noGrp="1"/>
          </p:cNvGraphicFramePr>
          <p:nvPr/>
        </p:nvGraphicFramePr>
        <p:xfrm>
          <a:off x="7772400" y="1965960"/>
          <a:ext cx="3584448" cy="161544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978408">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tblGrid>
              <a:tr h="365760">
                <a:tc>
                  <a:txBody>
                    <a:bodyPr/>
                    <a:lstStyle/>
                    <a:p>
                      <a:r>
                        <a:rPr sz="1400"/>
                        <a:t>Condition</a:t>
                      </a:r>
                    </a:p>
                  </a:txBody>
                  <a:tcPr marL="73152" marR="73152"/>
                </a:tc>
                <a:tc>
                  <a:txBody>
                    <a:bodyPr/>
                    <a:lstStyle/>
                    <a:p>
                      <a:r>
                        <a:rPr sz="1400"/>
                        <a:t>Outdoor (°C)</a:t>
                      </a:r>
                    </a:p>
                  </a:txBody>
                  <a:tcPr marL="73152" marR="73152"/>
                </a:tc>
                <a:tc>
                  <a:txBody>
                    <a:bodyPr/>
                    <a:lstStyle/>
                    <a:p>
                      <a:r>
                        <a:rPr sz="1400"/>
                        <a:t>Upper unit (kW)</a:t>
                      </a:r>
                    </a:p>
                  </a:txBody>
                  <a:tcPr marL="73152" marR="73152"/>
                </a:tc>
                <a:extLst>
                  <a:ext uri="{0D108BD9-81ED-4DB2-BD59-A6C34878D82A}">
                    <a16:rowId xmlns:a16="http://schemas.microsoft.com/office/drawing/2014/main" val="10000"/>
                  </a:ext>
                </a:extLst>
              </a:tr>
              <a:tr h="365760">
                <a:tc>
                  <a:txBody>
                    <a:bodyPr/>
                    <a:lstStyle/>
                    <a:p>
                      <a:r>
                        <a:rPr sz="1400"/>
                        <a:t>Summer day</a:t>
                      </a:r>
                    </a:p>
                  </a:txBody>
                  <a:tcPr marL="73152" marR="73152"/>
                </a:tc>
                <a:tc>
                  <a:txBody>
                    <a:bodyPr/>
                    <a:lstStyle/>
                    <a:p>
                      <a:r>
                        <a:rPr sz="1400"/>
                        <a:t>32.1</a:t>
                      </a:r>
                    </a:p>
                  </a:txBody>
                  <a:tcPr marL="73152" marR="73152"/>
                </a:tc>
                <a:tc>
                  <a:txBody>
                    <a:bodyPr/>
                    <a:lstStyle/>
                    <a:p>
                      <a:r>
                        <a:rPr sz="1400"/>
                        <a:t>−11.5 (cooling)</a:t>
                      </a:r>
                    </a:p>
                  </a:txBody>
                  <a:tcPr marL="73152" marR="73152"/>
                </a:tc>
                <a:extLst>
                  <a:ext uri="{0D108BD9-81ED-4DB2-BD59-A6C34878D82A}">
                    <a16:rowId xmlns:a16="http://schemas.microsoft.com/office/drawing/2014/main" val="10001"/>
                  </a:ext>
                </a:extLst>
              </a:tr>
              <a:tr h="365760">
                <a:tc>
                  <a:txBody>
                    <a:bodyPr/>
                    <a:lstStyle/>
                    <a:p>
                      <a:r>
                        <a:rPr sz="1400"/>
                        <a:t>Winter day</a:t>
                      </a:r>
                    </a:p>
                  </a:txBody>
                  <a:tcPr marL="73152" marR="73152"/>
                </a:tc>
                <a:tc>
                  <a:txBody>
                    <a:bodyPr/>
                    <a:lstStyle/>
                    <a:p>
                      <a:r>
                        <a:rPr sz="1400"/>
                        <a:t>18.0</a:t>
                      </a:r>
                    </a:p>
                  </a:txBody>
                  <a:tcPr marL="73152" marR="73152"/>
                </a:tc>
                <a:tc>
                  <a:txBody>
                    <a:bodyPr/>
                    <a:lstStyle/>
                    <a:p>
                      <a:r>
                        <a:rPr sz="1400"/>
                        <a:t>+28.8 (heating)</a:t>
                      </a:r>
                    </a:p>
                  </a:txBody>
                  <a:tcPr marL="73152" marR="73152"/>
                </a:tc>
                <a:extLst>
                  <a:ext uri="{0D108BD9-81ED-4DB2-BD59-A6C34878D82A}">
                    <a16:rowId xmlns:a16="http://schemas.microsoft.com/office/drawing/2014/main" val="10002"/>
                  </a:ext>
                </a:extLst>
              </a:tr>
              <a:tr h="365760">
                <a:tc>
                  <a:txBody>
                    <a:bodyPr/>
                    <a:lstStyle/>
                    <a:p>
                      <a:r>
                        <a:rPr sz="1400"/>
                        <a:t>Winter night</a:t>
                      </a:r>
                    </a:p>
                  </a:txBody>
                  <a:tcPr marL="73152" marR="73152"/>
                </a:tc>
                <a:tc>
                  <a:txBody>
                    <a:bodyPr/>
                    <a:lstStyle/>
                    <a:p>
                      <a:r>
                        <a:rPr sz="1400"/>
                        <a:t>8.1</a:t>
                      </a:r>
                    </a:p>
                  </a:txBody>
                  <a:tcPr marL="73152" marR="73152"/>
                </a:tc>
                <a:tc>
                  <a:txBody>
                    <a:bodyPr/>
                    <a:lstStyle/>
                    <a:p>
                      <a:r>
                        <a:rPr sz="1400"/>
                        <a:t>+57.0 (heating)</a:t>
                      </a:r>
                    </a:p>
                  </a:txBody>
                  <a:tcPr marL="73152" marR="73152"/>
                </a:tc>
                <a:extLst>
                  <a:ext uri="{0D108BD9-81ED-4DB2-BD59-A6C34878D82A}">
                    <a16:rowId xmlns:a16="http://schemas.microsoft.com/office/drawing/2014/main" val="10003"/>
                  </a:ext>
                </a:extLst>
              </a:tr>
            </a:tbl>
          </a:graphicData>
        </a:graphic>
      </p:graphicFrame>
      <p:sp>
        <p:nvSpPr>
          <p:cNvPr id="16" name="TextBox 15">
            <a:extLst>
              <a:ext uri="{FF2B5EF4-FFF2-40B4-BE49-F238E27FC236}">
                <a16:creationId xmlns:a16="http://schemas.microsoft.com/office/drawing/2014/main" id="{CF616632-3652-46BF-9580-4DDD2FDFD92A}"/>
              </a:ext>
            </a:extLst>
          </p:cNvPr>
          <p:cNvSpPr txBox="1"/>
          <p:nvPr/>
        </p:nvSpPr>
        <p:spPr>
          <a:xfrm>
            <a:off x="7748524" y="3581400"/>
            <a:ext cx="3584448" cy="292608"/>
          </a:xfrm>
          <a:prstGeom prst="rect">
            <a:avLst/>
          </a:prstGeom>
          <a:noFill/>
        </p:spPr>
        <p:txBody>
          <a:bodyPr wrap="square" lIns="109728" tIns="73152" rIns="109728" bIns="73152" anchor="t">
            <a:spAutoFit/>
          </a:bodyPr>
          <a:lstStyle/>
          <a:p>
            <a:pPr algn="l"/>
            <a:r>
              <a:rPr sz="1200" b="0" i="0">
                <a:solidFill>
                  <a:srgbClr val="3F4650"/>
                </a:solidFill>
              </a:rPr>
              <a:t>Table 4. Baseline results.</a:t>
            </a:r>
          </a:p>
        </p:txBody>
      </p:sp>
      <p:sp>
        <p:nvSpPr>
          <p:cNvPr id="17" name="TextBox 16">
            <a:extLst>
              <a:ext uri="{FF2B5EF4-FFF2-40B4-BE49-F238E27FC236}">
                <a16:creationId xmlns:a16="http://schemas.microsoft.com/office/drawing/2014/main" id="{B050912A-D429-CF07-908A-7EC107E63334}"/>
              </a:ext>
            </a:extLst>
          </p:cNvPr>
          <p:cNvSpPr txBox="1"/>
          <p:nvPr/>
        </p:nvSpPr>
        <p:spPr>
          <a:xfrm>
            <a:off x="7748524" y="3962400"/>
            <a:ext cx="3892550" cy="646331"/>
          </a:xfrm>
          <a:prstGeom prst="rect">
            <a:avLst/>
          </a:prstGeom>
          <a:noFill/>
        </p:spPr>
        <p:txBody>
          <a:bodyPr wrap="square" rtlCol="0">
            <a:spAutoFit/>
          </a:bodyPr>
          <a:lstStyle/>
          <a:p>
            <a:r>
              <a:rPr lang="en-US" b="1">
                <a:solidFill>
                  <a:schemeClr val="tx2"/>
                </a:solidFill>
              </a:rPr>
              <a:t>Implication: </a:t>
            </a:r>
            <a:r>
              <a:rPr lang="en-US">
                <a:solidFill>
                  <a:schemeClr val="tx2"/>
                </a:solidFill>
              </a:rPr>
              <a:t>a heating only could not hold 10 °C on hot Perth days.</a:t>
            </a:r>
            <a:endParaRPr lang="en-AU">
              <a:solidFill>
                <a:schemeClr val="tx2"/>
              </a:solidFill>
            </a:endParaRPr>
          </a:p>
        </p:txBody>
      </p:sp>
    </p:spTree>
    <p:extLst>
      <p:ext uri="{BB962C8B-B14F-4D97-AF65-F5344CB8AC3E}">
        <p14:creationId xmlns:p14="http://schemas.microsoft.com/office/powerpoint/2010/main" val="2741771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7632C-8C9D-F618-BDAF-C43508283496}"/>
              </a:ext>
            </a:extLst>
          </p:cNvPr>
          <p:cNvSpPr>
            <a:spLocks noGrp="1"/>
          </p:cNvSpPr>
          <p:nvPr>
            <p:ph type="title"/>
          </p:nvPr>
        </p:nvSpPr>
        <p:spPr/>
        <p:txBody>
          <a:bodyPr/>
          <a:lstStyle/>
          <a:p>
            <a:r>
              <a:rPr lang="en-US"/>
              <a:t>Result: Normalized sensitivity</a:t>
            </a:r>
            <a:endParaRPr lang="en-AU"/>
          </a:p>
        </p:txBody>
      </p:sp>
      <p:sp>
        <p:nvSpPr>
          <p:cNvPr id="4" name="Date Placeholder 3">
            <a:extLst>
              <a:ext uri="{FF2B5EF4-FFF2-40B4-BE49-F238E27FC236}">
                <a16:creationId xmlns:a16="http://schemas.microsoft.com/office/drawing/2014/main" id="{A360FC5C-BF7F-D630-76BF-59E4EFC91A95}"/>
              </a:ext>
            </a:extLst>
          </p:cNvPr>
          <p:cNvSpPr>
            <a:spLocks noGrp="1"/>
          </p:cNvSpPr>
          <p:nvPr>
            <p:ph type="dt" sz="half" idx="10"/>
          </p:nvPr>
        </p:nvSpPr>
        <p:spPr/>
        <p:txBody>
          <a:bodyPr/>
          <a:lstStyle/>
          <a:p>
            <a:fld id="{8F8E040B-1B5A-48D1-A316-AB8CE9630D7A}" type="datetime1">
              <a:rPr lang="en-US" smtClean="0"/>
              <a:t>10/22/2026</a:t>
            </a:fld>
            <a:endParaRPr lang="en-US"/>
          </a:p>
        </p:txBody>
      </p:sp>
      <p:sp>
        <p:nvSpPr>
          <p:cNvPr id="6" name="Slide Number Placeholder 5">
            <a:extLst>
              <a:ext uri="{FF2B5EF4-FFF2-40B4-BE49-F238E27FC236}">
                <a16:creationId xmlns:a16="http://schemas.microsoft.com/office/drawing/2014/main" id="{234125DA-0E49-8545-2606-7341D45CAF01}"/>
              </a:ext>
            </a:extLst>
          </p:cNvPr>
          <p:cNvSpPr>
            <a:spLocks noGrp="1"/>
          </p:cNvSpPr>
          <p:nvPr>
            <p:ph type="sldNum" sz="quarter" idx="12"/>
          </p:nvPr>
        </p:nvSpPr>
        <p:spPr/>
        <p:txBody>
          <a:bodyPr/>
          <a:lstStyle/>
          <a:p>
            <a:fld id="{4FAB73BC-B049-4115-A692-8D63A059BFB8}" type="slidenum">
              <a:rPr lang="en-US" smtClean="0"/>
              <a:t>10</a:t>
            </a:fld>
            <a:endParaRPr lang="en-US"/>
          </a:p>
        </p:txBody>
      </p:sp>
      <p:graphicFrame>
        <p:nvGraphicFramePr>
          <p:cNvPr id="8" name="Content Placeholder 7">
            <a:extLst>
              <a:ext uri="{FF2B5EF4-FFF2-40B4-BE49-F238E27FC236}">
                <a16:creationId xmlns:a16="http://schemas.microsoft.com/office/drawing/2014/main" id="{FC207355-6CD2-7D54-E981-D154DFD12D8D}"/>
              </a:ext>
            </a:extLst>
          </p:cNvPr>
          <p:cNvGraphicFramePr>
            <a:graphicFrameLocks noGrp="1"/>
          </p:cNvGraphicFramePr>
          <p:nvPr>
            <p:ph idx="1"/>
            <p:extLst>
              <p:ext uri="{D42A27DB-BD31-4B8C-83A1-F6EECF244321}">
                <p14:modId xmlns:p14="http://schemas.microsoft.com/office/powerpoint/2010/main" val="3677256249"/>
              </p:ext>
            </p:extLst>
          </p:nvPr>
        </p:nvGraphicFramePr>
        <p:xfrm>
          <a:off x="838200" y="2062163"/>
          <a:ext cx="654685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a:extLst>
              <a:ext uri="{FF2B5EF4-FFF2-40B4-BE49-F238E27FC236}">
                <a16:creationId xmlns:a16="http://schemas.microsoft.com/office/drawing/2014/main" id="{EFEE544D-BF70-72C3-4BED-9C24A484D8AF}"/>
              </a:ext>
            </a:extLst>
          </p:cNvPr>
          <p:cNvSpPr txBox="1"/>
          <p:nvPr/>
        </p:nvSpPr>
        <p:spPr>
          <a:xfrm>
            <a:off x="838200" y="6090130"/>
            <a:ext cx="6400800" cy="332399"/>
          </a:xfrm>
          <a:prstGeom prst="rect">
            <a:avLst/>
          </a:prstGeom>
          <a:noFill/>
        </p:spPr>
        <p:txBody>
          <a:bodyPr wrap="square" lIns="109728" tIns="73152" rIns="109728" bIns="73152" anchor="t">
            <a:spAutoFit/>
          </a:bodyPr>
          <a:lstStyle/>
          <a:p>
            <a:pPr algn="l"/>
            <a:r>
              <a:rPr sz="1200" b="0" i="0">
                <a:solidFill>
                  <a:srgbClr val="3F4650"/>
                </a:solidFill>
              </a:rPr>
              <a:t>Figure 3. Normali</a:t>
            </a:r>
            <a:r>
              <a:rPr lang="en-US" sz="1200" b="0" i="0">
                <a:solidFill>
                  <a:srgbClr val="3F4650"/>
                </a:solidFill>
              </a:rPr>
              <a:t>z</a:t>
            </a:r>
            <a:r>
              <a:rPr sz="1200" b="0" i="0">
                <a:solidFill>
                  <a:srgbClr val="3F4650"/>
                </a:solidFill>
              </a:rPr>
              <a:t>ed sensitivity S of the ice cooling power.</a:t>
            </a:r>
          </a:p>
        </p:txBody>
      </p:sp>
      <mc:AlternateContent xmlns:mc="http://schemas.openxmlformats.org/markup-compatibility/2006" xmlns:a14="http://schemas.microsoft.com/office/drawing/2010/main">
        <mc:Choice Requires="a14">
          <p:sp>
            <p:nvSpPr>
              <p:cNvPr id="18" name="Equation 9">
                <a:extLst>
                  <a:ext uri="{FF2B5EF4-FFF2-40B4-BE49-F238E27FC236}">
                    <a16:creationId xmlns:a16="http://schemas.microsoft.com/office/drawing/2014/main" id="{546642B4-7F57-1BC6-638E-838C6F8CD1C0}"/>
                  </a:ext>
                </a:extLst>
              </p:cNvPr>
              <p:cNvSpPr txBox="1"/>
              <p:nvPr/>
            </p:nvSpPr>
            <p:spPr>
              <a:xfrm>
                <a:off x="7498079" y="1920240"/>
                <a:ext cx="3858768" cy="1013547"/>
              </a:xfrm>
              <a:prstGeom prst="rect">
                <a:avLst/>
              </a:prstGeom>
              <a:noFill/>
            </p:spPr>
            <p:txBody>
              <a:bodyPr wrap="square" rtlCol="0">
                <a:spAutoFit/>
              </a:bodyPr>
              <a:lstStyle/>
              <a:p>
                <a:pPr>
                  <a:buNone/>
                </a:pPr>
                <a:r>
                  <a:rPr lang="en-AU" sz="1400" b="1">
                    <a:solidFill>
                      <a:schemeClr val="tx2"/>
                    </a:solidFill>
                  </a:rPr>
                  <a:t>Each input raised by 1%, the others fixed</a:t>
                </a:r>
              </a:p>
              <a:p>
                <a:pPr>
                  <a:spcBef>
                    <a:spcPts val="400"/>
                  </a:spcBef>
                </a:pPr>
                <a14:m>
                  <m:oMathPara xmlns:m="http://schemas.openxmlformats.org/officeDocument/2006/math">
                    <m:oMathParaPr>
                      <m:jc m:val="left"/>
                    </m:oMathParaPr>
                    <m:oMath>
                      <m:sSub>
                        <m:sSubPr>
                          <m:ctrlPr>
                            <a:rPr lang="en-AU" sz="2000" b="0" i="1">
                              <a:latin typeface="Cambria Math" panose="02040503050406030204" pitchFamily="18" charset="0"/>
                            </a:rPr>
                          </m:ctrlPr>
                        </m:sSubPr>
                        <m:e>
                          <m:r>
                            <a:rPr lang="en-AU" sz="2000" b="0" i="1">
                              <a:latin typeface="Cambria Math" panose="02040503050406030204" pitchFamily="18" charset="0"/>
                            </a:rPr>
                            <m:t>𝑆</m:t>
                          </m:r>
                        </m:e>
                        <m:sub>
                          <m:r>
                            <a:rPr lang="en-AU" sz="2000" b="0" i="1">
                              <a:latin typeface="Cambria Math" panose="02040503050406030204" pitchFamily="18" charset="0"/>
                            </a:rPr>
                            <m:t>𝑥</m:t>
                          </m:r>
                        </m:sub>
                      </m:sSub>
                      <m:r>
                        <a:rPr lang="en-AU" sz="2000" b="0" i="1">
                          <a:latin typeface="Cambria Math" panose="02040503050406030204" pitchFamily="18" charset="0"/>
                        </a:rPr>
                        <m:t>=</m:t>
                      </m:r>
                      <m:f>
                        <m:fPr>
                          <m:ctrlPr>
                            <a:rPr lang="en-AU" sz="2000" b="0" i="1">
                              <a:latin typeface="Cambria Math" panose="02040503050406030204" pitchFamily="18" charset="0"/>
                            </a:rPr>
                          </m:ctrlPr>
                        </m:fPr>
                        <m:num>
                          <m:sSub>
                            <m:sSubPr>
                              <m:ctrlPr>
                                <a:rPr lang="en-AU" sz="2000" b="0" i="1">
                                  <a:latin typeface="Cambria Math" panose="02040503050406030204" pitchFamily="18" charset="0"/>
                                </a:rPr>
                              </m:ctrlPr>
                            </m:sSubPr>
                            <m:e>
                              <m:acc>
                                <m:accPr>
                                  <m:chr m:val="̇"/>
                                  <m:ctrlPr>
                                    <a:rPr lang="en-AU" sz="2000" b="0" i="1">
                                      <a:latin typeface="Cambria Math" panose="02040503050406030204" pitchFamily="18" charset="0"/>
                                    </a:rPr>
                                  </m:ctrlPr>
                                </m:accPr>
                                <m:e>
                                  <m:r>
                                    <a:rPr lang="en-AU" sz="2000" b="0" i="1">
                                      <a:latin typeface="Cambria Math" panose="02040503050406030204" pitchFamily="18" charset="0"/>
                                    </a:rPr>
                                    <m:t>𝑄</m:t>
                                  </m:r>
                                </m:e>
                              </m:acc>
                            </m:e>
                            <m:sub>
                              <m:r>
                                <a:rPr lang="en-AU" sz="2000" b="0" i="1">
                                  <a:latin typeface="Cambria Math" panose="02040503050406030204" pitchFamily="18" charset="0"/>
                                </a:rPr>
                                <m:t>𝐶</m:t>
                              </m:r>
                            </m:sub>
                          </m:sSub>
                          <m:r>
                            <a:rPr lang="en-AU" sz="2000" b="0" i="1">
                              <a:latin typeface="Cambria Math" panose="02040503050406030204" pitchFamily="18" charset="0"/>
                            </a:rPr>
                            <m:t>(</m:t>
                          </m:r>
                          <m:r>
                            <a:rPr lang="en-AU" sz="2000" b="0" i="0">
                              <a:latin typeface="Cambria Math" panose="02040503050406030204" pitchFamily="18" charset="0"/>
                            </a:rPr>
                            <m:t>1.01</m:t>
                          </m:r>
                          <m:r>
                            <a:rPr lang="en-AU" sz="2000" b="0" i="1">
                              <a:latin typeface="Cambria Math" panose="02040503050406030204" pitchFamily="18" charset="0"/>
                            </a:rPr>
                            <m:t>𝑥</m:t>
                          </m:r>
                          <m:r>
                            <a:rPr lang="en-AU" sz="2000" b="0" i="1">
                              <a:latin typeface="Cambria Math" panose="02040503050406030204" pitchFamily="18" charset="0"/>
                            </a:rPr>
                            <m:t>)−</m:t>
                          </m:r>
                          <m:sSub>
                            <m:sSubPr>
                              <m:ctrlPr>
                                <a:rPr lang="en-AU" sz="2000" b="0" i="1">
                                  <a:latin typeface="Cambria Math" panose="02040503050406030204" pitchFamily="18" charset="0"/>
                                </a:rPr>
                              </m:ctrlPr>
                            </m:sSubPr>
                            <m:e>
                              <m:acc>
                                <m:accPr>
                                  <m:chr m:val="̇"/>
                                  <m:ctrlPr>
                                    <a:rPr lang="en-AU" sz="2000" b="0" i="1">
                                      <a:latin typeface="Cambria Math" panose="02040503050406030204" pitchFamily="18" charset="0"/>
                                    </a:rPr>
                                  </m:ctrlPr>
                                </m:accPr>
                                <m:e>
                                  <m:r>
                                    <a:rPr lang="en-AU" sz="2000" b="0" i="1">
                                      <a:latin typeface="Cambria Math" panose="02040503050406030204" pitchFamily="18" charset="0"/>
                                    </a:rPr>
                                    <m:t>𝑄</m:t>
                                  </m:r>
                                </m:e>
                              </m:acc>
                            </m:e>
                            <m:sub>
                              <m:r>
                                <a:rPr lang="en-AU" sz="2000" b="0" i="1">
                                  <a:latin typeface="Cambria Math" panose="02040503050406030204" pitchFamily="18" charset="0"/>
                                </a:rPr>
                                <m:t>𝐶</m:t>
                              </m:r>
                            </m:sub>
                          </m:sSub>
                          <m:r>
                            <a:rPr lang="en-AU" sz="2000" b="0" i="1">
                              <a:latin typeface="Cambria Math" panose="02040503050406030204" pitchFamily="18" charset="0"/>
                            </a:rPr>
                            <m:t>(</m:t>
                          </m:r>
                          <m:r>
                            <a:rPr lang="en-AU" sz="2000" b="0" i="1">
                              <a:latin typeface="Cambria Math" panose="02040503050406030204" pitchFamily="18" charset="0"/>
                            </a:rPr>
                            <m:t>𝑥</m:t>
                          </m:r>
                          <m:r>
                            <a:rPr lang="en-AU" sz="2000" b="0" i="1">
                              <a:latin typeface="Cambria Math" panose="02040503050406030204" pitchFamily="18" charset="0"/>
                            </a:rPr>
                            <m:t>)</m:t>
                          </m:r>
                        </m:num>
                        <m:den>
                          <m:r>
                            <a:rPr lang="en-AU" sz="2000" b="0" i="0">
                              <a:latin typeface="Cambria Math" panose="02040503050406030204" pitchFamily="18" charset="0"/>
                            </a:rPr>
                            <m:t>0.01</m:t>
                          </m:r>
                          <m:sSub>
                            <m:sSubPr>
                              <m:ctrlPr>
                                <a:rPr lang="en-AU" sz="2000" b="0" i="1">
                                  <a:latin typeface="Cambria Math" panose="02040503050406030204" pitchFamily="18" charset="0"/>
                                </a:rPr>
                              </m:ctrlPr>
                            </m:sSubPr>
                            <m:e>
                              <m:acc>
                                <m:accPr>
                                  <m:chr m:val="̇"/>
                                  <m:ctrlPr>
                                    <a:rPr lang="en-AU" sz="2000" b="0" i="1">
                                      <a:latin typeface="Cambria Math" panose="02040503050406030204" pitchFamily="18" charset="0"/>
                                    </a:rPr>
                                  </m:ctrlPr>
                                </m:accPr>
                                <m:e>
                                  <m:r>
                                    <a:rPr lang="en-AU" sz="2000" b="0" i="1">
                                      <a:latin typeface="Cambria Math" panose="02040503050406030204" pitchFamily="18" charset="0"/>
                                    </a:rPr>
                                    <m:t>𝑄</m:t>
                                  </m:r>
                                </m:e>
                              </m:acc>
                            </m:e>
                            <m:sub>
                              <m:r>
                                <a:rPr lang="en-AU" sz="2000" b="0" i="1">
                                  <a:latin typeface="Cambria Math" panose="02040503050406030204" pitchFamily="18" charset="0"/>
                                </a:rPr>
                                <m:t>𝐶</m:t>
                              </m:r>
                            </m:sub>
                          </m:sSub>
                          <m:r>
                            <a:rPr lang="en-AU" sz="2000" b="0" i="1">
                              <a:latin typeface="Cambria Math" panose="02040503050406030204" pitchFamily="18" charset="0"/>
                            </a:rPr>
                            <m:t>(</m:t>
                          </m:r>
                          <m:r>
                            <a:rPr lang="en-AU" sz="2000" b="0" i="1">
                              <a:latin typeface="Cambria Math" panose="02040503050406030204" pitchFamily="18" charset="0"/>
                            </a:rPr>
                            <m:t>𝑥</m:t>
                          </m:r>
                          <m:r>
                            <a:rPr lang="en-AU" sz="2000" b="0" i="1">
                              <a:latin typeface="Cambria Math" panose="02040503050406030204" pitchFamily="18" charset="0"/>
                            </a:rPr>
                            <m:t>)</m:t>
                          </m:r>
                        </m:den>
                      </m:f>
                    </m:oMath>
                  </m:oMathPara>
                </a14:m>
                <a:endParaRPr lang="en-AU" sz="2000"/>
              </a:p>
            </p:txBody>
          </p:sp>
        </mc:Choice>
        <mc:Fallback xmlns="">
          <p:sp>
            <p:nvSpPr>
              <p:cNvPr id="18" name="Equation 9">
                <a:extLst>
                  <a:ext uri="{FF2B5EF4-FFF2-40B4-BE49-F238E27FC236}">
                    <a16:creationId xmlns:a16="http://schemas.microsoft.com/office/drawing/2014/main" id="{546642B4-7F57-1BC6-638E-838C6F8CD1C0}"/>
                  </a:ext>
                </a:extLst>
              </p:cNvPr>
              <p:cNvSpPr txBox="1">
                <a:spLocks noRot="1" noChangeAspect="1" noMove="1" noResize="1" noEditPoints="1" noAdjustHandles="1" noChangeArrowheads="1" noChangeShapeType="1" noTextEdit="1"/>
              </p:cNvSpPr>
              <p:nvPr/>
            </p:nvSpPr>
            <p:spPr>
              <a:xfrm>
                <a:off x="7498079" y="1920240"/>
                <a:ext cx="3858768" cy="1013547"/>
              </a:xfrm>
              <a:prstGeom prst="rect">
                <a:avLst/>
              </a:prstGeom>
              <a:blipFill>
                <a:blip r:embed="rId4"/>
                <a:stretch>
                  <a:fillRect l="-474" t="-1205"/>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EC4BDB56-DDC4-FC70-E925-4965F76B6982}"/>
              </a:ext>
            </a:extLst>
          </p:cNvPr>
          <p:cNvSpPr txBox="1"/>
          <p:nvPr/>
        </p:nvSpPr>
        <p:spPr>
          <a:xfrm>
            <a:off x="7607300" y="3067050"/>
            <a:ext cx="4479616" cy="1579920"/>
          </a:xfrm>
          <a:prstGeom prst="rect">
            <a:avLst/>
          </a:prstGeom>
          <a:noFill/>
        </p:spPr>
        <p:txBody>
          <a:bodyPr wrap="square" rtlCol="0">
            <a:spAutoFit/>
          </a:bodyPr>
          <a:lstStyle/>
          <a:p>
            <a:r>
              <a:rPr lang="en-US" sz="1600" b="1">
                <a:solidFill>
                  <a:schemeClr val="tx2"/>
                </a:solidFill>
              </a:rPr>
              <a:t>One input at a time, in winter day </a:t>
            </a:r>
          </a:p>
          <a:p>
            <a:pPr>
              <a:spcBef>
                <a:spcPts val="400"/>
              </a:spcBef>
            </a:pPr>
            <a:r>
              <a:rPr lang="en-AU" sz="1400">
                <a:solidFill>
                  <a:srgbClr val="1F2328"/>
                </a:solidFill>
              </a:rPr>
              <a:t>Floor 8 → 18 °C: ice load 90.5 → 122.9 kW (33%); upper unit +40.3 → −17.4 kW.</a:t>
            </a:r>
          </a:p>
          <a:p>
            <a:pPr>
              <a:spcBef>
                <a:spcPts val="400"/>
              </a:spcBef>
            </a:pPr>
            <a:r>
              <a:rPr lang="en-AU" sz="1400">
                <a:solidFill>
                  <a:srgbClr val="1F2328"/>
                </a:solidFill>
              </a:rPr>
              <a:t>Envelope coefficient 0.27 → 0.91: ice load unchanged; upper unit 37.9 → 5.4 kW.</a:t>
            </a:r>
          </a:p>
          <a:p>
            <a:endParaRPr lang="en-AU"/>
          </a:p>
        </p:txBody>
      </p:sp>
      <p:sp>
        <p:nvSpPr>
          <p:cNvPr id="20" name="TextBox 19">
            <a:extLst>
              <a:ext uri="{FF2B5EF4-FFF2-40B4-BE49-F238E27FC236}">
                <a16:creationId xmlns:a16="http://schemas.microsoft.com/office/drawing/2014/main" id="{7B979118-7161-C011-753A-835671D7B3BB}"/>
              </a:ext>
            </a:extLst>
          </p:cNvPr>
          <p:cNvSpPr txBox="1"/>
          <p:nvPr/>
        </p:nvSpPr>
        <p:spPr>
          <a:xfrm>
            <a:off x="7607300" y="4407992"/>
            <a:ext cx="3536950" cy="923330"/>
          </a:xfrm>
          <a:prstGeom prst="rect">
            <a:avLst/>
          </a:prstGeom>
          <a:noFill/>
        </p:spPr>
        <p:txBody>
          <a:bodyPr wrap="square" rtlCol="0">
            <a:spAutoFit/>
          </a:bodyPr>
          <a:lstStyle/>
          <a:p>
            <a:r>
              <a:rPr lang="en-US" b="1"/>
              <a:t>Implication: </a:t>
            </a:r>
            <a:r>
              <a:rPr lang="en-US"/>
              <a:t>better data for the air ice coefficient and the floor matter the most </a:t>
            </a:r>
            <a:endParaRPr lang="en-AU"/>
          </a:p>
        </p:txBody>
      </p:sp>
    </p:spTree>
    <p:extLst>
      <p:ext uri="{BB962C8B-B14F-4D97-AF65-F5344CB8AC3E}">
        <p14:creationId xmlns:p14="http://schemas.microsoft.com/office/powerpoint/2010/main" val="4140851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EA14A-338A-1385-0CDD-58E2B590CE16}"/>
              </a:ext>
            </a:extLst>
          </p:cNvPr>
          <p:cNvSpPr>
            <a:spLocks noGrp="1"/>
          </p:cNvSpPr>
          <p:nvPr>
            <p:ph type="title"/>
          </p:nvPr>
        </p:nvSpPr>
        <p:spPr/>
        <p:txBody>
          <a:bodyPr/>
          <a:lstStyle/>
          <a:p>
            <a:r>
              <a:rPr lang="en-US">
                <a:ea typeface="+mj-lt"/>
                <a:cs typeface="+mj-lt"/>
              </a:rPr>
              <a:t>Discussion</a:t>
            </a: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607AE5F-5E36-9729-77FB-31C756A2A760}"/>
                  </a:ext>
                </a:extLst>
              </p:cNvPr>
              <p:cNvSpPr>
                <a:spLocks noGrp="1"/>
              </p:cNvSpPr>
              <p:nvPr>
                <p:ph idx="1"/>
              </p:nvPr>
            </p:nvSpPr>
            <p:spPr>
              <a:xfrm>
                <a:off x="838200" y="2061469"/>
                <a:ext cx="7448650" cy="4211541"/>
              </a:xfrm>
            </p:spPr>
            <p:txBody>
              <a:bodyPr>
                <a:normAutofit fontScale="62500" lnSpcReduction="20000"/>
              </a:bodyPr>
              <a:lstStyle/>
              <a:p>
                <a:r>
                  <a:rPr lang="en-AU"/>
                  <a:t>What our results show:</a:t>
                </a:r>
              </a:p>
              <a:p>
                <a:pPr marL="285750" indent="-285750">
                  <a:buFont typeface="Arial" panose="020B0604020202020204" pitchFamily="34" charset="0"/>
                  <a:buChar char="•"/>
                </a:pPr>
                <a:r>
                  <a:rPr lang="en-AU"/>
                  <a:t>Using the lumped two-zone steady-state energy model (Objective </a:t>
                </a:r>
                <a:r>
                  <a:rPr lang="en-US"/>
                  <a:t>, we were able to obtain closed-form solutions for TL</a:t>
                </a:r>
                <a:r>
                  <a:rPr lang="en-AU"/>
                  <a:t> obtain closed form solutions for TL </a:t>
                </a:r>
                <a14:m>
                  <m:oMath xmlns:m="http://schemas.openxmlformats.org/officeDocument/2006/math">
                    <m:r>
                      <a:rPr lang="en-AU" b="0" i="0" dirty="0" smtClean="0">
                        <a:latin typeface="Cambria Math" panose="02040503050406030204" pitchFamily="18" charset="0"/>
                      </a:rPr>
                      <m:t>, </m:t>
                    </m:r>
                    <m:acc>
                      <m:accPr>
                        <m:chr m:val="̇"/>
                        <m:ctrlPr>
                          <a:rPr lang="en-AU" b="0" i="1" dirty="0" smtClean="0">
                            <a:latin typeface="Cambria Math" panose="02040503050406030204" pitchFamily="18" charset="0"/>
                          </a:rPr>
                        </m:ctrlPr>
                      </m:accPr>
                      <m:e>
                        <m:r>
                          <a:rPr lang="en-AU" b="0" i="1" dirty="0" smtClean="0">
                            <a:latin typeface="Cambria Math" panose="02040503050406030204" pitchFamily="18" charset="0"/>
                          </a:rPr>
                          <m:t>𝑄𝑐</m:t>
                        </m:r>
                      </m:e>
                    </m:acc>
                    <m:r>
                      <a:rPr lang="en-AU" b="0" i="1" dirty="0" smtClean="0">
                        <a:latin typeface="Cambria Math" panose="02040503050406030204" pitchFamily="18" charset="0"/>
                      </a:rPr>
                      <m:t> </m:t>
                    </m:r>
                  </m:oMath>
                </a14:m>
                <a:r>
                  <a:rPr lang="en-AU"/>
                  <a:t>and </a:t>
                </a:r>
                <a14:m>
                  <m:oMath xmlns:m="http://schemas.openxmlformats.org/officeDocument/2006/math">
                    <m:acc>
                      <m:accPr>
                        <m:chr m:val="̇"/>
                        <m:ctrlPr>
                          <a:rPr lang="en-AU" b="0" i="1" smtClean="0">
                            <a:latin typeface="Cambria Math" panose="02040503050406030204" pitchFamily="18" charset="0"/>
                          </a:rPr>
                        </m:ctrlPr>
                      </m:accPr>
                      <m:e>
                        <m:r>
                          <a:rPr lang="en-AU" b="0" i="1" smtClean="0">
                            <a:latin typeface="Cambria Math" panose="02040503050406030204" pitchFamily="18" charset="0"/>
                          </a:rPr>
                          <m:t>𝑄</m:t>
                        </m:r>
                      </m:e>
                    </m:acc>
                  </m:oMath>
                </a14:m>
                <a:r>
                  <a:rPr lang="en-AU"/>
                  <a:t>u (Objective 3 ).</a:t>
                </a:r>
              </a:p>
              <a:p>
                <a:pPr marL="285750" indent="-285750">
                  <a:buFont typeface="Arial" panose="020B0604020202020204" pitchFamily="34" charset="0"/>
                  <a:buChar char="•"/>
                </a:pPr>
                <a:r>
                  <a:rPr lang="en-AU"/>
                  <a:t>We were able to model these over three different outdoor temperatures to determine the change in values. The ice load was 97.0 kW in all three conditions (97 kW, 2328kW over 24 hours)</a:t>
                </a:r>
              </a:p>
              <a:p>
                <a:pPr marL="285750" indent="-285750">
                  <a:buFont typeface="Arial" panose="020B0604020202020204" pitchFamily="34" charset="0"/>
                  <a:buChar char="•"/>
                </a:pPr>
                <a:r>
                  <a:rPr lang="en-AU"/>
                  <a:t>The upper reverse air-conditioning unit goes from -11.5kW ( 32.1 </a:t>
                </a:r>
                <a14:m>
                  <m:oMath xmlns:m="http://schemas.openxmlformats.org/officeDocument/2006/math">
                    <m:r>
                      <m:rPr>
                        <m:sty m:val="p"/>
                      </m:rPr>
                      <a:rPr lang="en-AU" i="1" smtClean="0">
                        <a:latin typeface="Cambria Math" panose="02040503050406030204" pitchFamily="18" charset="0"/>
                        <a:ea typeface="Cambria Math" panose="02040503050406030204" pitchFamily="18" charset="0"/>
                      </a:rPr>
                      <m:t>℃</m:t>
                    </m:r>
                  </m:oMath>
                </a14:m>
                <a:r>
                  <a:rPr lang="en-AU"/>
                  <a:t>, Cooling required) to +28.8 Kw (18 </a:t>
                </a:r>
                <a14:m>
                  <m:oMath xmlns:m="http://schemas.openxmlformats.org/officeDocument/2006/math">
                    <m:r>
                      <m:rPr>
                        <m:sty m:val="p"/>
                      </m:rPr>
                      <a:rPr lang="en-AU" i="1" smtClean="0">
                        <a:latin typeface="Cambria Math" panose="02040503050406030204" pitchFamily="18" charset="0"/>
                        <a:ea typeface="Cambria Math" panose="02040503050406030204" pitchFamily="18" charset="0"/>
                      </a:rPr>
                      <m:t>℃</m:t>
                    </m:r>
                    <m:r>
                      <a:rPr lang="en-AU" b="0" i="0" smtClean="0">
                        <a:latin typeface="Cambria Math" panose="02040503050406030204" pitchFamily="18" charset="0"/>
                        <a:ea typeface="Cambria Math" panose="02040503050406030204" pitchFamily="18" charset="0"/>
                      </a:rPr>
                      <m:t>,</m:t>
                    </m:r>
                  </m:oMath>
                </a14:m>
                <a:r>
                  <a:rPr lang="en-AU"/>
                  <a:t> heating required) and + 57kw (8.1</a:t>
                </a:r>
                <a14:m>
                  <m:oMath xmlns:m="http://schemas.openxmlformats.org/officeDocument/2006/math">
                    <m:r>
                      <m:rPr>
                        <m:sty m:val="p"/>
                      </m:rPr>
                      <a:rPr lang="en-AU"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 </m:t>
                    </m:r>
                  </m:oMath>
                </a14:m>
                <a:r>
                  <a:rPr lang="en-AU"/>
                  <a:t>, cooling required), the transformation from heating and cooling happens at 28.1 </a:t>
                </a:r>
                <a14:m>
                  <m:oMath xmlns:m="http://schemas.openxmlformats.org/officeDocument/2006/math">
                    <m:r>
                      <m:rPr>
                        <m:sty m:val="p"/>
                      </m:rPr>
                      <a:rPr lang="en-AU" i="1" smtClean="0">
                        <a:latin typeface="Cambria Math" panose="02040503050406030204" pitchFamily="18" charset="0"/>
                        <a:ea typeface="Cambria Math" panose="02040503050406030204" pitchFamily="18" charset="0"/>
                      </a:rPr>
                      <m:t>℃</m:t>
                    </m:r>
                  </m:oMath>
                </a14:m>
                <a:r>
                  <a:rPr lang="en-AU"/>
                  <a:t> above it we need to add cooling to the upper zone and below, we need to add heating (Objective 4)  </a:t>
                </a:r>
              </a:p>
              <a:p>
                <a:pPr marL="285750" indent="-285750">
                  <a:buFont typeface="Arial" panose="020B0604020202020204" pitchFamily="34" charset="0"/>
                  <a:buChar char="•"/>
                </a:pPr>
                <a:r>
                  <a:rPr lang="en-AU"/>
                  <a:t>The ice load ignores the weather because the lower zone only interacts with the upper zone</a:t>
                </a:r>
                <a:r>
                  <a:rPr lang="en-US"/>
                  <a:t> , which is fixed; we excluded the lower zone’s building envelope, hence it is not affected</a:t>
                </a:r>
                <a:r>
                  <a:rPr lang="en-AU"/>
                  <a:t> by outdoor environments.</a:t>
                </a:r>
              </a:p>
              <a:p>
                <a:r>
                  <a:rPr lang="en-AU"/>
                  <a:t>What matters the most (normalised sensitivity Objective 5) </a:t>
                </a:r>
              </a:p>
              <a:p>
                <a:pPr marL="285750" indent="-285750">
                  <a:buFont typeface="Arial" panose="020B0604020202020204" pitchFamily="34" charset="0"/>
                  <a:buChar char="•"/>
                </a:pPr>
                <a:r>
                  <a:rPr lang="en-AU"/>
                  <a:t>Air to Ice transfer coefficient has the highest sensitivity, followed by Upper Air Temperature and Floor temperature. </a:t>
                </a:r>
              </a:p>
              <a:p>
                <a:pPr marL="285750" indent="-285750">
                  <a:buFont typeface="Arial" panose="020B0604020202020204" pitchFamily="34" charset="0"/>
                  <a:buChar char="•"/>
                </a:pPr>
                <a:r>
                  <a:rPr lang="en-AU"/>
                  <a:t>Envelope coefficient is 0 due to the lower </a:t>
                </a:r>
                <a:r>
                  <a:rPr lang="en-US"/>
                  <a:t>zones building envelope being neglected in our assumptions,</a:t>
                </a:r>
                <a:r>
                  <a:rPr lang="en-AU"/>
                  <a:t> so the outdoor environment doesn’t affect the cooling for the lower portion. </a:t>
                </a:r>
              </a:p>
              <a:p>
                <a:r>
                  <a:rPr lang="en-AU"/>
                  <a:t>How does it compare with published data?</a:t>
                </a:r>
              </a:p>
              <a:p>
                <a:pPr marL="285750" indent="-285750">
                  <a:buFont typeface="Arial" panose="020B0604020202020204" pitchFamily="34" charset="0"/>
                  <a:buChar char="•"/>
                </a:pPr>
                <a:r>
                  <a:rPr lang="en-AU"/>
                  <a:t> 28.8% higher than the reference taken from Ferrantelli et al, and 38.4% below </a:t>
                </a:r>
                <a:r>
                  <a:rPr lang="en-AU" err="1"/>
                  <a:t>Karampour</a:t>
                </a:r>
                <a:r>
                  <a:rPr lang="en-AU"/>
                  <a:t>, Being in the middle of both, our model not overstating or understating our values compared to published figures and pending further published results could help to determine how correct our model is.</a:t>
                </a:r>
              </a:p>
              <a:p>
                <a:endParaRPr lang="en-AU"/>
              </a:p>
              <a:p>
                <a:pPr marL="285750" indent="-285750">
                  <a:buFont typeface="Arial" panose="020B0604020202020204" pitchFamily="34" charset="0"/>
                  <a:buChar char="•"/>
                </a:pPr>
                <a:endParaRPr lang="en-AU"/>
              </a:p>
              <a:p>
                <a:pPr marL="285750" indent="-285750">
                  <a:buFont typeface="Arial" panose="020B0604020202020204" pitchFamily="34" charset="0"/>
                  <a:buChar char="•"/>
                </a:pPr>
                <a:endParaRPr lang="en-AU"/>
              </a:p>
              <a:p>
                <a:endParaRPr lang="en-AU"/>
              </a:p>
              <a:p>
                <a:endParaRPr lang="en-AU"/>
              </a:p>
              <a:p>
                <a:endParaRPr lang="en-AU"/>
              </a:p>
              <a:p>
                <a:endParaRPr lang="en-AU"/>
              </a:p>
              <a:p>
                <a:endParaRPr lang="en-AU"/>
              </a:p>
              <a:p>
                <a:endParaRPr lang="en-US"/>
              </a:p>
            </p:txBody>
          </p:sp>
        </mc:Choice>
        <mc:Fallback xmlns="">
          <p:sp>
            <p:nvSpPr>
              <p:cNvPr id="3" name="Content Placeholder 2">
                <a:extLst>
                  <a:ext uri="{FF2B5EF4-FFF2-40B4-BE49-F238E27FC236}">
                    <a16:creationId xmlns:a16="http://schemas.microsoft.com/office/drawing/2014/main" id="{1607AE5F-5E36-9729-77FB-31C756A2A760}"/>
                  </a:ext>
                </a:extLst>
              </p:cNvPr>
              <p:cNvSpPr>
                <a:spLocks noGrp="1" noRot="1" noChangeAspect="1" noMove="1" noResize="1" noEditPoints="1" noAdjustHandles="1" noChangeArrowheads="1" noChangeShapeType="1" noTextEdit="1"/>
              </p:cNvSpPr>
              <p:nvPr>
                <p:ph idx="1"/>
              </p:nvPr>
            </p:nvSpPr>
            <p:spPr>
              <a:xfrm>
                <a:off x="838200" y="2061469"/>
                <a:ext cx="7448650" cy="4211541"/>
              </a:xfrm>
              <a:blipFill>
                <a:blip r:embed="rId3"/>
                <a:stretch>
                  <a:fillRect t="-43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98C00E60-0F28-CD57-0C67-FD54A1442A39}"/>
                  </a:ext>
                </a:extLst>
              </p:cNvPr>
              <p:cNvGraphicFramePr>
                <a:graphicFrameLocks noGrp="1"/>
              </p:cNvGraphicFramePr>
              <p:nvPr>
                <p:extLst>
                  <p:ext uri="{D42A27DB-BD31-4B8C-83A1-F6EECF244321}">
                    <p14:modId xmlns:p14="http://schemas.microsoft.com/office/powerpoint/2010/main" val="198912264"/>
                  </p:ext>
                </p:extLst>
              </p:nvPr>
            </p:nvGraphicFramePr>
            <p:xfrm>
              <a:off x="8286850" y="2612571"/>
              <a:ext cx="3905150" cy="3185352"/>
            </p:xfrm>
            <a:graphic>
              <a:graphicData uri="http://schemas.openxmlformats.org/drawingml/2006/table">
                <a:tbl>
                  <a:tblPr>
                    <a:tableStyleId>{5C22544A-7EE6-4342-B048-85BDC9FD1C3A}</a:tableStyleId>
                  </a:tblPr>
                  <a:tblGrid>
                    <a:gridCol w="781030">
                      <a:extLst>
                        <a:ext uri="{9D8B030D-6E8A-4147-A177-3AD203B41FA5}">
                          <a16:colId xmlns:a16="http://schemas.microsoft.com/office/drawing/2014/main" val="2627490768"/>
                        </a:ext>
                      </a:extLst>
                    </a:gridCol>
                    <a:gridCol w="781030">
                      <a:extLst>
                        <a:ext uri="{9D8B030D-6E8A-4147-A177-3AD203B41FA5}">
                          <a16:colId xmlns:a16="http://schemas.microsoft.com/office/drawing/2014/main" val="3047424496"/>
                        </a:ext>
                      </a:extLst>
                    </a:gridCol>
                    <a:gridCol w="781030">
                      <a:extLst>
                        <a:ext uri="{9D8B030D-6E8A-4147-A177-3AD203B41FA5}">
                          <a16:colId xmlns:a16="http://schemas.microsoft.com/office/drawing/2014/main" val="538720831"/>
                        </a:ext>
                      </a:extLst>
                    </a:gridCol>
                    <a:gridCol w="781030">
                      <a:extLst>
                        <a:ext uri="{9D8B030D-6E8A-4147-A177-3AD203B41FA5}">
                          <a16:colId xmlns:a16="http://schemas.microsoft.com/office/drawing/2014/main" val="322589934"/>
                        </a:ext>
                      </a:extLst>
                    </a:gridCol>
                    <a:gridCol w="781030">
                      <a:extLst>
                        <a:ext uri="{9D8B030D-6E8A-4147-A177-3AD203B41FA5}">
                          <a16:colId xmlns:a16="http://schemas.microsoft.com/office/drawing/2014/main" val="1773833354"/>
                        </a:ext>
                      </a:extLst>
                    </a:gridCol>
                  </a:tblGrid>
                  <a:tr h="1341312">
                    <a:tc>
                      <a:txBody>
                        <a:bodyPr/>
                        <a:lstStyle/>
                        <a:p>
                          <a:pPr marL="0" marR="0" indent="0" algn="ctr" rtl="0" fontAlgn="base">
                            <a:buNone/>
                          </a:pPr>
                          <a:r>
                            <a:rPr lang="en-AU" sz="1100">
                              <a:effectLst/>
                            </a:rPr>
                            <a:t>Reference </a:t>
                          </a:r>
                          <a:endParaRPr lang="en-AU" sz="900" b="0" i="0">
                            <a:solidFill>
                              <a:srgbClr val="000000"/>
                            </a:solidFill>
                            <a:effectLst/>
                            <a:latin typeface="Segoe UI" panose="020B0502040204020203" pitchFamily="34" charset="0"/>
                          </a:endParaRPr>
                        </a:p>
                      </a:txBody>
                      <a:tcPr/>
                    </a:tc>
                    <a:tc>
                      <a:txBody>
                        <a:bodyPr/>
                        <a:lstStyle/>
                        <a:p>
                          <a:pPr marL="0" marR="0" indent="0" algn="ctr" rtl="0" fontAlgn="base">
                            <a:buNone/>
                          </a:pPr>
                          <a:r>
                            <a:rPr lang="en-AU" sz="1100">
                              <a:effectLst/>
                            </a:rPr>
                            <a:t>Published Value </a:t>
                          </a:r>
                          <a:endParaRPr lang="en-AU" sz="900" b="0" i="0">
                            <a:solidFill>
                              <a:srgbClr val="000000"/>
                            </a:solidFill>
                            <a:effectLst/>
                            <a:latin typeface="Segoe UI" panose="020B0502040204020203" pitchFamily="34" charset="0"/>
                          </a:endParaRPr>
                        </a:p>
                      </a:txBody>
                      <a:tcPr/>
                    </a:tc>
                    <a:tc>
                      <a:txBody>
                        <a:bodyPr/>
                        <a:lstStyle/>
                        <a:p>
                          <a:pPr marL="0" marR="0" indent="0" algn="ctr" rtl="0" fontAlgn="base">
                            <a:buNone/>
                          </a:pPr>
                          <a:r>
                            <a:rPr lang="en-AU" sz="1100">
                              <a:effectLst/>
                            </a:rPr>
                            <a:t>Scaled to 1800 </a:t>
                          </a:r>
                        </a:p>
                        <a:p>
                          <a:pPr marL="0" marR="0" indent="0" algn="ctr" rtl="0" fontAlgn="base">
                            <a:buNone/>
                          </a:pPr>
                          <a14:m>
                            <m:oMathPara xmlns:m="http://schemas.openxmlformats.org/officeDocument/2006/math">
                              <m:oMath>
                                <m:sSup>
                                  <m:sSupPr>
                                    <m:ctrlPr>
                                      <a:rPr lang="en-US" sz="1200">
                                        <a:latin typeface="Cambria Math" panose="02040503050406030204" pitchFamily="18" charset="0"/>
                                      </a:rPr>
                                    </m:ctrlPr>
                                  </m:sSupPr>
                                  <m:e>
                                    <m:r>
                                      <a:rPr lang="en-US" sz="1200">
                                        <a:latin typeface="Cambria Math" panose="02040503050406030204" pitchFamily="18" charset="0"/>
                                      </a:rPr>
                                      <m:t>𝑚</m:t>
                                    </m:r>
                                  </m:e>
                                  <m:sup>
                                    <m:r>
                                      <a:rPr lang="en-US" sz="1200">
                                        <a:latin typeface="Cambria Math" panose="02040503050406030204" pitchFamily="18" charset="0"/>
                                      </a:rPr>
                                      <m:t>2</m:t>
                                    </m:r>
                                  </m:sup>
                                </m:sSup>
                                <m:d>
                                  <m:dPr>
                                    <m:ctrlPr>
                                      <a:rPr lang="en-US" sz="1200">
                                        <a:latin typeface="Cambria Math" panose="02040503050406030204" pitchFamily="18" charset="0"/>
                                      </a:rPr>
                                    </m:ctrlPr>
                                  </m:dPr>
                                  <m:e>
                                    <m:r>
                                      <a:rPr lang="en-US" sz="1200">
                                        <a:latin typeface="Cambria Math" panose="02040503050406030204" pitchFamily="18" charset="0"/>
                                      </a:rPr>
                                      <m:t>𝑘𝑊</m:t>
                                    </m:r>
                                  </m:e>
                                </m:d>
                              </m:oMath>
                            </m:oMathPara>
                          </a14:m>
                          <a:endParaRPr lang="en-AU" sz="900">
                            <a:effectLst/>
                          </a:endParaRPr>
                        </a:p>
                        <a:p>
                          <a:pPr marL="0" marR="0" indent="0" algn="ctr" rtl="0" fontAlgn="base">
                            <a:buNone/>
                          </a:pPr>
                          <a:r>
                            <a:rPr lang="en-AU" sz="900">
                              <a:effectLst/>
                            </a:rPr>
                            <a:t> </a:t>
                          </a:r>
                          <a:endParaRPr lang="en-AU" sz="900" b="0" i="0">
                            <a:solidFill>
                              <a:srgbClr val="000000"/>
                            </a:solidFill>
                            <a:effectLst/>
                            <a:latin typeface="Segoe UI" panose="020B0502040204020203" pitchFamily="34" charset="0"/>
                          </a:endParaRPr>
                        </a:p>
                      </a:txBody>
                      <a:tcPr/>
                    </a:tc>
                    <a:tc>
                      <a:txBody>
                        <a:bodyPr/>
                        <a:lstStyle/>
                        <a:p>
                          <a:pPr marL="0" marR="0" indent="0" algn="ctr" rtl="0" fontAlgn="base">
                            <a:buNone/>
                          </a:pPr>
                          <a:r>
                            <a:rPr lang="en-AU" sz="1100">
                              <a:effectLst/>
                            </a:rPr>
                            <a:t>Model </a:t>
                          </a:r>
                        </a:p>
                        <a:p>
                          <a:pPr marL="0" marR="0" indent="0" algn="ctr" rtl="0" fontAlgn="base">
                            <a:buNone/>
                          </a:pPr>
                          <a14:m>
                            <m:oMathPara xmlns:m="http://schemas.openxmlformats.org/officeDocument/2006/math">
                              <m:oMath>
                                <m:sSub>
                                  <m:sSubPr>
                                    <m:ctrlPr>
                                      <a:rPr lang="en-US" sz="1400" i="1">
                                        <a:latin typeface="Cambria Math" panose="02040503050406030204" pitchFamily="18" charset="0"/>
                                      </a:rPr>
                                    </m:ctrlPr>
                                  </m:sSubPr>
                                  <m:e>
                                    <m:acc>
                                      <m:accPr>
                                        <m:chr m:val="̇"/>
                                        <m:ctrlPr>
                                          <a:rPr lang="en-US" sz="1400">
                                            <a:latin typeface="Cambria Math" panose="02040503050406030204" pitchFamily="18" charset="0"/>
                                          </a:rPr>
                                        </m:ctrlPr>
                                      </m:accPr>
                                      <m:e>
                                        <m:r>
                                          <a:rPr lang="en-US" sz="1400">
                                            <a:latin typeface="Cambria Math" panose="02040503050406030204" pitchFamily="18" charset="0"/>
                                          </a:rPr>
                                          <m:t>𝑄</m:t>
                                        </m:r>
                                      </m:e>
                                    </m:acc>
                                  </m:e>
                                  <m:sub>
                                    <m:r>
                                      <a:rPr lang="en-US" sz="1400">
                                        <a:latin typeface="Cambria Math" panose="02040503050406030204" pitchFamily="18" charset="0"/>
                                      </a:rPr>
                                      <m:t>𝐶</m:t>
                                    </m:r>
                                  </m:sub>
                                </m:sSub>
                              </m:oMath>
                            </m:oMathPara>
                          </a14:m>
                          <a:endParaRPr lang="en-AU" sz="1000">
                            <a:effectLst/>
                          </a:endParaRPr>
                        </a:p>
                        <a:p>
                          <a:pPr marL="0" marR="0" indent="0" algn="ctr" rtl="0" fontAlgn="base">
                            <a:buNone/>
                          </a:pPr>
                          <a:r>
                            <a:rPr lang="en-AU" sz="1100">
                              <a:effectLst/>
                            </a:rPr>
                            <a:t>(kW) </a:t>
                          </a:r>
                          <a:endParaRPr lang="en-AU" sz="900" b="0" i="0">
                            <a:solidFill>
                              <a:srgbClr val="000000"/>
                            </a:solidFill>
                            <a:effectLst/>
                            <a:latin typeface="Segoe UI" panose="020B0502040204020203" pitchFamily="34" charset="0"/>
                          </a:endParaRPr>
                        </a:p>
                      </a:txBody>
                      <a:tcPr/>
                    </a:tc>
                    <a:tc>
                      <a:txBody>
                        <a:bodyPr/>
                        <a:lstStyle/>
                        <a:p>
                          <a:pPr marL="0" marR="0" indent="0" algn="ctr" rtl="0" fontAlgn="base">
                            <a:buNone/>
                          </a:pPr>
                          <a:r>
                            <a:rPr lang="en-AU" sz="1100">
                              <a:effectLst/>
                            </a:rPr>
                            <a:t>Error (%) </a:t>
                          </a:r>
                          <a:endParaRPr lang="en-AU" sz="900" b="0" i="0">
                            <a:solidFill>
                              <a:srgbClr val="000000"/>
                            </a:solidFill>
                            <a:effectLst/>
                            <a:latin typeface="Segoe UI" panose="020B0502040204020203" pitchFamily="34" charset="0"/>
                          </a:endParaRPr>
                        </a:p>
                      </a:txBody>
                      <a:tcPr/>
                    </a:tc>
                    <a:extLst>
                      <a:ext uri="{0D108BD9-81ED-4DB2-BD59-A6C34878D82A}">
                        <a16:rowId xmlns:a16="http://schemas.microsoft.com/office/drawing/2014/main" val="2238649943"/>
                      </a:ext>
                    </a:extLst>
                  </a:tr>
                  <a:tr h="582371">
                    <a:tc>
                      <a:txBody>
                        <a:bodyPr/>
                        <a:lstStyle/>
                        <a:p>
                          <a:pPr marL="0" marR="0" indent="0" algn="ctr" rtl="0" fontAlgn="base">
                            <a:buNone/>
                          </a:pPr>
                          <a:r>
                            <a:rPr lang="en-US" sz="1000">
                              <a:effectLst/>
                            </a:rPr>
                            <a:t>(Ferrantelli et al. 2021, 6)</a:t>
                          </a:r>
                          <a:r>
                            <a:rPr lang="en-AU" sz="1000">
                              <a:effectLst/>
                            </a:rPr>
                            <a:t> </a:t>
                          </a:r>
                          <a:endParaRPr lang="en-AU" sz="900" b="0" i="0">
                            <a:solidFill>
                              <a:srgbClr val="000000"/>
                            </a:solidFill>
                            <a:effectLst/>
                            <a:latin typeface="Segoe UI" panose="020B0502040204020203" pitchFamily="34" charset="0"/>
                          </a:endParaRPr>
                        </a:p>
                      </a:txBody>
                      <a:tcPr/>
                    </a:tc>
                    <a:tc>
                      <a:txBody>
                        <a:bodyPr/>
                        <a:lstStyle/>
                        <a:p>
                          <a:pPr marL="0" marR="0" indent="0" algn="ctr" rtl="0" fontAlgn="base">
                            <a:buNone/>
                          </a:pPr>
                          <a:r>
                            <a:rPr lang="en-AU" sz="1100">
                              <a:effectLst/>
                            </a:rPr>
                            <a:t>41.85 W/</a:t>
                          </a:r>
                        </a:p>
                        <a:p>
                          <a:pPr marL="0" marR="0" indent="0" algn="ctr" rtl="0" fontAlgn="base">
                            <a:buNone/>
                          </a:pPr>
                          <a14:m>
                            <m:oMathPara xmlns:m="http://schemas.openxmlformats.org/officeDocument/2006/math">
                              <m:oMath>
                                <m:sSup>
                                  <m:sSupPr>
                                    <m:ctrlPr>
                                      <a:rPr lang="en-US" sz="1400">
                                        <a:latin typeface="Cambria Math" panose="02040503050406030204" pitchFamily="18" charset="0"/>
                                      </a:rPr>
                                    </m:ctrlPr>
                                  </m:sSupPr>
                                  <m:e>
                                    <m:r>
                                      <a:rPr lang="en-US" sz="1400">
                                        <a:latin typeface="Cambria Math" panose="02040503050406030204" pitchFamily="18" charset="0"/>
                                      </a:rPr>
                                      <m:t>𝑚</m:t>
                                    </m:r>
                                  </m:e>
                                  <m:sup>
                                    <m:r>
                                      <a:rPr lang="en-US" sz="1400">
                                        <a:latin typeface="Cambria Math" panose="02040503050406030204" pitchFamily="18" charset="0"/>
                                      </a:rPr>
                                      <m:t>2</m:t>
                                    </m:r>
                                  </m:sup>
                                </m:sSup>
                              </m:oMath>
                            </m:oMathPara>
                          </a14:m>
                          <a:endParaRPr lang="en-AU" sz="1000">
                            <a:effectLst/>
                          </a:endParaRPr>
                        </a:p>
                        <a:p>
                          <a:pPr marL="0" marR="0" indent="0" algn="ctr" rtl="0" fontAlgn="base">
                            <a:buNone/>
                          </a:pPr>
                          <a:r>
                            <a:rPr lang="en-AU" sz="1100">
                              <a:effectLst/>
                            </a:rPr>
                            <a:t>average ice heat flux </a:t>
                          </a:r>
                          <a:endParaRPr lang="en-AU" sz="900" b="0" i="0">
                            <a:solidFill>
                              <a:srgbClr val="000000"/>
                            </a:solidFill>
                            <a:effectLst/>
                            <a:latin typeface="Segoe UI" panose="020B0502040204020203" pitchFamily="34" charset="0"/>
                          </a:endParaRPr>
                        </a:p>
                      </a:txBody>
                      <a:tcPr/>
                    </a:tc>
                    <a:tc>
                      <a:txBody>
                        <a:bodyPr/>
                        <a:lstStyle/>
                        <a:p>
                          <a:pPr marL="0" marR="0" indent="0" algn="ctr" rtl="0" fontAlgn="base">
                            <a:buNone/>
                          </a:pPr>
                          <a:r>
                            <a:rPr lang="en-AU" sz="1100">
                              <a:effectLst/>
                            </a:rPr>
                            <a:t>75.3 </a:t>
                          </a:r>
                          <a:endParaRPr lang="en-AU" sz="900" b="0" i="0">
                            <a:solidFill>
                              <a:srgbClr val="000000"/>
                            </a:solidFill>
                            <a:effectLst/>
                            <a:latin typeface="Segoe UI" panose="020B0502040204020203" pitchFamily="34" charset="0"/>
                          </a:endParaRPr>
                        </a:p>
                      </a:txBody>
                      <a:tcPr/>
                    </a:tc>
                    <a:tc>
                      <a:txBody>
                        <a:bodyPr/>
                        <a:lstStyle/>
                        <a:p>
                          <a:pPr marL="0" marR="0" indent="0" algn="ctr" rtl="0" fontAlgn="base">
                            <a:buNone/>
                          </a:pPr>
                          <a:r>
                            <a:rPr lang="en-AU" sz="1100">
                              <a:effectLst/>
                            </a:rPr>
                            <a:t>97 </a:t>
                          </a:r>
                          <a:endParaRPr lang="en-AU" sz="900" b="0" i="0">
                            <a:solidFill>
                              <a:srgbClr val="000000"/>
                            </a:solidFill>
                            <a:effectLst/>
                            <a:latin typeface="Segoe UI" panose="020B0502040204020203" pitchFamily="34" charset="0"/>
                          </a:endParaRPr>
                        </a:p>
                      </a:txBody>
                      <a:tcPr/>
                    </a:tc>
                    <a:tc>
                      <a:txBody>
                        <a:bodyPr/>
                        <a:lstStyle/>
                        <a:p>
                          <a:pPr marL="0" marR="0" indent="0" algn="ctr" rtl="0" fontAlgn="base">
                            <a:buNone/>
                          </a:pPr>
                          <a:r>
                            <a:rPr lang="en-AU" sz="1100">
                              <a:effectLst/>
                            </a:rPr>
                            <a:t> +28.8 </a:t>
                          </a:r>
                          <a:endParaRPr lang="en-AU" sz="900" b="0" i="0">
                            <a:solidFill>
                              <a:srgbClr val="000000"/>
                            </a:solidFill>
                            <a:effectLst/>
                            <a:latin typeface="Segoe UI" panose="020B0502040204020203" pitchFamily="34" charset="0"/>
                          </a:endParaRPr>
                        </a:p>
                      </a:txBody>
                      <a:tcPr/>
                    </a:tc>
                    <a:extLst>
                      <a:ext uri="{0D108BD9-81ED-4DB2-BD59-A6C34878D82A}">
                        <a16:rowId xmlns:a16="http://schemas.microsoft.com/office/drawing/2014/main" val="4020269960"/>
                      </a:ext>
                    </a:extLst>
                  </a:tr>
                  <a:tr h="488720">
                    <a:tc>
                      <a:txBody>
                        <a:bodyPr/>
                        <a:lstStyle/>
                        <a:p>
                          <a:pPr marL="0" marR="0" indent="0" algn="ctr" rtl="0" fontAlgn="base">
                            <a:buNone/>
                          </a:pPr>
                          <a:r>
                            <a:rPr lang="en-AU" sz="1000">
                              <a:effectLst/>
                            </a:rPr>
                            <a:t>(Karampour and Rogstam 2012, 4) </a:t>
                          </a:r>
                          <a:endParaRPr lang="en-AU" sz="900">
                            <a:effectLst/>
                          </a:endParaRPr>
                        </a:p>
                        <a:p>
                          <a:pPr marL="0" marR="0" indent="0" algn="ctr" rtl="0" fontAlgn="base">
                            <a:buNone/>
                          </a:pPr>
                          <a:r>
                            <a:rPr lang="en-AU" sz="1100">
                              <a:effectLst/>
                            </a:rPr>
                            <a:t> </a:t>
                          </a:r>
                          <a:endParaRPr lang="en-AU" sz="900" b="0" i="0">
                            <a:solidFill>
                              <a:srgbClr val="000000"/>
                            </a:solidFill>
                            <a:effectLst/>
                            <a:latin typeface="Segoe UI" panose="020B0502040204020203" pitchFamily="34" charset="0"/>
                          </a:endParaRPr>
                        </a:p>
                      </a:txBody>
                      <a:tcPr/>
                    </a:tc>
                    <a:tc>
                      <a:txBody>
                        <a:bodyPr/>
                        <a:lstStyle/>
                        <a:p>
                          <a:pPr marL="0" marR="0" indent="0" algn="ctr" rtl="0" fontAlgn="base">
                            <a:buNone/>
                          </a:pPr>
                          <a:r>
                            <a:rPr lang="en-AU" sz="1100">
                              <a:effectLst/>
                            </a:rPr>
                            <a:t>142kW for 1626 </a:t>
                          </a:r>
                        </a:p>
                        <a:p>
                          <a:pPr marL="0" marR="0" indent="0" algn="ctr" rtl="0" fontAlgn="base">
                            <a:buNone/>
                          </a:pPr>
                          <a14:m>
                            <m:oMathPara xmlns:m="http://schemas.openxmlformats.org/officeDocument/2006/math">
                              <m:oMath>
                                <m:sSup>
                                  <m:sSupPr>
                                    <m:ctrlPr>
                                      <a:rPr lang="en-US" sz="1400">
                                        <a:latin typeface="Cambria Math" panose="02040503050406030204" pitchFamily="18" charset="0"/>
                                      </a:rPr>
                                    </m:ctrlPr>
                                  </m:sSupPr>
                                  <m:e>
                                    <m:r>
                                      <a:rPr lang="en-US" sz="1400">
                                        <a:latin typeface="Cambria Math" panose="02040503050406030204" pitchFamily="18" charset="0"/>
                                      </a:rPr>
                                      <m:t>𝑚</m:t>
                                    </m:r>
                                  </m:e>
                                  <m:sup>
                                    <m:r>
                                      <a:rPr lang="en-US" sz="1400">
                                        <a:latin typeface="Cambria Math" panose="02040503050406030204" pitchFamily="18" charset="0"/>
                                      </a:rPr>
                                      <m:t>2</m:t>
                                    </m:r>
                                  </m:sup>
                                </m:sSup>
                              </m:oMath>
                            </m:oMathPara>
                          </a14:m>
                          <a:endParaRPr lang="en-AU" sz="1000">
                            <a:effectLst/>
                          </a:endParaRPr>
                        </a:p>
                        <a:p>
                          <a:pPr marL="0" marR="0" indent="0" algn="ctr" rtl="0" fontAlgn="base">
                            <a:buNone/>
                          </a:pPr>
                          <a:r>
                            <a:rPr lang="en-AU" sz="1100">
                              <a:effectLst/>
                            </a:rPr>
                            <a:t>rink  </a:t>
                          </a:r>
                          <a:endParaRPr lang="en-AU" sz="900" b="0" i="0">
                            <a:solidFill>
                              <a:srgbClr val="000000"/>
                            </a:solidFill>
                            <a:effectLst/>
                            <a:latin typeface="Segoe UI" panose="020B0502040204020203" pitchFamily="34" charset="0"/>
                          </a:endParaRPr>
                        </a:p>
                      </a:txBody>
                      <a:tcPr/>
                    </a:tc>
                    <a:tc>
                      <a:txBody>
                        <a:bodyPr/>
                        <a:lstStyle/>
                        <a:p>
                          <a:pPr marL="0" marR="0" indent="0" algn="ctr" rtl="0" fontAlgn="base">
                            <a:buNone/>
                          </a:pPr>
                          <a:r>
                            <a:rPr lang="en-AU" sz="1100">
                              <a:effectLst/>
                            </a:rPr>
                            <a:t>157.4 </a:t>
                          </a:r>
                          <a:endParaRPr lang="en-AU" sz="900" b="0" i="0">
                            <a:solidFill>
                              <a:srgbClr val="000000"/>
                            </a:solidFill>
                            <a:effectLst/>
                            <a:latin typeface="Segoe UI" panose="020B0502040204020203" pitchFamily="34" charset="0"/>
                          </a:endParaRPr>
                        </a:p>
                      </a:txBody>
                      <a:tcPr/>
                    </a:tc>
                    <a:tc>
                      <a:txBody>
                        <a:bodyPr/>
                        <a:lstStyle/>
                        <a:p>
                          <a:pPr marL="0" marR="0" indent="0" algn="ctr" rtl="0" fontAlgn="base">
                            <a:buNone/>
                          </a:pPr>
                          <a:r>
                            <a:rPr lang="en-AU" sz="1100">
                              <a:effectLst/>
                            </a:rPr>
                            <a:t>97 </a:t>
                          </a:r>
                          <a:endParaRPr lang="en-AU" sz="900" b="0" i="0">
                            <a:solidFill>
                              <a:srgbClr val="000000"/>
                            </a:solidFill>
                            <a:effectLst/>
                            <a:latin typeface="Segoe UI" panose="020B0502040204020203" pitchFamily="34" charset="0"/>
                          </a:endParaRPr>
                        </a:p>
                      </a:txBody>
                      <a:tcPr/>
                    </a:tc>
                    <a:tc>
                      <a:txBody>
                        <a:bodyPr/>
                        <a:lstStyle/>
                        <a:p>
                          <a:pPr marL="0" marR="0" indent="0" algn="ctr" rtl="0" fontAlgn="base">
                            <a:buNone/>
                          </a:pPr>
                          <a:r>
                            <a:rPr lang="en-AU" sz="1100">
                              <a:effectLst/>
                            </a:rPr>
                            <a:t>-38.4 </a:t>
                          </a:r>
                          <a:endParaRPr lang="en-AU" sz="900" b="0" i="0">
                            <a:solidFill>
                              <a:srgbClr val="000000"/>
                            </a:solidFill>
                            <a:effectLst/>
                            <a:latin typeface="Segoe UI" panose="020B0502040204020203" pitchFamily="34" charset="0"/>
                          </a:endParaRPr>
                        </a:p>
                      </a:txBody>
                      <a:tcPr/>
                    </a:tc>
                    <a:extLst>
                      <a:ext uri="{0D108BD9-81ED-4DB2-BD59-A6C34878D82A}">
                        <a16:rowId xmlns:a16="http://schemas.microsoft.com/office/drawing/2014/main" val="2194391848"/>
                      </a:ext>
                    </a:extLst>
                  </a:tr>
                </a:tbl>
              </a:graphicData>
            </a:graphic>
          </p:graphicFrame>
        </mc:Choice>
        <mc:Fallback>
          <p:graphicFrame>
            <p:nvGraphicFramePr>
              <p:cNvPr id="4" name="Table 3">
                <a:extLst>
                  <a:ext uri="{FF2B5EF4-FFF2-40B4-BE49-F238E27FC236}">
                    <a16:creationId xmlns:a16="http://schemas.microsoft.com/office/drawing/2014/main" id="{98C00E60-0F28-CD57-0C67-FD54A1442A39}"/>
                  </a:ext>
                </a:extLst>
              </p:cNvPr>
              <p:cNvGraphicFramePr>
                <a:graphicFrameLocks noGrp="1"/>
              </p:cNvGraphicFramePr>
              <p:nvPr>
                <p:extLst>
                  <p:ext uri="{D42A27DB-BD31-4B8C-83A1-F6EECF244321}">
                    <p14:modId xmlns:p14="http://schemas.microsoft.com/office/powerpoint/2010/main" val="198912264"/>
                  </p:ext>
                </p:extLst>
              </p:nvPr>
            </p:nvGraphicFramePr>
            <p:xfrm>
              <a:off x="8286850" y="2612571"/>
              <a:ext cx="3905150" cy="3185352"/>
            </p:xfrm>
            <a:graphic>
              <a:graphicData uri="http://schemas.openxmlformats.org/drawingml/2006/table">
                <a:tbl>
                  <a:tblPr>
                    <a:tableStyleId>{5C22544A-7EE6-4342-B048-85BDC9FD1C3A}</a:tableStyleId>
                  </a:tblPr>
                  <a:tblGrid>
                    <a:gridCol w="781030">
                      <a:extLst>
                        <a:ext uri="{9D8B030D-6E8A-4147-A177-3AD203B41FA5}">
                          <a16:colId xmlns:a16="http://schemas.microsoft.com/office/drawing/2014/main" val="2627490768"/>
                        </a:ext>
                      </a:extLst>
                    </a:gridCol>
                    <a:gridCol w="781030">
                      <a:extLst>
                        <a:ext uri="{9D8B030D-6E8A-4147-A177-3AD203B41FA5}">
                          <a16:colId xmlns:a16="http://schemas.microsoft.com/office/drawing/2014/main" val="3047424496"/>
                        </a:ext>
                      </a:extLst>
                    </a:gridCol>
                    <a:gridCol w="781030">
                      <a:extLst>
                        <a:ext uri="{9D8B030D-6E8A-4147-A177-3AD203B41FA5}">
                          <a16:colId xmlns:a16="http://schemas.microsoft.com/office/drawing/2014/main" val="538720831"/>
                        </a:ext>
                      </a:extLst>
                    </a:gridCol>
                    <a:gridCol w="781030">
                      <a:extLst>
                        <a:ext uri="{9D8B030D-6E8A-4147-A177-3AD203B41FA5}">
                          <a16:colId xmlns:a16="http://schemas.microsoft.com/office/drawing/2014/main" val="322589934"/>
                        </a:ext>
                      </a:extLst>
                    </a:gridCol>
                    <a:gridCol w="781030">
                      <a:extLst>
                        <a:ext uri="{9D8B030D-6E8A-4147-A177-3AD203B41FA5}">
                          <a16:colId xmlns:a16="http://schemas.microsoft.com/office/drawing/2014/main" val="1773833354"/>
                        </a:ext>
                      </a:extLst>
                    </a:gridCol>
                  </a:tblGrid>
                  <a:tr h="1341312">
                    <a:tc>
                      <a:txBody>
                        <a:bodyPr/>
                        <a:lstStyle/>
                        <a:p>
                          <a:pPr marL="0" marR="0" indent="0" algn="ctr" rtl="0" fontAlgn="base">
                            <a:buNone/>
                          </a:pPr>
                          <a:r>
                            <a:rPr lang="en-AU" sz="1100">
                              <a:effectLst/>
                            </a:rPr>
                            <a:t>Reference </a:t>
                          </a:r>
                          <a:endParaRPr lang="en-AU" sz="900" b="0" i="0">
                            <a:solidFill>
                              <a:srgbClr val="000000"/>
                            </a:solidFill>
                            <a:effectLst/>
                            <a:latin typeface="Segoe UI" panose="020B0502040204020203" pitchFamily="34" charset="0"/>
                          </a:endParaRPr>
                        </a:p>
                      </a:txBody>
                      <a:tcPr/>
                    </a:tc>
                    <a:tc>
                      <a:txBody>
                        <a:bodyPr/>
                        <a:lstStyle/>
                        <a:p>
                          <a:pPr marL="0" marR="0" indent="0" algn="ctr" rtl="0" fontAlgn="base">
                            <a:buNone/>
                          </a:pPr>
                          <a:r>
                            <a:rPr lang="en-AU" sz="1100">
                              <a:effectLst/>
                            </a:rPr>
                            <a:t>Published Value </a:t>
                          </a:r>
                          <a:endParaRPr lang="en-AU" sz="900" b="0" i="0">
                            <a:solidFill>
                              <a:srgbClr val="000000"/>
                            </a:solidFill>
                            <a:effectLst/>
                            <a:latin typeface="Segoe UI" panose="020B0502040204020203" pitchFamily="34" charset="0"/>
                          </a:endParaRPr>
                        </a:p>
                      </a:txBody>
                      <a:tcPr/>
                    </a:tc>
                    <a:tc>
                      <a:txBody>
                        <a:bodyPr/>
                        <a:lstStyle/>
                        <a:p>
                          <a:endParaRPr lang="en-US"/>
                        </a:p>
                      </a:txBody>
                      <a:tcPr>
                        <a:blipFill>
                          <a:blip r:embed="rId4"/>
                          <a:stretch>
                            <a:fillRect l="-199225" t="-452" r="-200775" b="-138009"/>
                          </a:stretch>
                        </a:blipFill>
                      </a:tcPr>
                    </a:tc>
                    <a:tc>
                      <a:txBody>
                        <a:bodyPr/>
                        <a:lstStyle/>
                        <a:p>
                          <a:endParaRPr lang="en-US"/>
                        </a:p>
                      </a:txBody>
                      <a:tcPr>
                        <a:blipFill>
                          <a:blip r:embed="rId4"/>
                          <a:stretch>
                            <a:fillRect l="-301563" t="-452" r="-102344" b="-138009"/>
                          </a:stretch>
                        </a:blipFill>
                      </a:tcPr>
                    </a:tc>
                    <a:tc>
                      <a:txBody>
                        <a:bodyPr/>
                        <a:lstStyle/>
                        <a:p>
                          <a:pPr marL="0" marR="0" indent="0" algn="ctr" rtl="0" fontAlgn="base">
                            <a:buNone/>
                          </a:pPr>
                          <a:r>
                            <a:rPr lang="en-AU" sz="1100">
                              <a:effectLst/>
                            </a:rPr>
                            <a:t>Error (%) </a:t>
                          </a:r>
                          <a:endParaRPr lang="en-AU" sz="900" b="0" i="0">
                            <a:solidFill>
                              <a:srgbClr val="000000"/>
                            </a:solidFill>
                            <a:effectLst/>
                            <a:latin typeface="Segoe UI" panose="020B0502040204020203" pitchFamily="34" charset="0"/>
                          </a:endParaRPr>
                        </a:p>
                      </a:txBody>
                      <a:tcPr/>
                    </a:tc>
                    <a:extLst>
                      <a:ext uri="{0D108BD9-81ED-4DB2-BD59-A6C34878D82A}">
                        <a16:rowId xmlns:a16="http://schemas.microsoft.com/office/drawing/2014/main" val="2238649943"/>
                      </a:ext>
                    </a:extLst>
                  </a:tr>
                  <a:tr h="975360">
                    <a:tc>
                      <a:txBody>
                        <a:bodyPr/>
                        <a:lstStyle/>
                        <a:p>
                          <a:pPr marL="0" marR="0" indent="0" algn="ctr" rtl="0" fontAlgn="base">
                            <a:buNone/>
                          </a:pPr>
                          <a:r>
                            <a:rPr lang="en-US" sz="1000">
                              <a:effectLst/>
                            </a:rPr>
                            <a:t>(Ferrantelli et al. 2021, 6)</a:t>
                          </a:r>
                          <a:r>
                            <a:rPr lang="en-AU" sz="1000">
                              <a:effectLst/>
                            </a:rPr>
                            <a:t> </a:t>
                          </a:r>
                          <a:endParaRPr lang="en-AU" sz="900" b="0" i="0">
                            <a:solidFill>
                              <a:srgbClr val="000000"/>
                            </a:solidFill>
                            <a:effectLst/>
                            <a:latin typeface="Segoe UI" panose="020B0502040204020203" pitchFamily="34" charset="0"/>
                          </a:endParaRPr>
                        </a:p>
                      </a:txBody>
                      <a:tcPr/>
                    </a:tc>
                    <a:tc>
                      <a:txBody>
                        <a:bodyPr/>
                        <a:lstStyle/>
                        <a:p>
                          <a:endParaRPr lang="en-US"/>
                        </a:p>
                      </a:txBody>
                      <a:tcPr>
                        <a:blipFill>
                          <a:blip r:embed="rId4"/>
                          <a:stretch>
                            <a:fillRect l="-100781" t="-138750" r="-303125" b="-90625"/>
                          </a:stretch>
                        </a:blipFill>
                      </a:tcPr>
                    </a:tc>
                    <a:tc>
                      <a:txBody>
                        <a:bodyPr/>
                        <a:lstStyle/>
                        <a:p>
                          <a:pPr marL="0" marR="0" indent="0" algn="ctr" rtl="0" fontAlgn="base">
                            <a:buNone/>
                          </a:pPr>
                          <a:r>
                            <a:rPr lang="en-AU" sz="1100">
                              <a:effectLst/>
                            </a:rPr>
                            <a:t>75.3 </a:t>
                          </a:r>
                          <a:endParaRPr lang="en-AU" sz="900" b="0" i="0">
                            <a:solidFill>
                              <a:srgbClr val="000000"/>
                            </a:solidFill>
                            <a:effectLst/>
                            <a:latin typeface="Segoe UI" panose="020B0502040204020203" pitchFamily="34" charset="0"/>
                          </a:endParaRPr>
                        </a:p>
                      </a:txBody>
                      <a:tcPr/>
                    </a:tc>
                    <a:tc>
                      <a:txBody>
                        <a:bodyPr/>
                        <a:lstStyle/>
                        <a:p>
                          <a:pPr marL="0" marR="0" indent="0" algn="ctr" rtl="0" fontAlgn="base">
                            <a:buNone/>
                          </a:pPr>
                          <a:r>
                            <a:rPr lang="en-AU" sz="1100">
                              <a:effectLst/>
                            </a:rPr>
                            <a:t>97 </a:t>
                          </a:r>
                          <a:endParaRPr lang="en-AU" sz="900" b="0" i="0">
                            <a:solidFill>
                              <a:srgbClr val="000000"/>
                            </a:solidFill>
                            <a:effectLst/>
                            <a:latin typeface="Segoe UI" panose="020B0502040204020203" pitchFamily="34" charset="0"/>
                          </a:endParaRPr>
                        </a:p>
                      </a:txBody>
                      <a:tcPr/>
                    </a:tc>
                    <a:tc>
                      <a:txBody>
                        <a:bodyPr/>
                        <a:lstStyle/>
                        <a:p>
                          <a:pPr marL="0" marR="0" indent="0" algn="ctr" rtl="0" fontAlgn="base">
                            <a:buNone/>
                          </a:pPr>
                          <a:r>
                            <a:rPr lang="en-AU" sz="1100">
                              <a:effectLst/>
                            </a:rPr>
                            <a:t> +28.8 </a:t>
                          </a:r>
                          <a:endParaRPr lang="en-AU" sz="900" b="0" i="0">
                            <a:solidFill>
                              <a:srgbClr val="000000"/>
                            </a:solidFill>
                            <a:effectLst/>
                            <a:latin typeface="Segoe UI" panose="020B0502040204020203" pitchFamily="34" charset="0"/>
                          </a:endParaRPr>
                        </a:p>
                      </a:txBody>
                      <a:tcPr/>
                    </a:tc>
                    <a:extLst>
                      <a:ext uri="{0D108BD9-81ED-4DB2-BD59-A6C34878D82A}">
                        <a16:rowId xmlns:a16="http://schemas.microsoft.com/office/drawing/2014/main" val="4020269960"/>
                      </a:ext>
                    </a:extLst>
                  </a:tr>
                  <a:tr h="868680">
                    <a:tc>
                      <a:txBody>
                        <a:bodyPr/>
                        <a:lstStyle/>
                        <a:p>
                          <a:pPr marL="0" marR="0" indent="0" algn="ctr" rtl="0" fontAlgn="base">
                            <a:buNone/>
                          </a:pPr>
                          <a:r>
                            <a:rPr lang="en-AU" sz="1000">
                              <a:effectLst/>
                            </a:rPr>
                            <a:t>(Karampour and Rogstam 2012, 4) </a:t>
                          </a:r>
                          <a:endParaRPr lang="en-AU" sz="900">
                            <a:effectLst/>
                          </a:endParaRPr>
                        </a:p>
                        <a:p>
                          <a:pPr marL="0" marR="0" indent="0" algn="ctr" rtl="0" fontAlgn="base">
                            <a:buNone/>
                          </a:pPr>
                          <a:r>
                            <a:rPr lang="en-AU" sz="1100">
                              <a:effectLst/>
                            </a:rPr>
                            <a:t> </a:t>
                          </a:r>
                          <a:endParaRPr lang="en-AU" sz="900" b="0" i="0">
                            <a:solidFill>
                              <a:srgbClr val="000000"/>
                            </a:solidFill>
                            <a:effectLst/>
                            <a:latin typeface="Segoe UI" panose="020B0502040204020203" pitchFamily="34" charset="0"/>
                          </a:endParaRPr>
                        </a:p>
                      </a:txBody>
                      <a:tcPr/>
                    </a:tc>
                    <a:tc>
                      <a:txBody>
                        <a:bodyPr/>
                        <a:lstStyle/>
                        <a:p>
                          <a:endParaRPr lang="en-US"/>
                        </a:p>
                      </a:txBody>
                      <a:tcPr>
                        <a:blipFill>
                          <a:blip r:embed="rId4"/>
                          <a:stretch>
                            <a:fillRect l="-100781" t="-267133" r="-303125" b="-1399"/>
                          </a:stretch>
                        </a:blipFill>
                      </a:tcPr>
                    </a:tc>
                    <a:tc>
                      <a:txBody>
                        <a:bodyPr/>
                        <a:lstStyle/>
                        <a:p>
                          <a:pPr marL="0" marR="0" indent="0" algn="ctr" rtl="0" fontAlgn="base">
                            <a:buNone/>
                          </a:pPr>
                          <a:r>
                            <a:rPr lang="en-AU" sz="1100">
                              <a:effectLst/>
                            </a:rPr>
                            <a:t>157.4 </a:t>
                          </a:r>
                          <a:endParaRPr lang="en-AU" sz="900" b="0" i="0">
                            <a:solidFill>
                              <a:srgbClr val="000000"/>
                            </a:solidFill>
                            <a:effectLst/>
                            <a:latin typeface="Segoe UI" panose="020B0502040204020203" pitchFamily="34" charset="0"/>
                          </a:endParaRPr>
                        </a:p>
                      </a:txBody>
                      <a:tcPr/>
                    </a:tc>
                    <a:tc>
                      <a:txBody>
                        <a:bodyPr/>
                        <a:lstStyle/>
                        <a:p>
                          <a:pPr marL="0" marR="0" indent="0" algn="ctr" rtl="0" fontAlgn="base">
                            <a:buNone/>
                          </a:pPr>
                          <a:r>
                            <a:rPr lang="en-AU" sz="1100">
                              <a:effectLst/>
                            </a:rPr>
                            <a:t>97 </a:t>
                          </a:r>
                          <a:endParaRPr lang="en-AU" sz="900" b="0" i="0">
                            <a:solidFill>
                              <a:srgbClr val="000000"/>
                            </a:solidFill>
                            <a:effectLst/>
                            <a:latin typeface="Segoe UI" panose="020B0502040204020203" pitchFamily="34" charset="0"/>
                          </a:endParaRPr>
                        </a:p>
                      </a:txBody>
                      <a:tcPr/>
                    </a:tc>
                    <a:tc>
                      <a:txBody>
                        <a:bodyPr/>
                        <a:lstStyle/>
                        <a:p>
                          <a:pPr marL="0" marR="0" indent="0" algn="ctr" rtl="0" fontAlgn="base">
                            <a:buNone/>
                          </a:pPr>
                          <a:r>
                            <a:rPr lang="en-AU" sz="1100">
                              <a:effectLst/>
                            </a:rPr>
                            <a:t>-38.4 </a:t>
                          </a:r>
                          <a:endParaRPr lang="en-AU" sz="900" b="0" i="0">
                            <a:solidFill>
                              <a:srgbClr val="000000"/>
                            </a:solidFill>
                            <a:effectLst/>
                            <a:latin typeface="Segoe UI" panose="020B0502040204020203" pitchFamily="34" charset="0"/>
                          </a:endParaRPr>
                        </a:p>
                      </a:txBody>
                      <a:tcPr/>
                    </a:tc>
                    <a:extLst>
                      <a:ext uri="{0D108BD9-81ED-4DB2-BD59-A6C34878D82A}">
                        <a16:rowId xmlns:a16="http://schemas.microsoft.com/office/drawing/2014/main" val="2194391848"/>
                      </a:ext>
                    </a:extLst>
                  </a:tr>
                </a:tbl>
              </a:graphicData>
            </a:graphic>
          </p:graphicFrame>
        </mc:Fallback>
      </mc:AlternateContent>
    </p:spTree>
    <p:extLst>
      <p:ext uri="{BB962C8B-B14F-4D97-AF65-F5344CB8AC3E}">
        <p14:creationId xmlns:p14="http://schemas.microsoft.com/office/powerpoint/2010/main" val="1827632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B2AEB-DCE1-3F72-5FC8-9D8BEE1DA5B6}"/>
              </a:ext>
            </a:extLst>
          </p:cNvPr>
          <p:cNvSpPr>
            <a:spLocks noGrp="1"/>
          </p:cNvSpPr>
          <p:nvPr>
            <p:ph type="title"/>
          </p:nvPr>
        </p:nvSpPr>
        <p:spPr/>
        <p:txBody>
          <a:bodyPr/>
          <a:lstStyle/>
          <a:p>
            <a:r>
              <a:rPr lang="en-US">
                <a:ea typeface="+mj-lt"/>
                <a:cs typeface="+mj-lt"/>
              </a:rPr>
              <a:t>Conclusions</a:t>
            </a:r>
            <a:endParaRPr lang="en-US"/>
          </a:p>
        </p:txBody>
      </p:sp>
      <p:sp>
        <p:nvSpPr>
          <p:cNvPr id="3" name="Content Placeholder 2">
            <a:extLst>
              <a:ext uri="{FF2B5EF4-FFF2-40B4-BE49-F238E27FC236}">
                <a16:creationId xmlns:a16="http://schemas.microsoft.com/office/drawing/2014/main" id="{785C60CC-8E13-7386-9A24-D5F8426AAF05}"/>
              </a:ext>
            </a:extLst>
          </p:cNvPr>
          <p:cNvSpPr>
            <a:spLocks noGrp="1"/>
          </p:cNvSpPr>
          <p:nvPr>
            <p:ph idx="1"/>
          </p:nvPr>
        </p:nvSpPr>
        <p:spPr>
          <a:xfrm>
            <a:off x="838200" y="2061469"/>
            <a:ext cx="11353800" cy="4114801"/>
          </a:xfrm>
        </p:spPr>
        <p:txBody>
          <a:bodyPr numCol="2">
            <a:normAutofit fontScale="77500" lnSpcReduction="20000"/>
          </a:bodyPr>
          <a:lstStyle/>
          <a:p>
            <a:r>
              <a:rPr lang="en-AU"/>
              <a:t>Limitations</a:t>
            </a:r>
          </a:p>
          <a:p>
            <a:pPr marL="285750" indent="-285750">
              <a:buFont typeface="Arial" panose="020B0604020202020204" pitchFamily="34" charset="0"/>
              <a:buChar char="•"/>
            </a:pPr>
            <a:r>
              <a:rPr lang="en-AU"/>
              <a:t> Well-mixed lower zone overstates convection.</a:t>
            </a:r>
          </a:p>
          <a:p>
            <a:pPr marL="285750" indent="-285750">
              <a:buFont typeface="Arial" panose="020B0604020202020204" pitchFamily="34" charset="0"/>
              <a:buChar char="•"/>
            </a:pPr>
            <a:r>
              <a:rPr lang="en-AU"/>
              <a:t>Radiation, occupants, humidity and ventilation are neglected. These would add additional load.</a:t>
            </a:r>
          </a:p>
          <a:p>
            <a:pPr marL="285750" indent="-285750">
              <a:buFont typeface="Arial" panose="020B0604020202020204" pitchFamily="34" charset="0"/>
              <a:buChar char="•"/>
            </a:pPr>
            <a:r>
              <a:rPr lang="en-AU"/>
              <a:t>Closed system assumption: The ice load is independent in our model </a:t>
            </a:r>
            <a:r>
              <a:rPr lang="en-US"/>
              <a:t>of outdoor conditions, which wouldn’t be true in practice</a:t>
            </a:r>
            <a:r>
              <a:rPr lang="en-AU"/>
              <a:t>.</a:t>
            </a:r>
          </a:p>
          <a:p>
            <a:pPr marL="285750" indent="-285750">
              <a:buFont typeface="Arial" panose="020B0604020202020204" pitchFamily="34" charset="0"/>
              <a:buChar char="•"/>
            </a:pPr>
            <a:r>
              <a:rPr lang="en-AU"/>
              <a:t>The floor temperature is assumed; when varied, it adds additional load. </a:t>
            </a:r>
          </a:p>
          <a:p>
            <a:r>
              <a:rPr lang="en-AU"/>
              <a:t>Key Findings </a:t>
            </a:r>
          </a:p>
          <a:p>
            <a:pPr marL="285750" indent="-285750">
              <a:buFont typeface="Arial" panose="020B0604020202020204" pitchFamily="34" charset="0"/>
              <a:buChar char="•"/>
            </a:pPr>
            <a:r>
              <a:rPr lang="en-AU"/>
              <a:t>Air-ice thermal coefficient value is most important.</a:t>
            </a:r>
          </a:p>
          <a:p>
            <a:pPr marL="285750" indent="-285750">
              <a:buFont typeface="Arial" panose="020B0604020202020204" pitchFamily="34" charset="0"/>
              <a:buChar char="•"/>
            </a:pPr>
            <a:r>
              <a:rPr lang="en-AU"/>
              <a:t>In the given model, the refrigeration is constant while the heating varies. </a:t>
            </a:r>
          </a:p>
          <a:p>
            <a:pPr marL="285750" indent="-285750">
              <a:buFont typeface="Arial" panose="020B0604020202020204" pitchFamily="34" charset="0"/>
              <a:buChar char="•"/>
            </a:pPr>
            <a:r>
              <a:rPr lang="en-AU"/>
              <a:t>The combined thermal energy consumption of an Ice rink </a:t>
            </a:r>
            <a:br>
              <a:rPr lang="en-AU"/>
            </a:br>
            <a:r>
              <a:rPr lang="en-AU"/>
              <a:t>in Perth, Australia, is approximately between 97 kW and </a:t>
            </a:r>
            <a:br>
              <a:rPr lang="en-AU"/>
            </a:br>
            <a:r>
              <a:rPr lang="en-AU"/>
              <a:t>154 kW per hour. </a:t>
            </a:r>
          </a:p>
          <a:p>
            <a:pPr marL="285750" indent="-285750">
              <a:buFont typeface="Arial" panose="020B0604020202020204" pitchFamily="34" charset="0"/>
              <a:buChar char="•"/>
            </a:pPr>
            <a:endParaRPr lang="en-AU"/>
          </a:p>
          <a:p>
            <a:r>
              <a:rPr lang="en-AU"/>
              <a:t>Achieved Project Objectives</a:t>
            </a:r>
          </a:p>
          <a:p>
            <a:pPr marL="285750" indent="-285750">
              <a:buFont typeface="Arial" panose="020B0604020202020204" pitchFamily="34" charset="0"/>
              <a:buChar char="•"/>
            </a:pPr>
            <a:r>
              <a:rPr lang="en-AU"/>
              <a:t>Preliminary model of a two-zone steady-state ice rink</a:t>
            </a:r>
          </a:p>
          <a:p>
            <a:pPr marL="285750" indent="-285750">
              <a:buFont typeface="Arial" panose="020B0604020202020204" pitchFamily="34" charset="0"/>
              <a:buChar char="•"/>
            </a:pPr>
            <a:r>
              <a:rPr lang="en-AU"/>
              <a:t>Practised the process of mathematical modelling in real-life applications</a:t>
            </a:r>
          </a:p>
          <a:p>
            <a:pPr marL="788670" lvl="1" indent="-285750">
              <a:buFont typeface="Arial" panose="020B0604020202020204" pitchFamily="34" charset="0"/>
              <a:buChar char="•"/>
            </a:pPr>
            <a:r>
              <a:rPr lang="en-AU"/>
              <a:t>Using governing heat equations to model different situations </a:t>
            </a:r>
          </a:p>
          <a:p>
            <a:pPr marL="285750" indent="-285750">
              <a:buFont typeface="Arial" panose="020B0604020202020204" pitchFamily="34" charset="0"/>
              <a:buChar char="•"/>
            </a:pPr>
            <a:endParaRPr lang="en-AU"/>
          </a:p>
          <a:p>
            <a:r>
              <a:rPr lang="en-AU"/>
              <a:t>Future Improvements</a:t>
            </a:r>
          </a:p>
          <a:p>
            <a:pPr marL="285750" indent="-285750">
              <a:buFont typeface="Arial" panose="020B0604020202020204" pitchFamily="34" charset="0"/>
              <a:buChar char="•"/>
            </a:pPr>
            <a:r>
              <a:rPr lang="en-AU"/>
              <a:t>Considering the thermal to electrical energy conversions</a:t>
            </a:r>
          </a:p>
          <a:p>
            <a:pPr marL="285750" indent="-285750">
              <a:buFont typeface="Arial" panose="020B0604020202020204" pitchFamily="34" charset="0"/>
              <a:buChar char="•"/>
            </a:pPr>
            <a:r>
              <a:rPr lang="en-AU"/>
              <a:t>Reducing simplifying assumptions</a:t>
            </a:r>
          </a:p>
          <a:p>
            <a:pPr marL="788670" lvl="1" indent="-285750">
              <a:buFont typeface="Arial" panose="020B0604020202020204" pitchFamily="34" charset="0"/>
              <a:buChar char="•"/>
            </a:pPr>
            <a:r>
              <a:rPr lang="en-AU"/>
              <a:t>Humidity, human interaction, uniform temperature zones </a:t>
            </a:r>
          </a:p>
          <a:p>
            <a:pPr marL="285750" indent="-285750">
              <a:buFont typeface="Arial" panose="020B0604020202020204" pitchFamily="34" charset="0"/>
              <a:buChar char="•"/>
            </a:pPr>
            <a:r>
              <a:rPr lang="en-AU"/>
              <a:t>Analysis of the heat equalisation of the upper zone (compare to published data)</a:t>
            </a:r>
          </a:p>
          <a:p>
            <a:endParaRPr lang="en-US"/>
          </a:p>
        </p:txBody>
      </p:sp>
    </p:spTree>
    <p:extLst>
      <p:ext uri="{BB962C8B-B14F-4D97-AF65-F5344CB8AC3E}">
        <p14:creationId xmlns:p14="http://schemas.microsoft.com/office/powerpoint/2010/main" val="2892464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FCE10-516D-66E8-B498-8C09DE47CE52}"/>
              </a:ext>
            </a:extLst>
          </p:cNvPr>
          <p:cNvSpPr>
            <a:spLocks noGrp="1"/>
          </p:cNvSpPr>
          <p:nvPr>
            <p:ph type="ctrTitle"/>
          </p:nvPr>
        </p:nvSpPr>
        <p:spPr/>
        <p:txBody>
          <a:bodyPr/>
          <a:lstStyle/>
          <a:p>
            <a:r>
              <a:rPr lang="en-US"/>
              <a:t>Questions?</a:t>
            </a:r>
          </a:p>
        </p:txBody>
      </p:sp>
      <p:sp>
        <p:nvSpPr>
          <p:cNvPr id="3" name="Subtitle 2">
            <a:extLst>
              <a:ext uri="{FF2B5EF4-FFF2-40B4-BE49-F238E27FC236}">
                <a16:creationId xmlns:a16="http://schemas.microsoft.com/office/drawing/2014/main" id="{0C575E01-B8FB-DA21-46F3-3F69E7EC7B0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79057097"/>
      </p:ext>
    </p:extLst>
  </p:cSld>
  <p:clrMapOvr>
    <a:masterClrMapping/>
  </p:clrMapOvr>
</p:sld>
</file>

<file path=ppt/theme/theme1.xml><?xml version="1.0" encoding="utf-8"?>
<a:theme xmlns:a="http://schemas.openxmlformats.org/drawingml/2006/main" name="Archway">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15BC1FC9-F32C-4048-9052-439CED41F932}" vid="{4FF12325-B8E7-401C-AF33-78C72DDA2CB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3224</Words>
  <Application>Microsoft Office PowerPoint</Application>
  <PresentationFormat>Widescreen</PresentationFormat>
  <Paragraphs>305</Paragraphs>
  <Slides>13</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Aptos</vt:lpstr>
      <vt:lpstr>Aptos Display</vt:lpstr>
      <vt:lpstr>Arial</vt:lpstr>
      <vt:lpstr>Calibri</vt:lpstr>
      <vt:lpstr>Calibri Light</vt:lpstr>
      <vt:lpstr>Cambria Math</vt:lpstr>
      <vt:lpstr>Goudy Old Style</vt:lpstr>
      <vt:lpstr>Segoe UI</vt:lpstr>
      <vt:lpstr>Archway</vt:lpstr>
      <vt:lpstr>Thermal Energy Consumption of Heating and Cooling an Ice Rink</vt:lpstr>
      <vt:lpstr>Acknowledgement of Country</vt:lpstr>
      <vt:lpstr>Introduction</vt:lpstr>
      <vt:lpstr>Problem Statement and Objectives </vt:lpstr>
      <vt:lpstr>Physical System and Assumptions</vt:lpstr>
      <vt:lpstr>Mathematical Model</vt:lpstr>
      <vt:lpstr>Solution Methodology: Model Input</vt:lpstr>
      <vt:lpstr>Solution Methodology (cont.)</vt:lpstr>
      <vt:lpstr>Results: Baseline loads</vt:lpstr>
      <vt:lpstr>Result: Normalized sensitivity</vt:lpstr>
      <vt:lpstr>Discussion</vt:lpstr>
      <vt:lpstr>Conclusions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Cao Minh</dc:creator>
  <cp:lastModifiedBy>Bui Duc Minh Cao (Student)</cp:lastModifiedBy>
  <cp:revision>1</cp:revision>
  <dcterms:created xsi:type="dcterms:W3CDTF">2026-10-14T12:33:36Z</dcterms:created>
  <dcterms:modified xsi:type="dcterms:W3CDTF">2026-10-21T17:05:49Z</dcterms:modified>
</cp:coreProperties>
</file>